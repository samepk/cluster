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19B8D-8A02-7EF0-4060-D0F5CAEB6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547B3A-4CC6-EEB1-CD10-2150A6FDD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F61072-F9C8-844D-DFD2-48BB8F7B2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E40A3F-39DD-93AF-071F-6C116284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C4F572-4220-4DA2-466C-8C929F5D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235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3698D1-A014-5A78-3E87-A86A97371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4F3612-916E-F60C-63E4-BC4B75DC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938C38-6708-42AE-DA15-0DDA37F2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AF3110-B157-93DD-D8D3-5F7C01CD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32A790-19EF-816E-2633-690C0E82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88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54A36B-08C9-E5C5-38F6-89B268029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603364-2147-9F1F-9064-D018F405B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CEC31C-09B0-8337-D2F2-3CCEDACE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76BCCB-B0DF-35E7-A873-BEC2CE31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A5C9F0-16A9-170F-FD82-881C2ACD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825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DE61B-DB2B-46F2-E7D8-2A1D6313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AE3D18-BAD2-49C5-681A-D2C7636D1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8923C87-C52A-F230-9607-A5CEEE07F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5B9972-F267-A579-8FA6-D6870AB79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C6610E-9A84-41C2-7E13-A1470F37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641C7E-8FD6-D157-BBAF-D7445C5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11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AF4D9B-F863-517B-AD36-DBB524E43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BD3FAE-2B1C-190F-5A24-81DDA399C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C7DB40-3F2E-D9C6-DE41-4F1402582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76F2DA-4C3B-3D31-AD64-F19273FF3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EC1F4D8-3D78-405B-6DC7-1E21EBD81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C663CAF-4C2C-BC94-895E-D3746F7D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7127422-FA32-698B-C1D9-378EDA58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51F6CA-BEFB-1B66-AF28-2589E1BBC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70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DABADC-1F2A-B02D-BFBE-5B383493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CA34DC4-BC2D-3031-2B56-0B84FA2F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E15206-6434-572E-26EC-6A1C87CB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46F972-8600-68CC-439A-D52F66C4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87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B9FEE-2B5A-9D46-1AD4-FD055B35A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DC20C3C-1452-5733-C17B-DC1EE9F56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748C79-DC82-C7D8-DB8F-C61149A4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27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7A4FE-87BB-6552-066E-3EAB850F3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DEA327-6044-8D1C-E7FB-4AC690AC4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6FB697-0BB2-8AF5-B1BE-25E8A4489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F2261E-19D0-D80B-4206-28D3F2A3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BC7684-4E1B-B19E-4EA2-E90E7B79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E5EB50-27BC-EF6E-3398-44C9983E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87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EFB41-50BD-CCB8-48AD-CA4F3358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938A42-1933-1F92-5071-A4842447F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E7DECC-30AF-F740-1696-A20916ABD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A0F287-813C-001A-84BE-8D6D27F2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4BB992-06F9-3E59-938A-D3136019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896004-BBA2-E646-1570-36996D4D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998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EA983-215C-B7A8-64AF-CD836761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75BC438-A7F1-3903-3047-B63463051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55883E-B0E8-8823-6C38-FC70B585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4673E1-E102-6DE3-DBDA-9A2A1551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C7CE52-01DC-AAC6-8395-72A1BE1A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193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800CE3C-5D41-512E-2540-31DAA6E295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61EEA8-DD09-CF0E-1091-235367F5B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BAF7A2-83BA-7F4C-D3B8-2C885CD9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A0842E-E4CC-7B43-9502-F305A53E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3554D-F573-E93D-4A73-05C81069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69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B53DF4-FD50-24F3-BA00-AC41CB0A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1FC41C-D2F5-20C2-FA11-BBEF749AC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759335-725B-A180-9088-AAA26714B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CB396-8939-4AC3-B0D3-E424BDD063C6}" type="datetimeFigureOut">
              <a:rPr lang="fr-FR" smtClean="0"/>
              <a:t>01/05/2026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92AB51-9CBC-C62B-354A-2367140F1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09E217-800B-1658-D0DA-524E9EF80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5324A-D42D-4364-8AB8-7D9B871B5B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155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5F41DF-C101-F2E2-C1B7-972BFFBFE9FF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FDAFE9-5A6A-99C9-9C58-9D5A2FB39411}"/>
              </a:ext>
            </a:extLst>
          </p:cNvPr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137CD1-F768-B420-8E72-D0E482E4218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651000"/>
            <a:ext cx="1651000" cy="1651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CF28EC4-8C80-6144-68DE-89B214DBF499}"/>
              </a:ext>
            </a:extLst>
          </p:cNvPr>
          <p:cNvSpPr txBox="1"/>
          <p:nvPr/>
        </p:nvSpPr>
        <p:spPr>
          <a:xfrm>
            <a:off x="2921000" y="1905000"/>
            <a:ext cx="10160000" cy="112338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7000" b="1">
                <a:solidFill>
                  <a:srgbClr val="89B4FA"/>
                </a:solidFill>
                <a:latin typeface="Segoe UI" panose="020B0502040204020203" pitchFamily="34" charset="0"/>
              </a:rPr>
              <a:t>LottoTi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676B2F2-2B16-10A6-433C-4F7F8D04AEB4}"/>
              </a:ext>
            </a:extLst>
          </p:cNvPr>
          <p:cNvSpPr txBox="1"/>
          <p:nvPr/>
        </p:nvSpPr>
        <p:spPr>
          <a:xfrm>
            <a:off x="2921000" y="2921000"/>
            <a:ext cx="1143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>
                <a:solidFill>
                  <a:srgbClr val="FFFFFF"/>
                </a:solidFill>
                <a:latin typeface="Segoe UI" panose="020B0502040204020203" pitchFamily="34" charset="0"/>
              </a:rPr>
              <a:t>Clusterisation de container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F33527-6DAD-0DFB-3415-E2BA2B1FDD51}"/>
              </a:ext>
            </a:extLst>
          </p:cNvPr>
          <p:cNvSpPr txBox="1"/>
          <p:nvPr/>
        </p:nvSpPr>
        <p:spPr>
          <a:xfrm>
            <a:off x="2921000" y="3556000"/>
            <a:ext cx="1143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A6ADC8"/>
                </a:solidFill>
                <a:latin typeface="Segoe UI" panose="020B0502040204020203" pitchFamily="34" charset="0"/>
              </a:rPr>
              <a:t>Projet final ESGI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1FD1B4-969E-5115-442B-0EA6909F42A4}"/>
              </a:ext>
            </a:extLst>
          </p:cNvPr>
          <p:cNvSpPr/>
          <p:nvPr/>
        </p:nvSpPr>
        <p:spPr>
          <a:xfrm>
            <a:off x="1016000" y="5080000"/>
            <a:ext cx="4572000" cy="1270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79D8AF2-2C0A-6EF9-6E38-72FC6455115B}"/>
              </a:ext>
            </a:extLst>
          </p:cNvPr>
          <p:cNvSpPr txBox="1"/>
          <p:nvPr/>
        </p:nvSpPr>
        <p:spPr>
          <a:xfrm>
            <a:off x="1270000" y="5270500"/>
            <a:ext cx="406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Cluster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20D8C81-7655-5972-70D4-F8DDF30E3E47}"/>
              </a:ext>
            </a:extLst>
          </p:cNvPr>
          <p:cNvSpPr txBox="1"/>
          <p:nvPr/>
        </p:nvSpPr>
        <p:spPr>
          <a:xfrm>
            <a:off x="1270000" y="5562600"/>
            <a:ext cx="4064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A6E3A1"/>
                </a:solidFill>
                <a:latin typeface="Segoe UI" panose="020B0502040204020203" pitchFamily="34" charset="0"/>
              </a:rPr>
              <a:t>1 master + 2 workers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7A4A6C6-7620-3F60-E142-948169F54924}"/>
              </a:ext>
            </a:extLst>
          </p:cNvPr>
          <p:cNvSpPr txBox="1"/>
          <p:nvPr/>
        </p:nvSpPr>
        <p:spPr>
          <a:xfrm>
            <a:off x="1270000" y="5994400"/>
            <a:ext cx="406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94E2D5"/>
                </a:solidFill>
                <a:latin typeface="Segoe UI" panose="020B0502040204020203" pitchFamily="34" charset="0"/>
              </a:rPr>
              <a:t>k3s v1.31.5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9386AD-AEC3-462D-E4B0-7217B9DF82BB}"/>
              </a:ext>
            </a:extLst>
          </p:cNvPr>
          <p:cNvSpPr/>
          <p:nvPr/>
        </p:nvSpPr>
        <p:spPr>
          <a:xfrm>
            <a:off x="5842000" y="5080000"/>
            <a:ext cx="4572000" cy="1270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D9079B0-4139-965A-5A6A-54CB3888B883}"/>
              </a:ext>
            </a:extLst>
          </p:cNvPr>
          <p:cNvSpPr txBox="1"/>
          <p:nvPr/>
        </p:nvSpPr>
        <p:spPr>
          <a:xfrm>
            <a:off x="6096000" y="5270500"/>
            <a:ext cx="406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Replicas (PDF)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A0277A1-FD30-3623-58CE-78B4FB90F182}"/>
              </a:ext>
            </a:extLst>
          </p:cNvPr>
          <p:cNvSpPr txBox="1"/>
          <p:nvPr/>
        </p:nvSpPr>
        <p:spPr>
          <a:xfrm>
            <a:off x="6096000" y="5562600"/>
            <a:ext cx="4064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A6E3A1"/>
                </a:solidFill>
                <a:latin typeface="Segoe UI" panose="020B0502040204020203" pitchFamily="34" charset="0"/>
              </a:rPr>
              <a:t>2 backend + 3 frontend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D37C1D3-3404-F498-2D71-51311F426926}"/>
              </a:ext>
            </a:extLst>
          </p:cNvPr>
          <p:cNvSpPr txBox="1"/>
          <p:nvPr/>
        </p:nvSpPr>
        <p:spPr>
          <a:xfrm>
            <a:off x="6096000" y="5994400"/>
            <a:ext cx="406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nb-NO" sz="1300">
                <a:solidFill>
                  <a:srgbClr val="94E2D5"/>
                </a:solidFill>
                <a:latin typeface="Segoe UI" panose="020B0502040204020203" pitchFamily="34" charset="0"/>
              </a:rPr>
              <a:t>Flask + Next.js + PG + Redis</a:t>
            </a:r>
            <a:endParaRPr lang="fr-FR" sz="1300">
              <a:solidFill>
                <a:srgbClr val="94E2D5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A7AE88-65DD-4C87-DE4C-30D1FAB68FC9}"/>
              </a:ext>
            </a:extLst>
          </p:cNvPr>
          <p:cNvSpPr/>
          <p:nvPr/>
        </p:nvSpPr>
        <p:spPr>
          <a:xfrm>
            <a:off x="10668000" y="5080000"/>
            <a:ext cx="4572000" cy="1270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7E6D503-B29F-2BC6-58B2-431C238F3441}"/>
              </a:ext>
            </a:extLst>
          </p:cNvPr>
          <p:cNvSpPr txBox="1"/>
          <p:nvPr/>
        </p:nvSpPr>
        <p:spPr>
          <a:xfrm>
            <a:off x="10922000" y="5270500"/>
            <a:ext cx="406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Note projetee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70447A3-C684-69CE-FE83-3FFC846B5BC9}"/>
              </a:ext>
            </a:extLst>
          </p:cNvPr>
          <p:cNvSpPr txBox="1"/>
          <p:nvPr/>
        </p:nvSpPr>
        <p:spPr>
          <a:xfrm>
            <a:off x="10922000" y="5499100"/>
            <a:ext cx="4064000" cy="60016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3600" b="1">
                <a:solidFill>
                  <a:srgbClr val="CBA6F7"/>
                </a:solidFill>
                <a:latin typeface="Segoe UI" panose="020B0502040204020203" pitchFamily="34" charset="0"/>
              </a:rPr>
              <a:t>20 / 15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419C182-08A0-3570-0163-D2EE640CAE8F}"/>
              </a:ext>
            </a:extLst>
          </p:cNvPr>
          <p:cNvSpPr txBox="1"/>
          <p:nvPr/>
        </p:nvSpPr>
        <p:spPr>
          <a:xfrm>
            <a:off x="10922000" y="6070600"/>
            <a:ext cx="406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94E2D5"/>
                </a:solidFill>
                <a:latin typeface="Segoe UI" panose="020B0502040204020203" pitchFamily="34" charset="0"/>
              </a:rPr>
              <a:t>15 base + 5 bonus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082B509-1C68-5613-09AE-0C83E5FC0CB8}"/>
              </a:ext>
            </a:extLst>
          </p:cNvPr>
          <p:cNvSpPr txBox="1"/>
          <p:nvPr/>
        </p:nvSpPr>
        <p:spPr>
          <a:xfrm>
            <a:off x="1016000" y="8382000"/>
            <a:ext cx="13970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6C7086"/>
                </a:solidFill>
                <a:latin typeface="Segoe UI" panose="020B0502040204020203" pitchFamily="34" charset="0"/>
              </a:rPr>
              <a:t>Date : 01 mai 2026</a:t>
            </a:r>
          </a:p>
        </p:txBody>
      </p:sp>
    </p:spTree>
    <p:extLst>
      <p:ext uri="{BB962C8B-B14F-4D97-AF65-F5344CB8AC3E}">
        <p14:creationId xmlns:p14="http://schemas.microsoft.com/office/powerpoint/2010/main" val="644923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AF34C5-9D6E-D835-EBFA-977485A24BE0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A5249-6DA7-7756-BB79-EC6217A4D452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D76F6AF-E9EC-99DC-4D41-50133A316BD9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Sommaire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C69A432-B030-3139-1799-2D82166B9C84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Plan de la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308F76-6A3A-B856-6A41-A90EE4DCF100}"/>
              </a:ext>
            </a:extLst>
          </p:cNvPr>
          <p:cNvSpPr/>
          <p:nvPr/>
        </p:nvSpPr>
        <p:spPr>
          <a:xfrm>
            <a:off x="1016000" y="1651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1FF52-A750-ED0C-451E-6F52AD13E649}"/>
              </a:ext>
            </a:extLst>
          </p:cNvPr>
          <p:cNvSpPr/>
          <p:nvPr/>
        </p:nvSpPr>
        <p:spPr>
          <a:xfrm>
            <a:off x="1016000" y="1651000"/>
            <a:ext cx="76200" cy="762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9A3C73-B6F3-2125-2141-9CDB91D5D62F}"/>
              </a:ext>
            </a:extLst>
          </p:cNvPr>
          <p:cNvSpPr txBox="1"/>
          <p:nvPr/>
        </p:nvSpPr>
        <p:spPr>
          <a:xfrm>
            <a:off x="1397000" y="1841500"/>
            <a:ext cx="889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89B4FA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93068E4-C8EF-E740-2D13-90E9949AB9D8}"/>
              </a:ext>
            </a:extLst>
          </p:cNvPr>
          <p:cNvSpPr txBox="1"/>
          <p:nvPr/>
        </p:nvSpPr>
        <p:spPr>
          <a:xfrm>
            <a:off x="2413000" y="1752600"/>
            <a:ext cx="508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Le projet LottoTi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4A4141D-126B-1203-AC93-C343D9B36142}"/>
              </a:ext>
            </a:extLst>
          </p:cNvPr>
          <p:cNvSpPr txBox="1"/>
          <p:nvPr/>
        </p:nvSpPr>
        <p:spPr>
          <a:xfrm>
            <a:off x="2413000" y="20828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Stack applicative existante (docker-compose)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B8274-D19E-AEDC-8126-3800A25EE2D9}"/>
              </a:ext>
            </a:extLst>
          </p:cNvPr>
          <p:cNvSpPr/>
          <p:nvPr/>
        </p:nvSpPr>
        <p:spPr>
          <a:xfrm>
            <a:off x="1016000" y="2667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13A4A-F29B-08D0-A4A2-6C96EBF0BC3F}"/>
              </a:ext>
            </a:extLst>
          </p:cNvPr>
          <p:cNvSpPr/>
          <p:nvPr/>
        </p:nvSpPr>
        <p:spPr>
          <a:xfrm>
            <a:off x="1016000" y="2667000"/>
            <a:ext cx="76200" cy="762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69E7677-0BF2-DDB5-83E1-2D3EB175A536}"/>
              </a:ext>
            </a:extLst>
          </p:cNvPr>
          <p:cNvSpPr txBox="1"/>
          <p:nvPr/>
        </p:nvSpPr>
        <p:spPr>
          <a:xfrm>
            <a:off x="1397000" y="2857500"/>
            <a:ext cx="889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CBA6F7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BEBCCB2-019F-6ADA-B99E-3D0CE78C0E42}"/>
              </a:ext>
            </a:extLst>
          </p:cNvPr>
          <p:cNvSpPr txBox="1"/>
          <p:nvPr/>
        </p:nvSpPr>
        <p:spPr>
          <a:xfrm>
            <a:off x="2413000" y="2768600"/>
            <a:ext cx="508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Architecture cluster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F12E32C-8D1E-0DDA-DC47-590A468C9AC9}"/>
              </a:ext>
            </a:extLst>
          </p:cNvPr>
          <p:cNvSpPr txBox="1"/>
          <p:nvPr/>
        </p:nvSpPr>
        <p:spPr>
          <a:xfrm>
            <a:off x="2413000" y="30988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Diagramme d'ensemble + topologie 3 noeuds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559607-A830-C23F-DCCD-400E25A2F3A9}"/>
              </a:ext>
            </a:extLst>
          </p:cNvPr>
          <p:cNvSpPr/>
          <p:nvPr/>
        </p:nvSpPr>
        <p:spPr>
          <a:xfrm>
            <a:off x="1016000" y="3683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CF0D2-3C64-B3DC-C9B9-E621E09C97A0}"/>
              </a:ext>
            </a:extLst>
          </p:cNvPr>
          <p:cNvSpPr/>
          <p:nvPr/>
        </p:nvSpPr>
        <p:spPr>
          <a:xfrm>
            <a:off x="1016000" y="3683000"/>
            <a:ext cx="76200" cy="762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53C7684-8D93-4A6F-9093-AEB6368D2CAE}"/>
              </a:ext>
            </a:extLst>
          </p:cNvPr>
          <p:cNvSpPr txBox="1"/>
          <p:nvPr/>
        </p:nvSpPr>
        <p:spPr>
          <a:xfrm>
            <a:off x="1397000" y="3873500"/>
            <a:ext cx="889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A6E3A1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04CBB3C-A4A2-B17E-FC85-88DE20D0E000}"/>
              </a:ext>
            </a:extLst>
          </p:cNvPr>
          <p:cNvSpPr txBox="1"/>
          <p:nvPr/>
        </p:nvSpPr>
        <p:spPr>
          <a:xfrm>
            <a:off x="2413000" y="3784600"/>
            <a:ext cx="508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Steps d'installation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7CEB7C9-3BAF-C1D7-1510-F9FC2C89CC78}"/>
              </a:ext>
            </a:extLst>
          </p:cNvPr>
          <p:cNvSpPr txBox="1"/>
          <p:nvPr/>
        </p:nvSpPr>
        <p:spPr>
          <a:xfrm>
            <a:off x="2413000" y="41148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8 etapes scriptees pour reproduire le cluster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ED1EC9-6217-6A12-C9A1-3240760C7FF6}"/>
              </a:ext>
            </a:extLst>
          </p:cNvPr>
          <p:cNvSpPr/>
          <p:nvPr/>
        </p:nvSpPr>
        <p:spPr>
          <a:xfrm>
            <a:off x="1016000" y="4699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351910-F15F-00A8-3E9E-0B4AEB40A81C}"/>
              </a:ext>
            </a:extLst>
          </p:cNvPr>
          <p:cNvSpPr/>
          <p:nvPr/>
        </p:nvSpPr>
        <p:spPr>
          <a:xfrm>
            <a:off x="1016000" y="4699000"/>
            <a:ext cx="76200" cy="762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C8560E1-EB0F-4250-BAD0-7EA5E65E9DEC}"/>
              </a:ext>
            </a:extLst>
          </p:cNvPr>
          <p:cNvSpPr txBox="1"/>
          <p:nvPr/>
        </p:nvSpPr>
        <p:spPr>
          <a:xfrm>
            <a:off x="1397000" y="4889500"/>
            <a:ext cx="889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F9E2AF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56C9C51-E651-F31C-F49D-252C24725563}"/>
              </a:ext>
            </a:extLst>
          </p:cNvPr>
          <p:cNvSpPr txBox="1"/>
          <p:nvPr/>
        </p:nvSpPr>
        <p:spPr>
          <a:xfrm>
            <a:off x="2413000" y="4800600"/>
            <a:ext cx="508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Securite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867090C-C114-7D8E-2A3F-2A96E308109E}"/>
              </a:ext>
            </a:extLst>
          </p:cNvPr>
          <p:cNvSpPr txBox="1"/>
          <p:nvPr/>
        </p:nvSpPr>
        <p:spPr>
          <a:xfrm>
            <a:off x="2413000" y="51308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Secrets, HTTPS, NetworkPolicy zero-trust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FA5850-A0E9-75EE-2360-F69B794ACE3D}"/>
              </a:ext>
            </a:extLst>
          </p:cNvPr>
          <p:cNvSpPr/>
          <p:nvPr/>
        </p:nvSpPr>
        <p:spPr>
          <a:xfrm>
            <a:off x="1016000" y="5715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DEEA14-58C7-F9F7-4613-91412C6087F2}"/>
              </a:ext>
            </a:extLst>
          </p:cNvPr>
          <p:cNvSpPr/>
          <p:nvPr/>
        </p:nvSpPr>
        <p:spPr>
          <a:xfrm>
            <a:off x="1016000" y="5715000"/>
            <a:ext cx="76200" cy="7620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20E8CC8-A478-868C-F393-A84FE1B34775}"/>
              </a:ext>
            </a:extLst>
          </p:cNvPr>
          <p:cNvSpPr txBox="1"/>
          <p:nvPr/>
        </p:nvSpPr>
        <p:spPr>
          <a:xfrm>
            <a:off x="1397000" y="5905500"/>
            <a:ext cx="889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FAB387"/>
                </a:solidFill>
                <a:latin typeface="Segoe UI" panose="020B0502040204020203" pitchFamily="34" charset="0"/>
              </a:rPr>
              <a:t>05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D060B41-C0E2-96D0-8F17-997BE30D08F0}"/>
              </a:ext>
            </a:extLst>
          </p:cNvPr>
          <p:cNvSpPr txBox="1"/>
          <p:nvPr/>
        </p:nvSpPr>
        <p:spPr>
          <a:xfrm>
            <a:off x="2413000" y="5816600"/>
            <a:ext cx="508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Persistance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4AF30A2-E504-9500-7D2F-5D34C5B3C89E}"/>
              </a:ext>
            </a:extLst>
          </p:cNvPr>
          <p:cNvSpPr txBox="1"/>
          <p:nvPr/>
        </p:nvSpPr>
        <p:spPr>
          <a:xfrm>
            <a:off x="2413000" y="61468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PVC + StatefulSets - donnees survivent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0FE219-B43B-F942-581F-B7228BAB8B43}"/>
              </a:ext>
            </a:extLst>
          </p:cNvPr>
          <p:cNvSpPr/>
          <p:nvPr/>
        </p:nvSpPr>
        <p:spPr>
          <a:xfrm>
            <a:off x="1016000" y="6731000"/>
            <a:ext cx="14224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EE2BF9-7A73-4B71-7942-E476D0AAE7F0}"/>
              </a:ext>
            </a:extLst>
          </p:cNvPr>
          <p:cNvSpPr/>
          <p:nvPr/>
        </p:nvSpPr>
        <p:spPr>
          <a:xfrm>
            <a:off x="1016000" y="6731000"/>
            <a:ext cx="76200" cy="762000"/>
          </a:xfrm>
          <a:prstGeom prst="rect">
            <a:avLst/>
          </a:prstGeom>
          <a:solidFill>
            <a:srgbClr val="F5C2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8D4BC06-33F3-EED9-70B6-B116B5B8E8DE}"/>
              </a:ext>
            </a:extLst>
          </p:cNvPr>
          <p:cNvSpPr txBox="1"/>
          <p:nvPr/>
        </p:nvSpPr>
        <p:spPr>
          <a:xfrm>
            <a:off x="1397000" y="6921500"/>
            <a:ext cx="889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200" b="1">
                <a:solidFill>
                  <a:srgbClr val="F5C2E7"/>
                </a:solidFill>
                <a:latin typeface="Segoe UI" panose="020B0502040204020203" pitchFamily="34" charset="0"/>
              </a:rPr>
              <a:t>06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F69F05F-CFBB-2ABF-8C89-EEC737494439}"/>
              </a:ext>
            </a:extLst>
          </p:cNvPr>
          <p:cNvSpPr txBox="1"/>
          <p:nvPr/>
        </p:nvSpPr>
        <p:spPr>
          <a:xfrm>
            <a:off x="2413000" y="6832600"/>
            <a:ext cx="508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FFFFF"/>
                </a:solidFill>
                <a:latin typeface="Segoe UI" panose="020B0502040204020203" pitchFamily="34" charset="0"/>
              </a:rPr>
              <a:t>Haute disponibilite + Bonus + Bilan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50BB96E-F6DF-1C85-9E99-51B746249953}"/>
              </a:ext>
            </a:extLst>
          </p:cNvPr>
          <p:cNvSpPr txBox="1"/>
          <p:nvPr/>
        </p:nvSpPr>
        <p:spPr>
          <a:xfrm>
            <a:off x="2413000" y="7162800"/>
            <a:ext cx="1270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A6ADC8"/>
                </a:solidFill>
                <a:latin typeface="Segoe UI" panose="020B0502040204020203" pitchFamily="34" charset="0"/>
              </a:rPr>
              <a:t>Replicas, HPA, Rolling, Rollback - Note 20/15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E91949A-112E-E608-3412-2C774149B4AA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B0661E1-8F9A-049B-3975-83C0FE1068C8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387105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27130F-9219-125B-0ED8-E0504E31D96C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AA69EE-2C11-2E87-A3A5-D1EFC7E7D264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F63A0A4-593C-3570-795A-8355530BCED9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Le projet LottoTi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CCEE82-E121-EA74-2F14-42BCEAB10A15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Plateforme de location de vehicules entre particuliers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D9A946-5EEB-E6C2-45E3-476C7A655568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Segoe UI" panose="020B0502040204020203" pitchFamily="34" charset="0"/>
              </a:rPr>
              <a:t>Stack applicative deja conteneurisee (docker-compose) - 5 services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4E787-70EA-B11E-84AF-67510B1D5D69}"/>
              </a:ext>
            </a:extLst>
          </p:cNvPr>
          <p:cNvSpPr/>
          <p:nvPr/>
        </p:nvSpPr>
        <p:spPr>
          <a:xfrm>
            <a:off x="762000" y="2159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1A5060-3D93-485E-9A54-CC9AA846800E}"/>
              </a:ext>
            </a:extLst>
          </p:cNvPr>
          <p:cNvSpPr/>
          <p:nvPr/>
        </p:nvSpPr>
        <p:spPr>
          <a:xfrm>
            <a:off x="762000" y="2159000"/>
            <a:ext cx="101600" cy="762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14F05AE-77AF-A2D3-23E2-488E7678663E}"/>
              </a:ext>
            </a:extLst>
          </p:cNvPr>
          <p:cNvSpPr txBox="1"/>
          <p:nvPr/>
        </p:nvSpPr>
        <p:spPr>
          <a:xfrm>
            <a:off x="1143000" y="2387600"/>
            <a:ext cx="254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89B4FA"/>
                </a:solidFill>
                <a:latin typeface="Segoe UI" panose="020B0502040204020203" pitchFamily="34" charset="0"/>
              </a:rPr>
              <a:t>Frontend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4DF817-3E7B-6C21-D202-9B372DD08142}"/>
              </a:ext>
            </a:extLst>
          </p:cNvPr>
          <p:cNvSpPr txBox="1"/>
          <p:nvPr/>
        </p:nvSpPr>
        <p:spPr>
          <a:xfrm>
            <a:off x="3937000" y="2387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>
                <a:solidFill>
                  <a:srgbClr val="FFFFFF"/>
                </a:solidFill>
                <a:latin typeface="Segoe UI" panose="020B0502040204020203" pitchFamily="34" charset="0"/>
              </a:rPr>
              <a:t>Next.js 15 (standalone) - port 3000 - SSR React</a:t>
            </a:r>
            <a:endParaRPr lang="fr-FR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992E4-1803-4590-65A2-EE37AC408478}"/>
              </a:ext>
            </a:extLst>
          </p:cNvPr>
          <p:cNvSpPr/>
          <p:nvPr/>
        </p:nvSpPr>
        <p:spPr>
          <a:xfrm>
            <a:off x="762000" y="3175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8AE3DB-3B30-2907-7E5A-9C7DCD8ECEC5}"/>
              </a:ext>
            </a:extLst>
          </p:cNvPr>
          <p:cNvSpPr/>
          <p:nvPr/>
        </p:nvSpPr>
        <p:spPr>
          <a:xfrm>
            <a:off x="762000" y="3175000"/>
            <a:ext cx="101600" cy="762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6143F91-6B08-682C-73C8-28D474473F74}"/>
              </a:ext>
            </a:extLst>
          </p:cNvPr>
          <p:cNvSpPr txBox="1"/>
          <p:nvPr/>
        </p:nvSpPr>
        <p:spPr>
          <a:xfrm>
            <a:off x="1143000" y="3403600"/>
            <a:ext cx="254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A6E3A1"/>
                </a:solidFill>
                <a:latin typeface="Segoe UI" panose="020B0502040204020203" pitchFamily="34" charset="0"/>
              </a:rPr>
              <a:t>Backend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4B3ECD9-0CEE-6FC9-399F-C5645A5D585D}"/>
              </a:ext>
            </a:extLst>
          </p:cNvPr>
          <p:cNvSpPr txBox="1"/>
          <p:nvPr/>
        </p:nvSpPr>
        <p:spPr>
          <a:xfrm>
            <a:off x="3937000" y="3403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Flask + Gunicorn-gevent + Socket.IO - port 5000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648C9A-A2F6-8EFF-273E-C09CC70C15A4}"/>
              </a:ext>
            </a:extLst>
          </p:cNvPr>
          <p:cNvSpPr/>
          <p:nvPr/>
        </p:nvSpPr>
        <p:spPr>
          <a:xfrm>
            <a:off x="762000" y="4191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C54A03-B9CA-7A0C-480E-67205D480946}"/>
              </a:ext>
            </a:extLst>
          </p:cNvPr>
          <p:cNvSpPr/>
          <p:nvPr/>
        </p:nvSpPr>
        <p:spPr>
          <a:xfrm>
            <a:off x="762000" y="4191000"/>
            <a:ext cx="101600" cy="762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D2EB302-9BA2-D5B4-F29C-8A197FE8D717}"/>
              </a:ext>
            </a:extLst>
          </p:cNvPr>
          <p:cNvSpPr txBox="1"/>
          <p:nvPr/>
        </p:nvSpPr>
        <p:spPr>
          <a:xfrm>
            <a:off x="1143000" y="4419600"/>
            <a:ext cx="254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CBA6F7"/>
                </a:solidFill>
                <a:latin typeface="Segoe UI" panose="020B0502040204020203" pitchFamily="34" charset="0"/>
              </a:rPr>
              <a:t>Database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6B0E02E-E252-B443-2583-EB3244BCE56C}"/>
              </a:ext>
            </a:extLst>
          </p:cNvPr>
          <p:cNvSpPr txBox="1"/>
          <p:nvPr/>
        </p:nvSpPr>
        <p:spPr>
          <a:xfrm>
            <a:off x="3937000" y="4419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PostgreSQL 16 (alpine) - port 5432 - users, vehicules, paiements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7C6BCC-8B01-F23F-4E18-D3B3B6351BB8}"/>
              </a:ext>
            </a:extLst>
          </p:cNvPr>
          <p:cNvSpPr/>
          <p:nvPr/>
        </p:nvSpPr>
        <p:spPr>
          <a:xfrm>
            <a:off x="762000" y="5207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1AC2DD-6202-B4CE-4D93-6C82DF8CE446}"/>
              </a:ext>
            </a:extLst>
          </p:cNvPr>
          <p:cNvSpPr/>
          <p:nvPr/>
        </p:nvSpPr>
        <p:spPr>
          <a:xfrm>
            <a:off x="762000" y="5207000"/>
            <a:ext cx="101600" cy="762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F6C4ABD-8EFB-568B-30F3-65CC4DD6EE5D}"/>
              </a:ext>
            </a:extLst>
          </p:cNvPr>
          <p:cNvSpPr txBox="1"/>
          <p:nvPr/>
        </p:nvSpPr>
        <p:spPr>
          <a:xfrm>
            <a:off x="1143000" y="5435600"/>
            <a:ext cx="254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9E2AF"/>
                </a:solidFill>
                <a:latin typeface="Segoe UI" panose="020B0502040204020203" pitchFamily="34" charset="0"/>
              </a:rPr>
              <a:t>Cache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7B98020-A5E8-27FA-472C-4E3D8395B6BD}"/>
              </a:ext>
            </a:extLst>
          </p:cNvPr>
          <p:cNvSpPr txBox="1"/>
          <p:nvPr/>
        </p:nvSpPr>
        <p:spPr>
          <a:xfrm>
            <a:off x="3937000" y="5435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Redis 7 (alpine) - port 6379 - sessions, rate limiting, pubsub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D7C894-A895-8FA1-C792-6CE269E7572D}"/>
              </a:ext>
            </a:extLst>
          </p:cNvPr>
          <p:cNvSpPr/>
          <p:nvPr/>
        </p:nvSpPr>
        <p:spPr>
          <a:xfrm>
            <a:off x="762000" y="6223000"/>
            <a:ext cx="14732000" cy="76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FAD8DC-8C35-BF79-FA10-951C8FCF2918}"/>
              </a:ext>
            </a:extLst>
          </p:cNvPr>
          <p:cNvSpPr/>
          <p:nvPr/>
        </p:nvSpPr>
        <p:spPr>
          <a:xfrm>
            <a:off x="762000" y="6223000"/>
            <a:ext cx="101600" cy="7620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C1F1C26-D967-CC0F-B1BC-E4F1E3FA8FAB}"/>
              </a:ext>
            </a:extLst>
          </p:cNvPr>
          <p:cNvSpPr txBox="1"/>
          <p:nvPr/>
        </p:nvSpPr>
        <p:spPr>
          <a:xfrm>
            <a:off x="1143000" y="6451600"/>
            <a:ext cx="254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AB387"/>
                </a:solidFill>
                <a:latin typeface="Segoe UI" panose="020B0502040204020203" pitchFamily="34" charset="0"/>
              </a:rPr>
              <a:t>Reverse proxy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6FED1A5-2F86-69BE-4D1E-9C43E02A6BC3}"/>
              </a:ext>
            </a:extLst>
          </p:cNvPr>
          <p:cNvSpPr txBox="1"/>
          <p:nvPr/>
        </p:nvSpPr>
        <p:spPr>
          <a:xfrm>
            <a:off x="3937000" y="6451600"/>
            <a:ext cx="1117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Nginx (compose) - remplace par Ingress Traefik en cluster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C181DFB-5287-AAEE-F7EA-DE0396B30F78}"/>
              </a:ext>
            </a:extLst>
          </p:cNvPr>
          <p:cNvSpPr txBox="1"/>
          <p:nvPr/>
        </p:nvSpPr>
        <p:spPr>
          <a:xfrm>
            <a:off x="762000" y="7366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9E2AF"/>
                </a:solidFill>
                <a:latin typeface="Segoe UI" panose="020B0502040204020203" pitchFamily="34" charset="0"/>
              </a:rPr>
              <a:t>Mission ESGI : transposer cette stack vers Kubernetes pour HA + securite + persistance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34A2E0C-B3AB-9C29-09DA-CECD79FB7BD2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B1B7FB7-5DD2-D634-0E79-579222595005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226628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39F407-A9E3-2B24-23F0-CC6E27A8EC8F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B8429-1704-0AB7-4E4F-FD0479BB8793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D691ACC-345A-0B9F-A383-9B9DB74D7E30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Architecture cluster Kubernetes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8A9C76-2E90-BC4A-548F-EF1B6F4E4DDC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Vue d'ensemble - flux des requetes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7FD1E-6850-BF1E-26CE-2F1DF657D8EE}"/>
              </a:ext>
            </a:extLst>
          </p:cNvPr>
          <p:cNvSpPr/>
          <p:nvPr/>
        </p:nvSpPr>
        <p:spPr>
          <a:xfrm>
            <a:off x="762000" y="1397000"/>
            <a:ext cx="14732000" cy="7112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4F8D57C-B47D-E74B-7FB5-6D4A6F98B631}"/>
              </a:ext>
            </a:extLst>
          </p:cNvPr>
          <p:cNvSpPr txBox="1"/>
          <p:nvPr/>
        </p:nvSpPr>
        <p:spPr>
          <a:xfrm>
            <a:off x="1016000" y="1587500"/>
            <a:ext cx="14224000" cy="692497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                        UTILISATEUR
                       https://lottoti.local
                                |
                                | port 30443 (NodePort)
                                v
   +============================================================+
   ||                       CLUSTER k3s                         ||
   ||                                                           ||
   ||   +---------------------------------------------------+   ||
   ||   |  TRAEFIK (Ingress controller, namespace traefik)  |   ||
   ||   |  - termine TLS (cert lottoti-ca)                  |   ||
   ||   |  - rate limit + security headers                  |   ||
   ||   +---------------------------------------------------+   ||
   ||                          |                                ||
   ||              +-----------+-----------+                    ||
   ||              v /api/*                v /*                 ||
   ||                                                           ||
   ||   +----------------+         +----------------+           ||
   ||   | Service backend|         | Service frontend|          ||
   ||   |   :5000        |         |   :3000         |          ||
   ||   +----------------+         +----------------+           ||
   ||      |   |  (LB)                |   |   |  (LB)           ||
   ||      v   v                      v   v   v                 ||
   ||   +----+----+                +----+----+----+             ||
   ||   |Pod1|Pod2|                |Pod1|Pod2|Pod3|             ||
   ||   |API |API |                |FE1 |FE2 |FE3 |             ||
   ||   +----+----+                +----+----+----+             ||
   ||      |  |                                                 ||
   ||      v  v                                                 ||
   ||   +----------+    +----------+    +-----------------+     ||
   ||   | postgres | -&gt; | PVC 5Gi  |    | NetworkPolicies |     ||
   ||   | StatefulSet|  | longhorn |    | zero-trust (8)  |     ||
   ||   +----------+    +----------+    +-----------------+     ||
   ||   | redis    | -&gt; | PVC 1Gi  |    | Secrets +       |     ||
   ||   +----------+    +----------+    | ConfigMaps      |     ||
   ||                                   +-----------------+     ||
   +============================================================+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E80EF37-6603-4BBE-A4CD-1F9F67960AF6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B92DA5-5551-DB29-0C3C-6B9E2FA7FAFB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58254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1CA20B-DE7E-9C7C-06AA-BEF1D0AF7183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CE3F4F-4906-908F-C0F9-CDDA6C5F08FB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F3B250D-84F6-F505-D816-E2DB3F33C04F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nl-NL" sz="2800" b="1">
                <a:solidFill>
                  <a:srgbClr val="89B4FA"/>
                </a:solidFill>
                <a:latin typeface="Segoe UI" panose="020B0502040204020203" pitchFamily="34" charset="0"/>
              </a:rPr>
              <a:t>Topologie : 3 noeuds (1 master + 2 workers)</a:t>
            </a:r>
            <a:endParaRPr lang="fr-FR" sz="2800" b="1">
              <a:solidFill>
                <a:srgbClr val="89B4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2604D4-FFEF-831E-366D-2254A384F02F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Exigence PDF section 3.1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5F4601D-9C57-8719-BDF6-39DF67B7B975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pt-BR" sz="1400">
                <a:solidFill>
                  <a:srgbClr val="A6ADC8"/>
                </a:solidFill>
                <a:latin typeface="Segoe UI" panose="020B0502040204020203" pitchFamily="34" charset="0"/>
              </a:rPr>
              <a:t>3 VMs Ubuntu 22.04 via Multipass - cluster k3s v1.31.5</a:t>
            </a:r>
            <a:endParaRPr lang="fr-FR" sz="14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DF8B28-8942-91F4-1D04-8CC649E68A6F}"/>
              </a:ext>
            </a:extLst>
          </p:cNvPr>
          <p:cNvSpPr/>
          <p:nvPr/>
        </p:nvSpPr>
        <p:spPr>
          <a:xfrm>
            <a:off x="762000" y="2032000"/>
            <a:ext cx="4318000" cy="482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47CD9A-48A4-48D5-6005-785F7B0F5577}"/>
              </a:ext>
            </a:extLst>
          </p:cNvPr>
          <p:cNvSpPr/>
          <p:nvPr/>
        </p:nvSpPr>
        <p:spPr>
          <a:xfrm>
            <a:off x="762000" y="2032000"/>
            <a:ext cx="4318000" cy="101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33D8AEB-2653-C066-B79F-911AADBE5C2B}"/>
              </a:ext>
            </a:extLst>
          </p:cNvPr>
          <p:cNvSpPr txBox="1"/>
          <p:nvPr/>
        </p:nvSpPr>
        <p:spPr>
          <a:xfrm>
            <a:off x="1016000" y="2286000"/>
            <a:ext cx="381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400" b="1">
                <a:solidFill>
                  <a:srgbClr val="CBA6F7"/>
                </a:solidFill>
                <a:latin typeface="Segoe UI" panose="020B0502040204020203" pitchFamily="34" charset="0"/>
              </a:rPr>
              <a:t>master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387061-E6A9-7CB0-1886-BF348F7EB32F}"/>
              </a:ext>
            </a:extLst>
          </p:cNvPr>
          <p:cNvSpPr txBox="1"/>
          <p:nvPr/>
        </p:nvSpPr>
        <p:spPr>
          <a:xfrm>
            <a:off x="1016000" y="279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control-plane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82F7C44-13E3-4CDB-F371-9771520E1C8C}"/>
              </a:ext>
            </a:extLst>
          </p:cNvPr>
          <p:cNvSpPr txBox="1"/>
          <p:nvPr/>
        </p:nvSpPr>
        <p:spPr>
          <a:xfrm>
            <a:off x="1016000" y="3302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CPU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D5612EF-905F-FBFE-EB2C-ECA4A304BA1A}"/>
              </a:ext>
            </a:extLst>
          </p:cNvPr>
          <p:cNvSpPr txBox="1"/>
          <p:nvPr/>
        </p:nvSpPr>
        <p:spPr>
          <a:xfrm>
            <a:off x="1016000" y="3530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vCPU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107B73B-1CE2-6C82-5A5A-60CEDB3F665F}"/>
              </a:ext>
            </a:extLst>
          </p:cNvPr>
          <p:cNvSpPr txBox="1"/>
          <p:nvPr/>
        </p:nvSpPr>
        <p:spPr>
          <a:xfrm>
            <a:off x="1016000" y="4064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RAM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C8D2080-5746-3006-90EE-0C42B9F151FE}"/>
              </a:ext>
            </a:extLst>
          </p:cNvPr>
          <p:cNvSpPr txBox="1"/>
          <p:nvPr/>
        </p:nvSpPr>
        <p:spPr>
          <a:xfrm>
            <a:off x="1016000" y="4292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Go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8A018E3-B4D3-9FC9-1AC5-49B149CA344A}"/>
              </a:ext>
            </a:extLst>
          </p:cNvPr>
          <p:cNvSpPr txBox="1"/>
          <p:nvPr/>
        </p:nvSpPr>
        <p:spPr>
          <a:xfrm>
            <a:off x="1016000" y="5080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Pods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68669DB-1FC6-7B32-FD8E-94243BB70034}"/>
              </a:ext>
            </a:extLst>
          </p:cNvPr>
          <p:cNvSpPr txBox="1"/>
          <p:nvPr/>
        </p:nvSpPr>
        <p:spPr>
          <a:xfrm>
            <a:off x="1016000" y="533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Segoe UI" panose="020B0502040204020203" pitchFamily="34" charset="0"/>
              </a:rPr>
              <a:t>API server, scheduler, etcd, frontend(1)</a:t>
            </a:r>
            <a:endParaRPr lang="fr-FR" sz="13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67E03-39AE-C4C2-DA73-5F409F8F9461}"/>
              </a:ext>
            </a:extLst>
          </p:cNvPr>
          <p:cNvSpPr/>
          <p:nvPr/>
        </p:nvSpPr>
        <p:spPr>
          <a:xfrm>
            <a:off x="5969000" y="2032000"/>
            <a:ext cx="4318000" cy="482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E8FCC4-BAF8-8EFC-ABFC-4CFFBC8D1C12}"/>
              </a:ext>
            </a:extLst>
          </p:cNvPr>
          <p:cNvSpPr/>
          <p:nvPr/>
        </p:nvSpPr>
        <p:spPr>
          <a:xfrm>
            <a:off x="5969000" y="2032000"/>
            <a:ext cx="4318000" cy="1016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ED7F8E-8FC3-A13F-0E86-93CE3933470E}"/>
              </a:ext>
            </a:extLst>
          </p:cNvPr>
          <p:cNvSpPr txBox="1"/>
          <p:nvPr/>
        </p:nvSpPr>
        <p:spPr>
          <a:xfrm>
            <a:off x="6223000" y="2286000"/>
            <a:ext cx="381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400" b="1">
                <a:solidFill>
                  <a:srgbClr val="A6E3A1"/>
                </a:solidFill>
                <a:latin typeface="Segoe UI" panose="020B0502040204020203" pitchFamily="34" charset="0"/>
              </a:rPr>
              <a:t>worker1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CA7C825-2FFE-1D74-C36A-2D669B86F58E}"/>
              </a:ext>
            </a:extLst>
          </p:cNvPr>
          <p:cNvSpPr txBox="1"/>
          <p:nvPr/>
        </p:nvSpPr>
        <p:spPr>
          <a:xfrm>
            <a:off x="6223000" y="279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app + storage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A34BA2F-FC66-82D2-F78F-BE3E75659E8C}"/>
              </a:ext>
            </a:extLst>
          </p:cNvPr>
          <p:cNvSpPr txBox="1"/>
          <p:nvPr/>
        </p:nvSpPr>
        <p:spPr>
          <a:xfrm>
            <a:off x="6223000" y="3302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CPU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002C44E-8D63-8FC5-C582-2AD059B1E88B}"/>
              </a:ext>
            </a:extLst>
          </p:cNvPr>
          <p:cNvSpPr txBox="1"/>
          <p:nvPr/>
        </p:nvSpPr>
        <p:spPr>
          <a:xfrm>
            <a:off x="6223000" y="3530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vCPU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E3C7FF1-A26F-4CEE-AAAA-5B18F3AB2DFF}"/>
              </a:ext>
            </a:extLst>
          </p:cNvPr>
          <p:cNvSpPr txBox="1"/>
          <p:nvPr/>
        </p:nvSpPr>
        <p:spPr>
          <a:xfrm>
            <a:off x="6223000" y="4064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RAM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83E1BA8-74B8-DDF6-472E-60C1CD58230F}"/>
              </a:ext>
            </a:extLst>
          </p:cNvPr>
          <p:cNvSpPr txBox="1"/>
          <p:nvPr/>
        </p:nvSpPr>
        <p:spPr>
          <a:xfrm>
            <a:off x="6223000" y="4292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3 Go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DFEB95E-28F6-5093-8897-2133A390F9D9}"/>
              </a:ext>
            </a:extLst>
          </p:cNvPr>
          <p:cNvSpPr txBox="1"/>
          <p:nvPr/>
        </p:nvSpPr>
        <p:spPr>
          <a:xfrm>
            <a:off x="6223000" y="5080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Pods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FA0B863-88F3-B47A-EDD3-CA0CD7808F71}"/>
              </a:ext>
            </a:extLst>
          </p:cNvPr>
          <p:cNvSpPr txBox="1"/>
          <p:nvPr/>
        </p:nvSpPr>
        <p:spPr>
          <a:xfrm>
            <a:off x="6223000" y="533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backend(2), postgres, frontend(1)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1CEA86-0E0C-8BB4-3526-198110A57670}"/>
              </a:ext>
            </a:extLst>
          </p:cNvPr>
          <p:cNvSpPr/>
          <p:nvPr/>
        </p:nvSpPr>
        <p:spPr>
          <a:xfrm>
            <a:off x="11176000" y="2032000"/>
            <a:ext cx="4318000" cy="482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BA53DC-78E0-31DC-3EB1-2CDAF65ACA34}"/>
              </a:ext>
            </a:extLst>
          </p:cNvPr>
          <p:cNvSpPr/>
          <p:nvPr/>
        </p:nvSpPr>
        <p:spPr>
          <a:xfrm>
            <a:off x="11176000" y="2032000"/>
            <a:ext cx="4318000" cy="1016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70EA87B-F7D3-6D38-4294-E86EC47AA837}"/>
              </a:ext>
            </a:extLst>
          </p:cNvPr>
          <p:cNvSpPr txBox="1"/>
          <p:nvPr/>
        </p:nvSpPr>
        <p:spPr>
          <a:xfrm>
            <a:off x="11430000" y="2286000"/>
            <a:ext cx="3810000" cy="41549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400" b="1">
                <a:solidFill>
                  <a:srgbClr val="89B4FA"/>
                </a:solidFill>
                <a:latin typeface="Segoe UI" panose="020B0502040204020203" pitchFamily="34" charset="0"/>
              </a:rPr>
              <a:t>worker2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B96544F-E9D7-8AE9-A9EA-33AB1F25E0CA}"/>
              </a:ext>
            </a:extLst>
          </p:cNvPr>
          <p:cNvSpPr txBox="1"/>
          <p:nvPr/>
        </p:nvSpPr>
        <p:spPr>
          <a:xfrm>
            <a:off x="11430000" y="279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app + storage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925B2A7-E68E-0DA2-670B-7D1E0695D0B6}"/>
              </a:ext>
            </a:extLst>
          </p:cNvPr>
          <p:cNvSpPr txBox="1"/>
          <p:nvPr/>
        </p:nvSpPr>
        <p:spPr>
          <a:xfrm>
            <a:off x="11430000" y="3302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CPU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7475D7AE-3EC7-3423-C8BE-451AB881DA10}"/>
              </a:ext>
            </a:extLst>
          </p:cNvPr>
          <p:cNvSpPr txBox="1"/>
          <p:nvPr/>
        </p:nvSpPr>
        <p:spPr>
          <a:xfrm>
            <a:off x="11430000" y="3530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2 vCPU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90D71B4-FD26-E9F7-A1CD-DEE37D89DB76}"/>
              </a:ext>
            </a:extLst>
          </p:cNvPr>
          <p:cNvSpPr txBox="1"/>
          <p:nvPr/>
        </p:nvSpPr>
        <p:spPr>
          <a:xfrm>
            <a:off x="11430000" y="4064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RAM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63E69A1-93AF-A2D4-21C3-C4847AD77022}"/>
              </a:ext>
            </a:extLst>
          </p:cNvPr>
          <p:cNvSpPr txBox="1"/>
          <p:nvPr/>
        </p:nvSpPr>
        <p:spPr>
          <a:xfrm>
            <a:off x="11430000" y="4292600"/>
            <a:ext cx="381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3 Go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A83567A2-5FDF-C9C3-8BE4-8D81357A2F86}"/>
              </a:ext>
            </a:extLst>
          </p:cNvPr>
          <p:cNvSpPr txBox="1"/>
          <p:nvPr/>
        </p:nvSpPr>
        <p:spPr>
          <a:xfrm>
            <a:off x="11430000" y="5080000"/>
            <a:ext cx="3810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Pods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EF6BD1D-1252-63A2-D1B4-2D58813BCDEE}"/>
              </a:ext>
            </a:extLst>
          </p:cNvPr>
          <p:cNvSpPr txBox="1"/>
          <p:nvPr/>
        </p:nvSpPr>
        <p:spPr>
          <a:xfrm>
            <a:off x="11430000" y="5334000"/>
            <a:ext cx="381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redis, frontend(1)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8918FBC9-6FCA-82AE-AC1F-BF3D5171722E}"/>
              </a:ext>
            </a:extLst>
          </p:cNvPr>
          <p:cNvSpPr txBox="1"/>
          <p:nvPr/>
        </p:nvSpPr>
        <p:spPr>
          <a:xfrm>
            <a:off x="762000" y="7366000"/>
            <a:ext cx="14732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PodAntiAffinity : frontend repartis sur les 3 nodes (resilience aux pannes)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77A96C5C-ECD6-5443-64CC-FC1DDBBCE770}"/>
              </a:ext>
            </a:extLst>
          </p:cNvPr>
          <p:cNvSpPr txBox="1"/>
          <p:nvPr/>
        </p:nvSpPr>
        <p:spPr>
          <a:xfrm>
            <a:off x="762000" y="7747000"/>
            <a:ext cx="14732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Labels appliques : storage=true, lottoti.io/role=app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725B9CB-0AB8-071C-9398-668C79712162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9DC93CD-6FBD-1103-6E16-F8D981886DC4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2164885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846928-D7ED-0DEC-6F72-DF6390362E05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F422F7-91B5-5BE7-D71C-1F1D5A9F8947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C327AB-B2B3-455C-A0EF-56D7322FFC6B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Steps d'installation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94992F-49F1-20B2-7FA1-7E9696EFBE4E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8 etapes scriptees - install-all.sh (~15 min)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570FB-8FD1-C92A-3F45-5E7640B03C35}"/>
              </a:ext>
            </a:extLst>
          </p:cNvPr>
          <p:cNvSpPr/>
          <p:nvPr/>
        </p:nvSpPr>
        <p:spPr>
          <a:xfrm>
            <a:off x="762000" y="1524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2A60B5-9361-8FAD-3D5A-B005EB7DFBE8}"/>
              </a:ext>
            </a:extLst>
          </p:cNvPr>
          <p:cNvSpPr/>
          <p:nvPr/>
        </p:nvSpPr>
        <p:spPr>
          <a:xfrm>
            <a:off x="762000" y="1524000"/>
            <a:ext cx="76200" cy="635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C02CA9A-5F4B-1F62-9321-6EF76D6E9480}"/>
              </a:ext>
            </a:extLst>
          </p:cNvPr>
          <p:cNvSpPr txBox="1"/>
          <p:nvPr/>
        </p:nvSpPr>
        <p:spPr>
          <a:xfrm>
            <a:off x="1016000" y="1651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89B4FA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1D9B283-235D-AAD1-7071-D514BC255D13}"/>
              </a:ext>
            </a:extLst>
          </p:cNvPr>
          <p:cNvSpPr txBox="1"/>
          <p:nvPr/>
        </p:nvSpPr>
        <p:spPr>
          <a:xfrm>
            <a:off x="1778000" y="1625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Creation 3 VMs Multipass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AD24AC-283B-D027-E904-CC345E0FE47B}"/>
              </a:ext>
            </a:extLst>
          </p:cNvPr>
          <p:cNvSpPr txBox="1"/>
          <p:nvPr/>
        </p:nvSpPr>
        <p:spPr>
          <a:xfrm>
            <a:off x="1778000" y="1879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01-create-vms.sh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2328F71-DFC2-BFC5-0FA6-6288BC81BCC8}"/>
              </a:ext>
            </a:extLst>
          </p:cNvPr>
          <p:cNvSpPr txBox="1"/>
          <p:nvPr/>
        </p:nvSpPr>
        <p:spPr>
          <a:xfrm>
            <a:off x="7112000" y="1714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Ubuntu 22.04 - master + worker1 + worker2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72672-DD4F-2E80-F05D-EB957581CC00}"/>
              </a:ext>
            </a:extLst>
          </p:cNvPr>
          <p:cNvSpPr/>
          <p:nvPr/>
        </p:nvSpPr>
        <p:spPr>
          <a:xfrm>
            <a:off x="762000" y="2286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18396F-346A-87E0-2F93-BDD8447A35E0}"/>
              </a:ext>
            </a:extLst>
          </p:cNvPr>
          <p:cNvSpPr/>
          <p:nvPr/>
        </p:nvSpPr>
        <p:spPr>
          <a:xfrm>
            <a:off x="762000" y="2286000"/>
            <a:ext cx="76200" cy="635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B0313B4-32E2-8C20-6C2F-E3CD93303899}"/>
              </a:ext>
            </a:extLst>
          </p:cNvPr>
          <p:cNvSpPr txBox="1"/>
          <p:nvPr/>
        </p:nvSpPr>
        <p:spPr>
          <a:xfrm>
            <a:off x="1016000" y="2413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A6E3A1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0B0A358-EA08-8348-E38B-7AC0482D0A25}"/>
              </a:ext>
            </a:extLst>
          </p:cNvPr>
          <p:cNvSpPr txBox="1"/>
          <p:nvPr/>
        </p:nvSpPr>
        <p:spPr>
          <a:xfrm>
            <a:off x="1778000" y="2387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Installation k3s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5B36411-2430-7B9F-E9DE-532814928B05}"/>
              </a:ext>
            </a:extLst>
          </p:cNvPr>
          <p:cNvSpPr txBox="1"/>
          <p:nvPr/>
        </p:nvSpPr>
        <p:spPr>
          <a:xfrm>
            <a:off x="1778000" y="2641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02-install-k3s.sh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7B9E1C8-F249-71B3-799E-E2B6E0B080C4}"/>
              </a:ext>
            </a:extLst>
          </p:cNvPr>
          <p:cNvSpPr txBox="1"/>
          <p:nvPr/>
        </p:nvSpPr>
        <p:spPr>
          <a:xfrm>
            <a:off x="7112000" y="2476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server sur master + agents sur workers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78C801-AF37-8E13-62BC-93E582D31783}"/>
              </a:ext>
            </a:extLst>
          </p:cNvPr>
          <p:cNvSpPr/>
          <p:nvPr/>
        </p:nvSpPr>
        <p:spPr>
          <a:xfrm>
            <a:off x="762000" y="3048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FA2CB3-5C25-B318-A8F0-2BF823F9EB81}"/>
              </a:ext>
            </a:extLst>
          </p:cNvPr>
          <p:cNvSpPr/>
          <p:nvPr/>
        </p:nvSpPr>
        <p:spPr>
          <a:xfrm>
            <a:off x="762000" y="3048000"/>
            <a:ext cx="76200" cy="635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C3EC6C6-B21E-99C8-D52B-1E13C43AA443}"/>
              </a:ext>
            </a:extLst>
          </p:cNvPr>
          <p:cNvSpPr txBox="1"/>
          <p:nvPr/>
        </p:nvSpPr>
        <p:spPr>
          <a:xfrm>
            <a:off x="1016000" y="3175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CBA6F7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ECE44DE-DCB5-18F5-D40A-4F68C67194CA}"/>
              </a:ext>
            </a:extLst>
          </p:cNvPr>
          <p:cNvSpPr txBox="1"/>
          <p:nvPr/>
        </p:nvSpPr>
        <p:spPr>
          <a:xfrm>
            <a:off x="1778000" y="3149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Installation Longhorn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5839DA3-0740-D570-0B1E-0DA1C6859E72}"/>
              </a:ext>
            </a:extLst>
          </p:cNvPr>
          <p:cNvSpPr txBox="1"/>
          <p:nvPr/>
        </p:nvSpPr>
        <p:spPr>
          <a:xfrm>
            <a:off x="1778000" y="3403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03-install-storage.sh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1F074C6-09FA-D811-453E-FFF8DB5FC749}"/>
              </a:ext>
            </a:extLst>
          </p:cNvPr>
          <p:cNvSpPr txBox="1"/>
          <p:nvPr/>
        </p:nvSpPr>
        <p:spPr>
          <a:xfrm>
            <a:off x="7112000" y="3238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Storage RWX pour le PVC uploads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047515-DEB7-C529-CB89-2F46273B3246}"/>
              </a:ext>
            </a:extLst>
          </p:cNvPr>
          <p:cNvSpPr/>
          <p:nvPr/>
        </p:nvSpPr>
        <p:spPr>
          <a:xfrm>
            <a:off x="762000" y="3810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767279-A306-987A-24C2-C447A40F0585}"/>
              </a:ext>
            </a:extLst>
          </p:cNvPr>
          <p:cNvSpPr/>
          <p:nvPr/>
        </p:nvSpPr>
        <p:spPr>
          <a:xfrm>
            <a:off x="762000" y="3810000"/>
            <a:ext cx="76200" cy="635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BD09ADB-43E9-2D1F-F225-3A98571BAABA}"/>
              </a:ext>
            </a:extLst>
          </p:cNvPr>
          <p:cNvSpPr txBox="1"/>
          <p:nvPr/>
        </p:nvSpPr>
        <p:spPr>
          <a:xfrm>
            <a:off x="1016000" y="3937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F9E2A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E7A1727-888F-AC97-4CD7-FE434465C4A5}"/>
              </a:ext>
            </a:extLst>
          </p:cNvPr>
          <p:cNvSpPr txBox="1"/>
          <p:nvPr/>
        </p:nvSpPr>
        <p:spPr>
          <a:xfrm>
            <a:off x="1778000" y="3911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Installation cert-manager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318176A-8401-1761-2BB0-8B51BB192D0A}"/>
              </a:ext>
            </a:extLst>
          </p:cNvPr>
          <p:cNvSpPr txBox="1"/>
          <p:nvPr/>
        </p:nvSpPr>
        <p:spPr>
          <a:xfrm>
            <a:off x="1778000" y="4165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04-install-cert-manager.sh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F638E24-B857-61A0-68EF-FE4324D2D1E5}"/>
              </a:ext>
            </a:extLst>
          </p:cNvPr>
          <p:cNvSpPr txBox="1"/>
          <p:nvPr/>
        </p:nvSpPr>
        <p:spPr>
          <a:xfrm>
            <a:off x="7112000" y="4000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Generation CA local + ClusterIssuer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AF13E0-E440-D3FE-C261-ED2E95F4424A}"/>
              </a:ext>
            </a:extLst>
          </p:cNvPr>
          <p:cNvSpPr/>
          <p:nvPr/>
        </p:nvSpPr>
        <p:spPr>
          <a:xfrm>
            <a:off x="762000" y="4572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387E8D-EDAF-272C-EF1D-71721BD451F1}"/>
              </a:ext>
            </a:extLst>
          </p:cNvPr>
          <p:cNvSpPr/>
          <p:nvPr/>
        </p:nvSpPr>
        <p:spPr>
          <a:xfrm>
            <a:off x="762000" y="4572000"/>
            <a:ext cx="76200" cy="6350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E915A64-EF5B-4CD6-98D2-F849B334BE6C}"/>
              </a:ext>
            </a:extLst>
          </p:cNvPr>
          <p:cNvSpPr txBox="1"/>
          <p:nvPr/>
        </p:nvSpPr>
        <p:spPr>
          <a:xfrm>
            <a:off x="1016000" y="4699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FAB387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705C642-4867-19A4-5972-66B430515109}"/>
              </a:ext>
            </a:extLst>
          </p:cNvPr>
          <p:cNvSpPr txBox="1"/>
          <p:nvPr/>
        </p:nvSpPr>
        <p:spPr>
          <a:xfrm>
            <a:off x="1778000" y="4673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Installation Traefik Ingress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FFC80D5-DBEE-6A2A-4B3C-56701C026C18}"/>
              </a:ext>
            </a:extLst>
          </p:cNvPr>
          <p:cNvSpPr txBox="1"/>
          <p:nvPr/>
        </p:nvSpPr>
        <p:spPr>
          <a:xfrm>
            <a:off x="1778000" y="4927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05-install-ingress.sh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703BE4D-859C-6B60-0DF9-96C9CD7BD775}"/>
              </a:ext>
            </a:extLst>
          </p:cNvPr>
          <p:cNvSpPr txBox="1"/>
          <p:nvPr/>
        </p:nvSpPr>
        <p:spPr>
          <a:xfrm>
            <a:off x="7112000" y="4762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Helm chart - NodePort 30443/30080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CEF2350-2D92-B06E-4203-9C73659924C4}"/>
              </a:ext>
            </a:extLst>
          </p:cNvPr>
          <p:cNvSpPr/>
          <p:nvPr/>
        </p:nvSpPr>
        <p:spPr>
          <a:xfrm>
            <a:off x="762000" y="5334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2C7724-F870-74ED-39F0-1759AD1E3E33}"/>
              </a:ext>
            </a:extLst>
          </p:cNvPr>
          <p:cNvSpPr/>
          <p:nvPr/>
        </p:nvSpPr>
        <p:spPr>
          <a:xfrm>
            <a:off x="762000" y="5334000"/>
            <a:ext cx="76200" cy="635000"/>
          </a:xfrm>
          <a:prstGeom prst="rect">
            <a:avLst/>
          </a:prstGeom>
          <a:solidFill>
            <a:srgbClr val="94E2D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F27CDEB-88CF-CDD5-B247-3EE6E56C97EA}"/>
              </a:ext>
            </a:extLst>
          </p:cNvPr>
          <p:cNvSpPr txBox="1"/>
          <p:nvPr/>
        </p:nvSpPr>
        <p:spPr>
          <a:xfrm>
            <a:off x="1016000" y="5461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94E2D5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F58C7EBE-BA9B-10AE-FF9E-46F85964EEAF}"/>
              </a:ext>
            </a:extLst>
          </p:cNvPr>
          <p:cNvSpPr txBox="1"/>
          <p:nvPr/>
        </p:nvSpPr>
        <p:spPr>
          <a:xfrm>
            <a:off x="1778000" y="5435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Build &amp; import images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C5594464-CC5C-6739-A5ED-D266274C9202}"/>
              </a:ext>
            </a:extLst>
          </p:cNvPr>
          <p:cNvSpPr txBox="1"/>
          <p:nvPr/>
        </p:nvSpPr>
        <p:spPr>
          <a:xfrm>
            <a:off x="1778000" y="5689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06-build-images.sh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5B69657-75A4-1CDB-E78C-DEB2DDD1DBFF}"/>
              </a:ext>
            </a:extLst>
          </p:cNvPr>
          <p:cNvSpPr txBox="1"/>
          <p:nvPr/>
        </p:nvSpPr>
        <p:spPr>
          <a:xfrm>
            <a:off x="7112000" y="5524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docker build + k3s ctr import sur les 3 nodes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DA87D0-4517-393C-14A8-7606CF733161}"/>
              </a:ext>
            </a:extLst>
          </p:cNvPr>
          <p:cNvSpPr/>
          <p:nvPr/>
        </p:nvSpPr>
        <p:spPr>
          <a:xfrm>
            <a:off x="762000" y="6096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55E3BF-C88F-2A9F-A822-1837C61DEF48}"/>
              </a:ext>
            </a:extLst>
          </p:cNvPr>
          <p:cNvSpPr/>
          <p:nvPr/>
        </p:nvSpPr>
        <p:spPr>
          <a:xfrm>
            <a:off x="762000" y="6096000"/>
            <a:ext cx="76200" cy="635000"/>
          </a:xfrm>
          <a:prstGeom prst="rect">
            <a:avLst/>
          </a:prstGeom>
          <a:solidFill>
            <a:srgbClr val="F5C2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C6104AA-A4A7-CDD6-AFED-6A35A28BE01D}"/>
              </a:ext>
            </a:extLst>
          </p:cNvPr>
          <p:cNvSpPr txBox="1"/>
          <p:nvPr/>
        </p:nvSpPr>
        <p:spPr>
          <a:xfrm>
            <a:off x="1016000" y="6223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F5C2E7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C68C7A6-3AC4-962C-B0C6-5813E5C685B7}"/>
              </a:ext>
            </a:extLst>
          </p:cNvPr>
          <p:cNvSpPr txBox="1"/>
          <p:nvPr/>
        </p:nvSpPr>
        <p:spPr>
          <a:xfrm>
            <a:off x="1778000" y="6197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Deploy LottoTi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518D22D2-CF35-9299-AF2D-B62FBD5C0644}"/>
              </a:ext>
            </a:extLst>
          </p:cNvPr>
          <p:cNvSpPr txBox="1"/>
          <p:nvPr/>
        </p:nvSpPr>
        <p:spPr>
          <a:xfrm>
            <a:off x="1778000" y="6451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07-deploy.sh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48671B5-412F-82BB-946F-6EA518AE58F7}"/>
              </a:ext>
            </a:extLst>
          </p:cNvPr>
          <p:cNvSpPr txBox="1"/>
          <p:nvPr/>
        </p:nvSpPr>
        <p:spPr>
          <a:xfrm>
            <a:off x="7112000" y="6286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>
                <a:solidFill>
                  <a:srgbClr val="A6ADC8"/>
                </a:solidFill>
                <a:latin typeface="Segoe UI" panose="020B0502040204020203" pitchFamily="34" charset="0"/>
              </a:rPr>
              <a:t>kubectl apply -k - 36 manifests Kustomize</a:t>
            </a:r>
            <a:endParaRPr lang="fr-FR" sz="12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47EFA1-BF13-969D-5E7F-4B6F4BAD7AAB}"/>
              </a:ext>
            </a:extLst>
          </p:cNvPr>
          <p:cNvSpPr/>
          <p:nvPr/>
        </p:nvSpPr>
        <p:spPr>
          <a:xfrm>
            <a:off x="762000" y="6858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88AEBEA-A711-2291-0752-DA326199B6DA}"/>
              </a:ext>
            </a:extLst>
          </p:cNvPr>
          <p:cNvSpPr/>
          <p:nvPr/>
        </p:nvSpPr>
        <p:spPr>
          <a:xfrm>
            <a:off x="762000" y="6858000"/>
            <a:ext cx="76200" cy="635000"/>
          </a:xfrm>
          <a:prstGeom prst="rect">
            <a:avLst/>
          </a:prstGeom>
          <a:solidFill>
            <a:srgbClr val="F38B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54607C73-B69F-8473-4768-65C2D2A0DF04}"/>
              </a:ext>
            </a:extLst>
          </p:cNvPr>
          <p:cNvSpPr txBox="1"/>
          <p:nvPr/>
        </p:nvSpPr>
        <p:spPr>
          <a:xfrm>
            <a:off x="1016000" y="6985000"/>
            <a:ext cx="508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F38BA8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87C4519-4E59-34F4-C79B-EF74965B7A07}"/>
              </a:ext>
            </a:extLst>
          </p:cNvPr>
          <p:cNvSpPr txBox="1"/>
          <p:nvPr/>
        </p:nvSpPr>
        <p:spPr>
          <a:xfrm>
            <a:off x="1778000" y="6959600"/>
            <a:ext cx="508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FFFFF"/>
                </a:solidFill>
                <a:latin typeface="Segoe UI" panose="020B0502040204020203" pitchFamily="34" charset="0"/>
              </a:rPr>
              <a:t>Tests HA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05AB91E-69A6-E492-B38A-69A90E296E0E}"/>
              </a:ext>
            </a:extLst>
          </p:cNvPr>
          <p:cNvSpPr txBox="1"/>
          <p:nvPr/>
        </p:nvSpPr>
        <p:spPr>
          <a:xfrm>
            <a:off x="1778000" y="7213600"/>
            <a:ext cx="3175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E3A1"/>
                </a:solidFill>
                <a:latin typeface="Consolas" panose="020B0609020204030204" pitchFamily="49" charset="0"/>
              </a:rPr>
              <a:t>08-test-ha.sh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5CB002A-4344-FEE8-0217-4E03907AF4AA}"/>
              </a:ext>
            </a:extLst>
          </p:cNvPr>
          <p:cNvSpPr txBox="1"/>
          <p:nvPr/>
        </p:nvSpPr>
        <p:spPr>
          <a:xfrm>
            <a:off x="7112000" y="7048500"/>
            <a:ext cx="812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>
                <a:solidFill>
                  <a:srgbClr val="A6ADC8"/>
                </a:solidFill>
                <a:latin typeface="Segoe UI" panose="020B0502040204020203" pitchFamily="34" charset="0"/>
              </a:rPr>
              <a:t>kill pods, scale, rolling update + captures</a:t>
            </a:r>
            <a:endParaRPr lang="fr-FR" sz="12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355C4BAB-5FE3-CD23-3B3B-A139E48F0B75}"/>
              </a:ext>
            </a:extLst>
          </p:cNvPr>
          <p:cNvSpPr txBox="1"/>
          <p:nvPr/>
        </p:nvSpPr>
        <p:spPr>
          <a:xfrm>
            <a:off x="762000" y="774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400" b="1">
                <a:solidFill>
                  <a:srgbClr val="A6E3A1"/>
                </a:solidFill>
                <a:latin typeface="Segoe UI" panose="020B0502040204020203" pitchFamily="34" charset="0"/>
              </a:rPr>
              <a:t>Resultat : cluster k3s + LottoTi up - https://lottoti.local:30443/</a:t>
            </a:r>
            <a:endParaRPr lang="fr-FR" sz="1400" b="1">
              <a:solidFill>
                <a:srgbClr val="A6E3A1"/>
              </a:solidFill>
              <a:latin typeface="Segoe UI" panose="020B0502040204020203" pitchFamily="34" charset="0"/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49D00204-9DC8-33FA-FD3A-E4C1AF79CD26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9380F3B6-5B2A-1B9B-407A-2786C64457DA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2723492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1669BD-9B96-86CC-F6AF-097F2725085A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D6C8F-A140-13C8-9F4D-47CA49E8BE42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0134804-B6CF-DCE6-2968-684E196B8C5E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Securite : Secrets &amp; ConfigMaps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F539EFB-9567-7EDA-AAE2-A87275423F6D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PDF section 3.4 - separation valeurs sensibles vs config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73C39F-6EF2-847A-44ED-DDBE4205D35A}"/>
              </a:ext>
            </a:extLst>
          </p:cNvPr>
          <p:cNvSpPr/>
          <p:nvPr/>
        </p:nvSpPr>
        <p:spPr>
          <a:xfrm>
            <a:off x="762000" y="1524000"/>
            <a:ext cx="7366000" cy="596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E57C15-A5B1-190A-165F-2AA1FE5C1DC3}"/>
              </a:ext>
            </a:extLst>
          </p:cNvPr>
          <p:cNvSpPr/>
          <p:nvPr/>
        </p:nvSpPr>
        <p:spPr>
          <a:xfrm>
            <a:off x="762000" y="1524000"/>
            <a:ext cx="7366000" cy="101600"/>
          </a:xfrm>
          <a:prstGeom prst="rect">
            <a:avLst/>
          </a:prstGeom>
          <a:solidFill>
            <a:srgbClr val="F38B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2A4EE4C-E60D-4B67-38F8-3CD20DACF82E}"/>
              </a:ext>
            </a:extLst>
          </p:cNvPr>
          <p:cNvSpPr txBox="1"/>
          <p:nvPr/>
        </p:nvSpPr>
        <p:spPr>
          <a:xfrm>
            <a:off x="1016000" y="1778000"/>
            <a:ext cx="6858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38BA8"/>
                </a:solidFill>
                <a:latin typeface="Segoe UI" panose="020B0502040204020203" pitchFamily="34" charset="0"/>
              </a:rPr>
              <a:t>SECRET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09840AA-E420-2455-29EE-43D23EE76F07}"/>
              </a:ext>
            </a:extLst>
          </p:cNvPr>
          <p:cNvSpPr txBox="1"/>
          <p:nvPr/>
        </p:nvSpPr>
        <p:spPr>
          <a:xfrm>
            <a:off x="1016000" y="2159000"/>
            <a:ext cx="685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Donnees sensibles - chiffrees dans etcd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533E45-2BE7-BC04-8C6C-31D852E253FF}"/>
              </a:ext>
            </a:extLst>
          </p:cNvPr>
          <p:cNvSpPr txBox="1"/>
          <p:nvPr/>
        </p:nvSpPr>
        <p:spPr>
          <a:xfrm>
            <a:off x="1016000" y="2667000"/>
            <a:ext cx="6858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lottoti-secrets (5 cles Opaque):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F7FEB6-C405-3408-9D94-5DF3B46D0D29}"/>
              </a:ext>
            </a:extLst>
          </p:cNvPr>
          <p:cNvSpPr txBox="1"/>
          <p:nvPr/>
        </p:nvSpPr>
        <p:spPr>
          <a:xfrm>
            <a:off x="1016000" y="31115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Consolas" panose="020B0609020204030204" pitchFamily="49" charset="0"/>
              </a:rPr>
              <a:t>  - POSTGRES_PASSWORD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78407B9-8DEA-DD79-7EBE-B6852BC71CFA}"/>
              </a:ext>
            </a:extLst>
          </p:cNvPr>
          <p:cNvSpPr txBox="1"/>
          <p:nvPr/>
        </p:nvSpPr>
        <p:spPr>
          <a:xfrm>
            <a:off x="1016000" y="34671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Consolas" panose="020B0609020204030204" pitchFamily="49" charset="0"/>
              </a:rPr>
              <a:t>  - FLASK_SECRET_KEY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16FF496-18C3-4024-7483-0DBB5547014B}"/>
              </a:ext>
            </a:extLst>
          </p:cNvPr>
          <p:cNvSpPr txBox="1"/>
          <p:nvPr/>
        </p:nvSpPr>
        <p:spPr>
          <a:xfrm>
            <a:off x="1016000" y="38227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Consolas" panose="020B0609020204030204" pitchFamily="49" charset="0"/>
              </a:rPr>
              <a:t>  - JWT_SECRET_KEY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68345A9-67E6-2DD8-DC71-A8C53E9CBCFE}"/>
              </a:ext>
            </a:extLst>
          </p:cNvPr>
          <p:cNvSpPr txBox="1"/>
          <p:nvPr/>
        </p:nvSpPr>
        <p:spPr>
          <a:xfrm>
            <a:off x="1016000" y="41783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Consolas" panose="020B0609020204030204" pitchFamily="49" charset="0"/>
              </a:rPr>
              <a:t>  - STRIPE_SECRET_KEY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EA9152C-081E-D281-130E-29419B7D1BCC}"/>
              </a:ext>
            </a:extLst>
          </p:cNvPr>
          <p:cNvSpPr txBox="1"/>
          <p:nvPr/>
        </p:nvSpPr>
        <p:spPr>
          <a:xfrm>
            <a:off x="1016000" y="45339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Consolas" panose="020B0609020204030204" pitchFamily="49" charset="0"/>
              </a:rPr>
              <a:t>  - STRIPE_WEBHOOK_SECRET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BC1D8A8-6063-7214-9C16-2E230ACEBA72}"/>
              </a:ext>
            </a:extLst>
          </p:cNvPr>
          <p:cNvSpPr txBox="1"/>
          <p:nvPr/>
        </p:nvSpPr>
        <p:spPr>
          <a:xfrm>
            <a:off x="1016000" y="5080000"/>
            <a:ext cx="6858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lottoti-tls (kubernetes.io/tls):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2C185CF-0375-23AF-0544-C3DA6799CF22}"/>
              </a:ext>
            </a:extLst>
          </p:cNvPr>
          <p:cNvSpPr txBox="1"/>
          <p:nvPr/>
        </p:nvSpPr>
        <p:spPr>
          <a:xfrm>
            <a:off x="1016000" y="53975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Consolas" panose="020B0609020204030204" pitchFamily="49" charset="0"/>
              </a:rPr>
              <a:t>  - tls.crt + tls.key (cert HTTPS)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081C798-D3B0-3C5E-A149-EA605B66674A}"/>
              </a:ext>
            </a:extLst>
          </p:cNvPr>
          <p:cNvSpPr txBox="1"/>
          <p:nvPr/>
        </p:nvSpPr>
        <p:spPr>
          <a:xfrm>
            <a:off x="1016000" y="6096000"/>
            <a:ext cx="685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kubectl describe secret ne montre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E8BD57B-B3ED-ACA9-ED04-F9895506AF02}"/>
              </a:ext>
            </a:extLst>
          </p:cNvPr>
          <p:cNvSpPr txBox="1"/>
          <p:nvPr/>
        </p:nvSpPr>
        <p:spPr>
          <a:xfrm>
            <a:off x="1016000" y="6375400"/>
            <a:ext cx="6858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que les TAILLES (jamais les valeurs)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4330E6-63B6-82B6-3090-C3F5C717BE3B}"/>
              </a:ext>
            </a:extLst>
          </p:cNvPr>
          <p:cNvSpPr/>
          <p:nvPr/>
        </p:nvSpPr>
        <p:spPr>
          <a:xfrm>
            <a:off x="8382000" y="1524000"/>
            <a:ext cx="7112000" cy="596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6FE82-7743-DD02-32A7-0202CA06F2E8}"/>
              </a:ext>
            </a:extLst>
          </p:cNvPr>
          <p:cNvSpPr/>
          <p:nvPr/>
        </p:nvSpPr>
        <p:spPr>
          <a:xfrm>
            <a:off x="8382000" y="1524000"/>
            <a:ext cx="7112000" cy="1016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9BBE132-B7EE-E5BD-B05A-1F20D50CB536}"/>
              </a:ext>
            </a:extLst>
          </p:cNvPr>
          <p:cNvSpPr txBox="1"/>
          <p:nvPr/>
        </p:nvSpPr>
        <p:spPr>
          <a:xfrm>
            <a:off x="8636000" y="1778000"/>
            <a:ext cx="6604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89B4FA"/>
                </a:solidFill>
                <a:latin typeface="Segoe UI" panose="020B0502040204020203" pitchFamily="34" charset="0"/>
              </a:rPr>
              <a:t>CONFIGMAP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6A0BDB8-C673-C88A-9BB9-75E048B5F6CF}"/>
              </a:ext>
            </a:extLst>
          </p:cNvPr>
          <p:cNvSpPr txBox="1"/>
          <p:nvPr/>
        </p:nvSpPr>
        <p:spPr>
          <a:xfrm>
            <a:off x="8636000" y="21590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Variables non sensibles - en clair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E9655FC-23CD-1515-EDCD-614EDEA378D7}"/>
              </a:ext>
            </a:extLst>
          </p:cNvPr>
          <p:cNvSpPr txBox="1"/>
          <p:nvPr/>
        </p:nvSpPr>
        <p:spPr>
          <a:xfrm>
            <a:off x="8636000" y="2667000"/>
            <a:ext cx="6604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backend-config (7 cles):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5183E60-0033-F117-E931-D28593F92997}"/>
              </a:ext>
            </a:extLst>
          </p:cNvPr>
          <p:cNvSpPr txBox="1"/>
          <p:nvPr/>
        </p:nvSpPr>
        <p:spPr>
          <a:xfrm>
            <a:off x="8636000" y="31115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- FLASK_ENV=production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C65B6A1-87BF-74B7-DFBB-BBF167246EBF}"/>
              </a:ext>
            </a:extLst>
          </p:cNvPr>
          <p:cNvSpPr txBox="1"/>
          <p:nvPr/>
        </p:nvSpPr>
        <p:spPr>
          <a:xfrm>
            <a:off x="8636000" y="34671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- PORT=5000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1EEFEEE-AD57-6F1A-526B-C72332C58E0D}"/>
              </a:ext>
            </a:extLst>
          </p:cNvPr>
          <p:cNvSpPr txBox="1"/>
          <p:nvPr/>
        </p:nvSpPr>
        <p:spPr>
          <a:xfrm>
            <a:off x="8636000" y="38227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- LOG_LEVEL=info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149CA1A-A8A4-C689-34D4-F469C2948BF6}"/>
              </a:ext>
            </a:extLst>
          </p:cNvPr>
          <p:cNvSpPr txBox="1"/>
          <p:nvPr/>
        </p:nvSpPr>
        <p:spPr>
          <a:xfrm>
            <a:off x="8636000" y="41783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- FRONTEND_URL=https://lottoti.local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37A9D52-C99B-309D-2DE3-536A818AF0F9}"/>
              </a:ext>
            </a:extLst>
          </p:cNvPr>
          <p:cNvSpPr txBox="1"/>
          <p:nvPr/>
        </p:nvSpPr>
        <p:spPr>
          <a:xfrm>
            <a:off x="8636000" y="45339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- CORS_ORIGINS=https://lottoti.local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3271DCF-E807-9B73-5D9B-56D8C51BA6FC}"/>
              </a:ext>
            </a:extLst>
          </p:cNvPr>
          <p:cNvSpPr txBox="1"/>
          <p:nvPr/>
        </p:nvSpPr>
        <p:spPr>
          <a:xfrm>
            <a:off x="8636000" y="5080000"/>
            <a:ext cx="6604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postgres-config: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C196894-E148-2B1F-C32E-5EFB913037A3}"/>
              </a:ext>
            </a:extLst>
          </p:cNvPr>
          <p:cNvSpPr txBox="1"/>
          <p:nvPr/>
        </p:nvSpPr>
        <p:spPr>
          <a:xfrm>
            <a:off x="8636000" y="53975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- POSTGRES_DB, POSTGRES_USER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FB7D292-E873-91B7-3692-EB2533375EA3}"/>
              </a:ext>
            </a:extLst>
          </p:cNvPr>
          <p:cNvSpPr txBox="1"/>
          <p:nvPr/>
        </p:nvSpPr>
        <p:spPr>
          <a:xfrm>
            <a:off x="8636000" y="57150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  - postgresql.conf (tuning DB)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12F2416-4F35-C953-BF63-4E68C8556388}"/>
              </a:ext>
            </a:extLst>
          </p:cNvPr>
          <p:cNvSpPr txBox="1"/>
          <p:nvPr/>
        </p:nvSpPr>
        <p:spPr>
          <a:xfrm>
            <a:off x="8636000" y="63754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Injectes dans les pods via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A9D93C84-B04F-0CA8-B220-994AE5AE13A7}"/>
              </a:ext>
            </a:extLst>
          </p:cNvPr>
          <p:cNvSpPr txBox="1"/>
          <p:nvPr/>
        </p:nvSpPr>
        <p:spPr>
          <a:xfrm>
            <a:off x="8636000" y="6629400"/>
            <a:ext cx="6604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Consolas" panose="020B0609020204030204" pitchFamily="49" charset="0"/>
              </a:rPr>
              <a:t>envFrom: configMapRef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56B54974-D8F4-B059-87C5-A9E39B2BE7B7}"/>
              </a:ext>
            </a:extLst>
          </p:cNvPr>
          <p:cNvSpPr txBox="1"/>
          <p:nvPr/>
        </p:nvSpPr>
        <p:spPr>
          <a:xfrm>
            <a:off x="762000" y="7810500"/>
            <a:ext cx="14732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Regle d'or : si la valeur etait fuitee, est-ce un probleme ? -&gt; Secret. Sinon -&gt; ConfigMap.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D80A88B-180E-4BA7-09B2-AFCE8214CE8F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DDFBBDB-AC7F-B5C1-A8AB-39342048F250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76569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8B8AA4-B475-D2D7-3B69-ED45769A70F4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8012B9-B94E-DD6A-C2B0-815EB1E593AD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DE83BB-D9B2-47F8-A72F-4BE0AF9A3CFB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Securite : HTTPS + Ingress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CC95C27-BD03-3925-8556-6EC35FBAA35E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PDF section 3.4 et 3.5 - cert-manager genere automatiquement le cert TLS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5CD84E-72A4-9D16-22E9-796FB3449207}"/>
              </a:ext>
            </a:extLst>
          </p:cNvPr>
          <p:cNvSpPr/>
          <p:nvPr/>
        </p:nvSpPr>
        <p:spPr>
          <a:xfrm>
            <a:off x="762000" y="1397000"/>
            <a:ext cx="9144000" cy="5842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C54E822-B36B-D2E6-A0F1-304E9486000A}"/>
              </a:ext>
            </a:extLst>
          </p:cNvPr>
          <p:cNvSpPr txBox="1"/>
          <p:nvPr/>
        </p:nvSpPr>
        <p:spPr>
          <a:xfrm>
            <a:off x="1016000" y="1587500"/>
            <a:ext cx="8636000" cy="429348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   selfsigned-bootstrap (ClusterIssuer)
            |
            | signe
            v
   lottoti-ca (Certificate)               &lt;-- notre Autorite de Certification locale
            |
            | devient un
            v
   lottoti-ca-issuer (ClusterIssuer)
            |
            | signe
            v
   lottoti-tls (Certificate)              &lt;-- cert pour lottoti.local
            |
            | utilise par
            v
   Ingress (Traefik)                      &lt;-- termine TLS sur :443
            |
            | route HTTPS
            v
   Services backend / 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F5ED3C-59CA-CE7D-C41E-AEFF629326ED}"/>
              </a:ext>
            </a:extLst>
          </p:cNvPr>
          <p:cNvSpPr/>
          <p:nvPr/>
        </p:nvSpPr>
        <p:spPr>
          <a:xfrm>
            <a:off x="10160000" y="1397000"/>
            <a:ext cx="5334000" cy="5842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E346F8-BE9B-FCCB-1E86-4E510B7740F2}"/>
              </a:ext>
            </a:extLst>
          </p:cNvPr>
          <p:cNvSpPr/>
          <p:nvPr/>
        </p:nvSpPr>
        <p:spPr>
          <a:xfrm>
            <a:off x="10160000" y="1397000"/>
            <a:ext cx="5334000" cy="1016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7DAF2CB-FA10-4F68-3411-12CB041674E9}"/>
              </a:ext>
            </a:extLst>
          </p:cNvPr>
          <p:cNvSpPr txBox="1"/>
          <p:nvPr/>
        </p:nvSpPr>
        <p:spPr>
          <a:xfrm>
            <a:off x="10414000" y="1651000"/>
            <a:ext cx="4826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9E2AF"/>
                </a:solidFill>
                <a:latin typeface="Segoe UI" panose="020B0502040204020203" pitchFamily="34" charset="0"/>
              </a:rPr>
              <a:t>Routes Ingress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A744B8D-E803-AE92-9D37-921E11F711F0}"/>
              </a:ext>
            </a:extLst>
          </p:cNvPr>
          <p:cNvSpPr txBox="1"/>
          <p:nvPr/>
        </p:nvSpPr>
        <p:spPr>
          <a:xfrm>
            <a:off x="10414000" y="2222500"/>
            <a:ext cx="177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89B4FA"/>
                </a:solidFill>
                <a:latin typeface="Consolas" panose="020B0609020204030204" pitchFamily="49" charset="0"/>
              </a:rPr>
              <a:t>/api/health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5200DB-2DA4-B9B2-1A97-05C2412F1FED}"/>
              </a:ext>
            </a:extLst>
          </p:cNvPr>
          <p:cNvSpPr txBox="1"/>
          <p:nvPr/>
        </p:nvSpPr>
        <p:spPr>
          <a:xfrm>
            <a:off x="12319000" y="2222500"/>
            <a:ext cx="127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Consolas" panose="020B0609020204030204" pitchFamily="49" charset="0"/>
              </a:rPr>
              <a:t>-&gt; backend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A6F64B9-D790-7D45-D085-89B66B7E77A1}"/>
              </a:ext>
            </a:extLst>
          </p:cNvPr>
          <p:cNvSpPr txBox="1"/>
          <p:nvPr/>
        </p:nvSpPr>
        <p:spPr>
          <a:xfrm>
            <a:off x="10414000" y="2501900"/>
            <a:ext cx="4826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ratelimit-health (1/s)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FAEE79B-379F-993A-931A-80446986EE04}"/>
              </a:ext>
            </a:extLst>
          </p:cNvPr>
          <p:cNvSpPr txBox="1"/>
          <p:nvPr/>
        </p:nvSpPr>
        <p:spPr>
          <a:xfrm>
            <a:off x="10414000" y="2984500"/>
            <a:ext cx="177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F38BA8"/>
                </a:solidFill>
                <a:latin typeface="Consolas" panose="020B0609020204030204" pitchFamily="49" charset="0"/>
              </a:rPr>
              <a:t>/api/auth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C21410-5F4A-6907-5222-81DF4063056D}"/>
              </a:ext>
            </a:extLst>
          </p:cNvPr>
          <p:cNvSpPr txBox="1"/>
          <p:nvPr/>
        </p:nvSpPr>
        <p:spPr>
          <a:xfrm>
            <a:off x="12319000" y="2984500"/>
            <a:ext cx="127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Consolas" panose="020B0609020204030204" pitchFamily="49" charset="0"/>
              </a:rPr>
              <a:t>-&gt; backend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E6E534E-B1AB-D0E8-6572-077CD6D11284}"/>
              </a:ext>
            </a:extLst>
          </p:cNvPr>
          <p:cNvSpPr txBox="1"/>
          <p:nvPr/>
        </p:nvSpPr>
        <p:spPr>
          <a:xfrm>
            <a:off x="10414000" y="3263900"/>
            <a:ext cx="4826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ratelimit-auth (5/s)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9FA6D80-90DB-6206-DA32-3D0CD070C909}"/>
              </a:ext>
            </a:extLst>
          </p:cNvPr>
          <p:cNvSpPr txBox="1"/>
          <p:nvPr/>
        </p:nvSpPr>
        <p:spPr>
          <a:xfrm>
            <a:off x="10414000" y="3746500"/>
            <a:ext cx="177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A6E3A1"/>
                </a:solidFill>
                <a:latin typeface="Consolas" panose="020B0609020204030204" pitchFamily="49" charset="0"/>
              </a:rPr>
              <a:t>/api/*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B4FF3B1-7549-CF68-A4AA-850998498654}"/>
              </a:ext>
            </a:extLst>
          </p:cNvPr>
          <p:cNvSpPr txBox="1"/>
          <p:nvPr/>
        </p:nvSpPr>
        <p:spPr>
          <a:xfrm>
            <a:off x="12319000" y="3746500"/>
            <a:ext cx="127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Consolas" panose="020B0609020204030204" pitchFamily="49" charset="0"/>
              </a:rPr>
              <a:t>-&gt; backend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BB807D6-44EB-B4D8-29F1-4A390FF1FEAE}"/>
              </a:ext>
            </a:extLst>
          </p:cNvPr>
          <p:cNvSpPr txBox="1"/>
          <p:nvPr/>
        </p:nvSpPr>
        <p:spPr>
          <a:xfrm>
            <a:off x="10414000" y="4025900"/>
            <a:ext cx="4826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ratelimit-api (30/s)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BB3F644-393A-56D3-3976-F7D3E52AFC7D}"/>
              </a:ext>
            </a:extLst>
          </p:cNvPr>
          <p:cNvSpPr txBox="1"/>
          <p:nvPr/>
        </p:nvSpPr>
        <p:spPr>
          <a:xfrm>
            <a:off x="10414000" y="4508500"/>
            <a:ext cx="177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Consolas" panose="020B0609020204030204" pitchFamily="49" charset="0"/>
              </a:rPr>
              <a:t>/socket.io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C19B15A-ECEC-5221-45CA-75703939C93C}"/>
              </a:ext>
            </a:extLst>
          </p:cNvPr>
          <p:cNvSpPr txBox="1"/>
          <p:nvPr/>
        </p:nvSpPr>
        <p:spPr>
          <a:xfrm>
            <a:off x="12319000" y="4508500"/>
            <a:ext cx="127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Consolas" panose="020B0609020204030204" pitchFamily="49" charset="0"/>
              </a:rPr>
              <a:t>-&gt; backend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DA17581-7A72-2740-1073-3BEFA7D78959}"/>
              </a:ext>
            </a:extLst>
          </p:cNvPr>
          <p:cNvSpPr txBox="1"/>
          <p:nvPr/>
        </p:nvSpPr>
        <p:spPr>
          <a:xfrm>
            <a:off x="10414000" y="4787900"/>
            <a:ext cx="4826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WebSocket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461846A-6529-6126-12A3-03460C86E1BD}"/>
              </a:ext>
            </a:extLst>
          </p:cNvPr>
          <p:cNvSpPr txBox="1"/>
          <p:nvPr/>
        </p:nvSpPr>
        <p:spPr>
          <a:xfrm>
            <a:off x="10414000" y="5270500"/>
            <a:ext cx="177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94E2D5"/>
                </a:solidFill>
                <a:latin typeface="Consolas" panose="020B0609020204030204" pitchFamily="49" charset="0"/>
              </a:rPr>
              <a:t>/*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C34D745-F9A2-8A4D-2F98-A4293DD7BC13}"/>
              </a:ext>
            </a:extLst>
          </p:cNvPr>
          <p:cNvSpPr txBox="1"/>
          <p:nvPr/>
        </p:nvSpPr>
        <p:spPr>
          <a:xfrm>
            <a:off x="12319000" y="5270500"/>
            <a:ext cx="127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Consolas" panose="020B0609020204030204" pitchFamily="49" charset="0"/>
              </a:rPr>
              <a:t>-&gt; frontend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94F9AD1-3C81-837B-FD4C-20537F80C448}"/>
              </a:ext>
            </a:extLst>
          </p:cNvPr>
          <p:cNvSpPr txBox="1"/>
          <p:nvPr/>
        </p:nvSpPr>
        <p:spPr>
          <a:xfrm>
            <a:off x="10414000" y="5549900"/>
            <a:ext cx="4826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Next.js SSR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BF95DAD-14F7-439C-2E8D-D2F51D834160}"/>
              </a:ext>
            </a:extLst>
          </p:cNvPr>
          <p:cNvSpPr txBox="1"/>
          <p:nvPr/>
        </p:nvSpPr>
        <p:spPr>
          <a:xfrm>
            <a:off x="10414000" y="6096000"/>
            <a:ext cx="482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Securite :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E8C7D24-9A62-D024-D280-AB3C3ED78720}"/>
              </a:ext>
            </a:extLst>
          </p:cNvPr>
          <p:cNvSpPr txBox="1"/>
          <p:nvPr/>
        </p:nvSpPr>
        <p:spPr>
          <a:xfrm>
            <a:off x="10414000" y="6375400"/>
            <a:ext cx="4826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Segoe UI" panose="020B0502040204020203" pitchFamily="34" charset="0"/>
              </a:rPr>
              <a:t>+ HTTP -&gt; HTTPS redirect 301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C8D2AD0-D294-7527-17DC-F069421D24A2}"/>
              </a:ext>
            </a:extLst>
          </p:cNvPr>
          <p:cNvSpPr txBox="1"/>
          <p:nvPr/>
        </p:nvSpPr>
        <p:spPr>
          <a:xfrm>
            <a:off x="10414000" y="6629400"/>
            <a:ext cx="4826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Segoe UI" panose="020B0502040204020203" pitchFamily="34" charset="0"/>
              </a:rPr>
              <a:t>+ HSTS, CSP, X-Frame-Options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CCFDB7-CC09-E095-A984-26171AE4684E}"/>
              </a:ext>
            </a:extLst>
          </p:cNvPr>
          <p:cNvSpPr txBox="1"/>
          <p:nvPr/>
        </p:nvSpPr>
        <p:spPr>
          <a:xfrm>
            <a:off x="10414000" y="6883400"/>
            <a:ext cx="4826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Segoe UI" panose="020B0502040204020203" pitchFamily="34" charset="0"/>
              </a:rPr>
              <a:t>+ Renouvelement auto 30j avant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E94DBB6-B985-78C8-5138-BC3DB7513BA4}"/>
              </a:ext>
            </a:extLst>
          </p:cNvPr>
          <p:cNvSpPr txBox="1"/>
          <p:nvPr/>
        </p:nvSpPr>
        <p:spPr>
          <a:xfrm>
            <a:off x="762000" y="7810500"/>
            <a:ext cx="14732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Demo live : https://lottoti.local:30443/ -&gt; Lottoit en HTTPS, cert signe par lottoti-ca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51EC087-82EA-9E9A-FF95-83B1508E6408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BB83D65-76DC-66D5-F05A-44CA976C729C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39741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C0235B-6029-6FE3-1857-4E09C3F28FF0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792B04-A3DC-5A12-BA2B-FD92AAFAC20C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47948F-2AE8-F342-D929-B984C4B78B95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Securite : NetworkPolicy zero-trust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DDBA0A-DC39-901A-B5AD-C7252D7FD6FF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Bonus 3 (+1 pt) - 8 policies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0A260A-4D55-2EA4-D588-531D3ECBA420}"/>
              </a:ext>
            </a:extLst>
          </p:cNvPr>
          <p:cNvSpPr txBox="1"/>
          <p:nvPr/>
        </p:nvSpPr>
        <p:spPr>
          <a:xfrm>
            <a:off x="762000" y="1397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Segoe UI" panose="020B0502040204020203" pitchFamily="34" charset="0"/>
              </a:rPr>
              <a:t>Approche : default-deny + allow explicite. Si un pod est compromis, il ne peut atteindre QUE ce qui est autorise.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222603-BC85-7A9A-B6D4-4297C216FE2A}"/>
              </a:ext>
            </a:extLst>
          </p:cNvPr>
          <p:cNvSpPr/>
          <p:nvPr/>
        </p:nvSpPr>
        <p:spPr>
          <a:xfrm>
            <a:off x="762000" y="2032000"/>
            <a:ext cx="14732000" cy="3556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25A121C-66BF-8EFE-FA8B-1B597D0E3699}"/>
              </a:ext>
            </a:extLst>
          </p:cNvPr>
          <p:cNvSpPr txBox="1"/>
          <p:nvPr/>
        </p:nvSpPr>
        <p:spPr>
          <a:xfrm>
            <a:off x="1016000" y="2222500"/>
            <a:ext cx="14224000" cy="229293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E3A1"/>
                </a:solidFill>
                <a:latin typeface="Consolas" panose="020B0609020204030204" pitchFamily="49" charset="0"/>
              </a:rPr>
              <a:t>                                            DESTINATION
                |  postgres  |   redis   |  backend  | frontend  | DNS  | Internet
   ============================================================================
   frontend     |   BLOQUE   |  BLOQUE   |    OK     |    -      |  OK  |  HTTPS
   backend      |    OK 5432 |  OK 6379  |    -      |   BLOQUE  |  OK  |  HTTPS
   postgres     |    -       |  BLOQUE   |  BLOQUE   |   BLOQUE  |  OK  |  BLOQUE
   redis        |   BLOQUE   |    -      |  BLOQUE   |   BLOQUE  |  OK  |  BLOQUE
   traefik (ns) |   BLOQUE   |  BLOQUE   |   OK 5000 |   OK 3000 |  OK  |  -
      OK = trafic autorise par une NetworkPolicy
      BLOQUE = TCP REJECT (default-deny + pas de policy explicite)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DC4E44-767E-2E76-8C00-22A3E88E2BC5}"/>
              </a:ext>
            </a:extLst>
          </p:cNvPr>
          <p:cNvSpPr txBox="1"/>
          <p:nvPr/>
        </p:nvSpPr>
        <p:spPr>
          <a:xfrm>
            <a:off x="762000" y="5842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9E2AF"/>
                </a:solidFill>
                <a:latin typeface="Segoe UI" panose="020B0502040204020203" pitchFamily="34" charset="0"/>
              </a:rPr>
              <a:t>Tests d'enforcement (live) 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A34772-6405-21DC-0F16-07861A9925D5}"/>
              </a:ext>
            </a:extLst>
          </p:cNvPr>
          <p:cNvSpPr/>
          <p:nvPr/>
        </p:nvSpPr>
        <p:spPr>
          <a:xfrm>
            <a:off x="762000" y="6286500"/>
            <a:ext cx="14732000" cy="18415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A7D7762-7260-67BF-7652-F91E2926F52D}"/>
              </a:ext>
            </a:extLst>
          </p:cNvPr>
          <p:cNvSpPr txBox="1"/>
          <p:nvPr/>
        </p:nvSpPr>
        <p:spPr>
          <a:xfrm>
            <a:off x="1016000" y="6477000"/>
            <a:ext cx="14224000" cy="90794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E3A1"/>
                </a:solidFill>
                <a:latin typeface="Consolas" panose="020B0609020204030204" pitchFamily="49" charset="0"/>
              </a:rPr>
              <a:t>   frontend -&gt; postgres:5432   [BLOQUE - TCP REJECT]
   backend  -&gt; postgres:5432   [OK - Connection succeeded]
   default ns -&gt; backend:5000  [BLOQUE - Connection refused]
   frontend -&gt; redis:6379      [BLOQUE - NetworkPolicy zero-trust]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87290EB-6736-FEBD-2165-11FDED5C0D36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B521C39-F01A-8695-9631-A03DC9771CEB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11926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22E92-32E6-F7BC-1A7C-D50A173555AA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EEB5AB-2561-DB20-5C1D-B207992ED9BA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B16436E-3432-14C3-09B0-3821B23106B6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Persistance : PVC + StatefulSets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BCF74C-6FE7-EBF9-34D6-BEA1A267EBAD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PDF section 3.3 - donnees survivent aux redeploiements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92161EE-EA71-1FA2-09A4-926817CFF7D7}"/>
              </a:ext>
            </a:extLst>
          </p:cNvPr>
          <p:cNvSpPr txBox="1"/>
          <p:nvPr/>
        </p:nvSpPr>
        <p:spPr>
          <a:xfrm>
            <a:off x="762000" y="1397000"/>
            <a:ext cx="14732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>
                <a:solidFill>
                  <a:srgbClr val="FFFFFF"/>
                </a:solidFill>
                <a:latin typeface="Segoe UI" panose="020B0502040204020203" pitchFamily="34" charset="0"/>
              </a:rPr>
              <a:t>3 PersistentVolumeClaim provisionnes par Longhorn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F4010-308E-D32D-C1E2-7F2B17B3F055}"/>
              </a:ext>
            </a:extLst>
          </p:cNvPr>
          <p:cNvSpPr/>
          <p:nvPr/>
        </p:nvSpPr>
        <p:spPr>
          <a:xfrm>
            <a:off x="762000" y="2032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7032EC-5BE2-0ACE-B4DF-BBF138129ECD}"/>
              </a:ext>
            </a:extLst>
          </p:cNvPr>
          <p:cNvSpPr/>
          <p:nvPr/>
        </p:nvSpPr>
        <p:spPr>
          <a:xfrm>
            <a:off x="762000" y="2032000"/>
            <a:ext cx="76200" cy="635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ACBF49-2D1E-EDCB-39BC-B99664FCBEAD}"/>
              </a:ext>
            </a:extLst>
          </p:cNvPr>
          <p:cNvSpPr txBox="1"/>
          <p:nvPr/>
        </p:nvSpPr>
        <p:spPr>
          <a:xfrm>
            <a:off x="1143000" y="2197100"/>
            <a:ext cx="4064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CBA6F7"/>
                </a:solidFill>
                <a:latin typeface="Consolas" panose="020B0609020204030204" pitchFamily="49" charset="0"/>
              </a:rPr>
              <a:t>pgdata-postgres-0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FED46D7-DF85-C48A-9BDC-4F1E2305A72F}"/>
              </a:ext>
            </a:extLst>
          </p:cNvPr>
          <p:cNvSpPr txBox="1"/>
          <p:nvPr/>
        </p:nvSpPr>
        <p:spPr>
          <a:xfrm>
            <a:off x="5461000" y="2197100"/>
            <a:ext cx="12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5 Gi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866A240-ACBF-2A49-47EE-1C9A58F3EEBC}"/>
              </a:ext>
            </a:extLst>
          </p:cNvPr>
          <p:cNvSpPr txBox="1"/>
          <p:nvPr/>
        </p:nvSpPr>
        <p:spPr>
          <a:xfrm>
            <a:off x="7112000" y="2197100"/>
            <a:ext cx="101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9E2AF"/>
                </a:solidFill>
                <a:latin typeface="Segoe UI" panose="020B0502040204020203" pitchFamily="34" charset="0"/>
              </a:rPr>
              <a:t>RWO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C1E32F0-D941-D4BA-15FD-57ED00BC240C}"/>
              </a:ext>
            </a:extLst>
          </p:cNvPr>
          <p:cNvSpPr txBox="1"/>
          <p:nvPr/>
        </p:nvSpPr>
        <p:spPr>
          <a:xfrm>
            <a:off x="8382000" y="21971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Donnees Postgres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D29945-4EB1-167B-ADD2-43A22E760484}"/>
              </a:ext>
            </a:extLst>
          </p:cNvPr>
          <p:cNvSpPr/>
          <p:nvPr/>
        </p:nvSpPr>
        <p:spPr>
          <a:xfrm>
            <a:off x="762000" y="2921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A0A4CF-7188-D291-50B4-F33051480366}"/>
              </a:ext>
            </a:extLst>
          </p:cNvPr>
          <p:cNvSpPr/>
          <p:nvPr/>
        </p:nvSpPr>
        <p:spPr>
          <a:xfrm>
            <a:off x="762000" y="2921000"/>
            <a:ext cx="76200" cy="635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EE55C8-FC0B-C45E-24D7-76E6D8D456F8}"/>
              </a:ext>
            </a:extLst>
          </p:cNvPr>
          <p:cNvSpPr txBox="1"/>
          <p:nvPr/>
        </p:nvSpPr>
        <p:spPr>
          <a:xfrm>
            <a:off x="1143000" y="3086100"/>
            <a:ext cx="4064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F9E2AF"/>
                </a:solidFill>
                <a:latin typeface="Consolas" panose="020B0609020204030204" pitchFamily="49" charset="0"/>
              </a:rPr>
              <a:t>redisdata-redis-0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5CA2FAE-2E63-0BEF-43D3-038F4D77BAD0}"/>
              </a:ext>
            </a:extLst>
          </p:cNvPr>
          <p:cNvSpPr txBox="1"/>
          <p:nvPr/>
        </p:nvSpPr>
        <p:spPr>
          <a:xfrm>
            <a:off x="5461000" y="3086100"/>
            <a:ext cx="12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1 Gi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A8C4C36-C863-1DAC-E10E-C4848CC693E1}"/>
              </a:ext>
            </a:extLst>
          </p:cNvPr>
          <p:cNvSpPr txBox="1"/>
          <p:nvPr/>
        </p:nvSpPr>
        <p:spPr>
          <a:xfrm>
            <a:off x="7112000" y="3086100"/>
            <a:ext cx="101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9E2AF"/>
                </a:solidFill>
                <a:latin typeface="Segoe UI" panose="020B0502040204020203" pitchFamily="34" charset="0"/>
              </a:rPr>
              <a:t>RWO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9988301-E2AD-0722-1EA6-D1935981DBB9}"/>
              </a:ext>
            </a:extLst>
          </p:cNvPr>
          <p:cNvSpPr txBox="1"/>
          <p:nvPr/>
        </p:nvSpPr>
        <p:spPr>
          <a:xfrm>
            <a:off x="8382000" y="30861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AOF Redis (persistance)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C6888A-459F-5FBB-DB7D-9610E3699FA1}"/>
              </a:ext>
            </a:extLst>
          </p:cNvPr>
          <p:cNvSpPr/>
          <p:nvPr/>
        </p:nvSpPr>
        <p:spPr>
          <a:xfrm>
            <a:off x="762000" y="3810000"/>
            <a:ext cx="14732000" cy="635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8B298-7511-F4B4-88C6-5C965191F82D}"/>
              </a:ext>
            </a:extLst>
          </p:cNvPr>
          <p:cNvSpPr/>
          <p:nvPr/>
        </p:nvSpPr>
        <p:spPr>
          <a:xfrm>
            <a:off x="762000" y="3810000"/>
            <a:ext cx="76200" cy="635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D1712EA-C82F-790C-C1E7-F765590D641E}"/>
              </a:ext>
            </a:extLst>
          </p:cNvPr>
          <p:cNvSpPr txBox="1"/>
          <p:nvPr/>
        </p:nvSpPr>
        <p:spPr>
          <a:xfrm>
            <a:off x="1143000" y="3975100"/>
            <a:ext cx="4064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89B4FA"/>
                </a:solidFill>
                <a:latin typeface="Consolas" panose="020B0609020204030204" pitchFamily="49" charset="0"/>
              </a:rPr>
              <a:t>uploads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E518AFC-07E5-97E0-CAE9-A8C25B2E7A21}"/>
              </a:ext>
            </a:extLst>
          </p:cNvPr>
          <p:cNvSpPr txBox="1"/>
          <p:nvPr/>
        </p:nvSpPr>
        <p:spPr>
          <a:xfrm>
            <a:off x="5461000" y="3975100"/>
            <a:ext cx="12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FFFFFF"/>
                </a:solidFill>
                <a:latin typeface="Segoe UI" panose="020B0502040204020203" pitchFamily="34" charset="0"/>
              </a:rPr>
              <a:t>5 Gi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5596746-6081-48D8-39D8-9CE4211D583B}"/>
              </a:ext>
            </a:extLst>
          </p:cNvPr>
          <p:cNvSpPr txBox="1"/>
          <p:nvPr/>
        </p:nvSpPr>
        <p:spPr>
          <a:xfrm>
            <a:off x="7112000" y="3975100"/>
            <a:ext cx="1016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9E2AF"/>
                </a:solidFill>
                <a:latin typeface="Segoe UI" panose="020B0502040204020203" pitchFamily="34" charset="0"/>
              </a:rPr>
              <a:t>RWX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7A21AFB-AA36-8301-1796-BDAE86ABB679}"/>
              </a:ext>
            </a:extLst>
          </p:cNvPr>
          <p:cNvSpPr txBox="1"/>
          <p:nvPr/>
        </p:nvSpPr>
        <p:spPr>
          <a:xfrm>
            <a:off x="8382000" y="39751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A6ADC8"/>
                </a:solidFill>
                <a:latin typeface="Segoe UI" panose="020B0502040204020203" pitchFamily="34" charset="0"/>
              </a:rPr>
              <a:t>Photos uploadees (partage 2 backend)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5E1EB4-4E35-5515-EAD3-39487EF9ED12}"/>
              </a:ext>
            </a:extLst>
          </p:cNvPr>
          <p:cNvSpPr/>
          <p:nvPr/>
        </p:nvSpPr>
        <p:spPr>
          <a:xfrm>
            <a:off x="762000" y="4826000"/>
            <a:ext cx="14732000" cy="3175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4D24B33-093E-C25A-76F4-08B3A956F723}"/>
              </a:ext>
            </a:extLst>
          </p:cNvPr>
          <p:cNvSpPr txBox="1"/>
          <p:nvPr/>
        </p:nvSpPr>
        <p:spPr>
          <a:xfrm>
            <a:off x="1016000" y="5016500"/>
            <a:ext cx="13970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600" b="1">
                <a:solidFill>
                  <a:srgbClr val="A6E3A1"/>
                </a:solidFill>
                <a:latin typeface="Segoe UI" panose="020B0502040204020203" pitchFamily="34" charset="0"/>
              </a:rPr>
              <a:t>TEST LIVE : la donnee survit au kill du pod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9B16B69-3199-F26F-8E84-A3BF5B302123}"/>
              </a:ext>
            </a:extLst>
          </p:cNvPr>
          <p:cNvSpPr txBox="1"/>
          <p:nvPr/>
        </p:nvSpPr>
        <p:spPr>
          <a:xfrm>
            <a:off x="1016000" y="5397500"/>
            <a:ext cx="13970000" cy="169277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Consolas" panose="020B0609020204030204" pitchFamily="49" charset="0"/>
              </a:rPr>
              <a:t>1. INSERT INTO persistence_test (marker) VALUES ('proof_1777283282');
2. PVC pgdata-postgres-0 -&gt; volume = pvc-64fbba8e-fa93-49f7-aeed-03138a8a8abe
3. kubectl delete pod postgres-0 --grace-period=0 --force          [NUKE]
4. Pod recreate par le StatefulSet en ~13 secondes (memes labels, meme PVC)
5. SELECT * FROM persistence_test;  -&gt;  proof_1777283282 TOUJOURS LA
6. PVC volume = pvc-64fbba8e-fa93-49f7-aeed-03138a8a8abe   [IDENTIQUE]
   Verdict : la persistance fonctionne objectivement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EB9F310-CD21-7A33-C709-34A1CBDE10EC}"/>
              </a:ext>
            </a:extLst>
          </p:cNvPr>
          <p:cNvSpPr txBox="1"/>
          <p:nvPr/>
        </p:nvSpPr>
        <p:spPr>
          <a:xfrm>
            <a:off x="762000" y="8191500"/>
            <a:ext cx="14732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ADC8"/>
                </a:solidFill>
                <a:latin typeface="Segoe UI" panose="020B0502040204020203" pitchFamily="34" charset="0"/>
              </a:rPr>
              <a:t>(Voir capture 07-kill-db-persistence.png pour la sortie kubectl reelle)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BD2DC7C-3658-E65D-5378-D94A0067168B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095BE5C-E78C-BCCA-3FD9-47B39EC6BF89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98124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451C56-50DC-D929-19EB-C579A896BE0D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C5F80C-3124-2693-4F02-42041F7D7522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5F4C05-04C8-DF74-BB8F-CEEFE043E155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Haute Dispo : Replicas + Rolling Update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D5B376-2445-0A15-FC66-E986DF4461D0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pt-BR" sz="1400">
                <a:solidFill>
                  <a:srgbClr val="A6ADC8"/>
                </a:solidFill>
                <a:latin typeface="Segoe UI" panose="020B0502040204020203" pitchFamily="34" charset="0"/>
              </a:rPr>
              <a:t>Bonus 4 (+1 pt) - zero downtime</a:t>
            </a:r>
            <a:endParaRPr lang="fr-FR" sz="14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7E41E-1500-44BC-F4B8-8423A1BB7FE2}"/>
              </a:ext>
            </a:extLst>
          </p:cNvPr>
          <p:cNvSpPr/>
          <p:nvPr/>
        </p:nvSpPr>
        <p:spPr>
          <a:xfrm>
            <a:off x="762000" y="1397000"/>
            <a:ext cx="7366000" cy="342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DC389-9465-9196-54F8-A75D64EB780D}"/>
              </a:ext>
            </a:extLst>
          </p:cNvPr>
          <p:cNvSpPr/>
          <p:nvPr/>
        </p:nvSpPr>
        <p:spPr>
          <a:xfrm>
            <a:off x="762000" y="1397000"/>
            <a:ext cx="7366000" cy="1016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05F6707-83E0-7065-63CC-FFE5092BDC52}"/>
              </a:ext>
            </a:extLst>
          </p:cNvPr>
          <p:cNvSpPr txBox="1"/>
          <p:nvPr/>
        </p:nvSpPr>
        <p:spPr>
          <a:xfrm>
            <a:off x="1016000" y="1651000"/>
            <a:ext cx="6858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A6E3A1"/>
                </a:solidFill>
                <a:latin typeface="Segoe UI" panose="020B0502040204020203" pitchFamily="34" charset="0"/>
              </a:rPr>
              <a:t>Replicas (PDF section 3.2.4)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DBF028F-A7FE-9DCE-4193-87AFBA042F6A}"/>
              </a:ext>
            </a:extLst>
          </p:cNvPr>
          <p:cNvSpPr txBox="1"/>
          <p:nvPr/>
        </p:nvSpPr>
        <p:spPr>
          <a:xfrm>
            <a:off x="1016000" y="2222500"/>
            <a:ext cx="6858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Consolas" panose="020B0609020204030204" pitchFamily="49" charset="0"/>
              </a:rPr>
              <a:t>backend Deployment : replicas: 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218368-68FF-6081-508C-F7FA53DB22F8}"/>
              </a:ext>
            </a:extLst>
          </p:cNvPr>
          <p:cNvSpPr txBox="1"/>
          <p:nvPr/>
        </p:nvSpPr>
        <p:spPr>
          <a:xfrm>
            <a:off x="1016000" y="2603500"/>
            <a:ext cx="6858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FFFFFF"/>
                </a:solidFill>
                <a:latin typeface="Consolas" panose="020B0609020204030204" pitchFamily="49" charset="0"/>
              </a:rPr>
              <a:t>frontend Deployment : replicas: 3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19C8C3-EF8E-8084-5BFF-6BC6DD26805B}"/>
              </a:ext>
            </a:extLst>
          </p:cNvPr>
          <p:cNvSpPr txBox="1"/>
          <p:nvPr/>
        </p:nvSpPr>
        <p:spPr>
          <a:xfrm>
            <a:off x="1016000" y="31115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PodAntiAffinity : repartit sur les 3 nodes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41B0AA6-1670-E1A7-09D8-3FEE5708DBFA}"/>
              </a:ext>
            </a:extLst>
          </p:cNvPr>
          <p:cNvSpPr txBox="1"/>
          <p:nvPr/>
        </p:nvSpPr>
        <p:spPr>
          <a:xfrm>
            <a:off x="1016000" y="34290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9E2AF"/>
                </a:solidFill>
                <a:latin typeface="Segoe UI" panose="020B0502040204020203" pitchFamily="34" charset="0"/>
              </a:rPr>
              <a:t>PodDisruptionBudget : minAvailable=2 frontend, =1 backend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4A3BF56-A681-6477-EFAC-BE54693BFC8B}"/>
              </a:ext>
            </a:extLst>
          </p:cNvPr>
          <p:cNvSpPr txBox="1"/>
          <p:nvPr/>
        </p:nvSpPr>
        <p:spPr>
          <a:xfrm>
            <a:off x="1016000" y="4064000"/>
            <a:ext cx="6858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Resilience : si un node tombe, les autres prennent le relais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D69666-04E8-5FAB-EE68-B3931B01A268}"/>
              </a:ext>
            </a:extLst>
          </p:cNvPr>
          <p:cNvSpPr/>
          <p:nvPr/>
        </p:nvSpPr>
        <p:spPr>
          <a:xfrm>
            <a:off x="8382000" y="1397000"/>
            <a:ext cx="7112000" cy="342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F0DD22-84DD-FC83-6448-4E8A0FECED41}"/>
              </a:ext>
            </a:extLst>
          </p:cNvPr>
          <p:cNvSpPr/>
          <p:nvPr/>
        </p:nvSpPr>
        <p:spPr>
          <a:xfrm>
            <a:off x="8382000" y="1397000"/>
            <a:ext cx="7112000" cy="101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B40828A-9885-F817-AB41-1FB1FBD2AB19}"/>
              </a:ext>
            </a:extLst>
          </p:cNvPr>
          <p:cNvSpPr txBox="1"/>
          <p:nvPr/>
        </p:nvSpPr>
        <p:spPr>
          <a:xfrm>
            <a:off x="8636000" y="1651000"/>
            <a:ext cx="6604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CBA6F7"/>
                </a:solidFill>
                <a:latin typeface="Segoe UI" panose="020B0502040204020203" pitchFamily="34" charset="0"/>
              </a:rPr>
              <a:t>Rolling Update strategy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3D1F4B7-5111-88A4-E2FE-7FA810C0C6AA}"/>
              </a:ext>
            </a:extLst>
          </p:cNvPr>
          <p:cNvSpPr txBox="1"/>
          <p:nvPr/>
        </p:nvSpPr>
        <p:spPr>
          <a:xfrm>
            <a:off x="8636000" y="2159000"/>
            <a:ext cx="6604000" cy="9694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A6E3A1"/>
                </a:solidFill>
                <a:latin typeface="Consolas" panose="020B0609020204030204" pitchFamily="49" charset="0"/>
              </a:rPr>
              <a:t>strategy:
  type: RollingUpdate
  rollingUpdate:
    maxSurge: 1          # +1 pod en plus
    maxUnavailable: 0    # JAMAIS moins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AD6B3FA-387D-035D-8248-E8F80E42E339}"/>
              </a:ext>
            </a:extLst>
          </p:cNvPr>
          <p:cNvSpPr txBox="1"/>
          <p:nvPr/>
        </p:nvSpPr>
        <p:spPr>
          <a:xfrm>
            <a:off x="8636000" y="4064000"/>
            <a:ext cx="660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= Toujours &gt;= 3 frontend Ready durant la maj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3465F9F-AD8E-28B4-B811-3827FF31B409}"/>
              </a:ext>
            </a:extLst>
          </p:cNvPr>
          <p:cNvSpPr txBox="1"/>
          <p:nvPr/>
        </p:nvSpPr>
        <p:spPr>
          <a:xfrm>
            <a:off x="8636000" y="4381500"/>
            <a:ext cx="6604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= Service jamais down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FF97CDD-ADE1-0E90-8930-20AA812CE2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080000"/>
            <a:ext cx="14732000" cy="317500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954D1A1E-83B6-C803-EEDB-020541A4ACF3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0CBC672-9700-BD05-36AF-41205824B4F5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210197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273114-0063-52AF-0E74-13E1A185305E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E65C6D-D518-B108-9CA3-6BB005C6E119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AC828E-42B2-0E1F-2796-1495D54873A2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Haute Dispo : HPA + auto-healing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9A390A-E548-A2A5-47BE-E9CF19BB04BA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Bonus 5 (+1 pt) - autoscaling + recovery automatique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8A3621-7253-5B11-FA5B-65AEDE0B5118}"/>
              </a:ext>
            </a:extLst>
          </p:cNvPr>
          <p:cNvSpPr/>
          <p:nvPr/>
        </p:nvSpPr>
        <p:spPr>
          <a:xfrm>
            <a:off x="762000" y="1397000"/>
            <a:ext cx="7366000" cy="3048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69346-2FC2-D146-61C9-EE89C89148BA}"/>
              </a:ext>
            </a:extLst>
          </p:cNvPr>
          <p:cNvSpPr/>
          <p:nvPr/>
        </p:nvSpPr>
        <p:spPr>
          <a:xfrm>
            <a:off x="762000" y="1397000"/>
            <a:ext cx="7366000" cy="1016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1D6DE5A-8DCE-BEEA-773F-090546E307FF}"/>
              </a:ext>
            </a:extLst>
          </p:cNvPr>
          <p:cNvSpPr txBox="1"/>
          <p:nvPr/>
        </p:nvSpPr>
        <p:spPr>
          <a:xfrm>
            <a:off x="1016000" y="1651000"/>
            <a:ext cx="6858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89B4FA"/>
                </a:solidFill>
                <a:latin typeface="Segoe UI" panose="020B0502040204020203" pitchFamily="34" charset="0"/>
              </a:rPr>
              <a:t>HPA (HorizontalPodAutoscaler)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2F837F9-F99B-7B63-A7D9-03AB66618B12}"/>
              </a:ext>
            </a:extLst>
          </p:cNvPr>
          <p:cNvSpPr txBox="1"/>
          <p:nvPr/>
        </p:nvSpPr>
        <p:spPr>
          <a:xfrm>
            <a:off x="1016000" y="2095500"/>
            <a:ext cx="6858000" cy="189282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Consolas" panose="020B0609020204030204" pitchFamily="49" charset="0"/>
              </a:rPr>
              <a:t>backend HPA  : 2 -&gt; 8 replicas
frontend HPA : 3 -&gt; 10 replicas
Metriques :
  - CPU &gt; 70% -&gt; scale up
  - Memory &gt; 80% -&gt; scale up
Test live :
  -&gt; SuccessfulRescale 1 -&gt; 2</a:t>
            </a:r>
            <a:endParaRPr lang="fr-FR" sz="130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4B5AA0-B5E7-BB0D-C6F7-3F2AF1E73A5C}"/>
              </a:ext>
            </a:extLst>
          </p:cNvPr>
          <p:cNvSpPr/>
          <p:nvPr/>
        </p:nvSpPr>
        <p:spPr>
          <a:xfrm>
            <a:off x="8382000" y="1397000"/>
            <a:ext cx="7112000" cy="3048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05E7FD-9AF5-2BB2-CCF5-21632BAC1A9D}"/>
              </a:ext>
            </a:extLst>
          </p:cNvPr>
          <p:cNvSpPr/>
          <p:nvPr/>
        </p:nvSpPr>
        <p:spPr>
          <a:xfrm>
            <a:off x="8382000" y="1397000"/>
            <a:ext cx="7112000" cy="1016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EBB8CDA-8356-72CF-7CE0-DB1433BDA88F}"/>
              </a:ext>
            </a:extLst>
          </p:cNvPr>
          <p:cNvSpPr txBox="1"/>
          <p:nvPr/>
        </p:nvSpPr>
        <p:spPr>
          <a:xfrm>
            <a:off x="8636000" y="1651000"/>
            <a:ext cx="6604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FAB387"/>
                </a:solidFill>
                <a:latin typeface="Segoe UI" panose="020B0502040204020203" pitchFamily="34" charset="0"/>
              </a:rPr>
              <a:t>Auto-healing (kill pod recovery)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B3046C2-CF8C-B4B8-9D56-C59DD7A9D031}"/>
              </a:ext>
            </a:extLst>
          </p:cNvPr>
          <p:cNvSpPr txBox="1"/>
          <p:nvPr/>
        </p:nvSpPr>
        <p:spPr>
          <a:xfrm>
            <a:off x="8636000" y="2095500"/>
            <a:ext cx="6604000" cy="169277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Consolas" panose="020B0609020204030204" pitchFamily="49" charset="0"/>
              </a:rPr>
              <a:t>1. kubectl delete pod frontend-X --force
2. ReplicaSet detecte le manque (-1 vs spec)
3. Cree un nouveau pod automatiquement
4. ~8 secondes -&gt; nouveau pod Running
Pas d'intervention humaine.
Service jamais down (les 2 autres
pods continuent de servir).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8B5D9E0-B258-C728-8C26-CC9EBA7B4FA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699000"/>
            <a:ext cx="14732000" cy="355600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5722055F-AC17-42E9-DB43-5C090803D93D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35C150E-D508-6FB6-B768-D9AF66BB0D6F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64635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F7EDCA-1451-DDDE-1E62-B483CD635FE4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D510B5-9FE2-41AE-49E6-064CBF4904F5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47202C-9DD0-BC37-691E-01C3DFB61835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Bonus implementes (6 / +5 plafond)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0C14D16-8A50-6B9F-707F-37E6B4C72CF5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PDF section 4 - une marge prise pour la securite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44D38D-AED9-8FDD-84A5-EB679F04C4AA}"/>
              </a:ext>
            </a:extLst>
          </p:cNvPr>
          <p:cNvSpPr/>
          <p:nvPr/>
        </p:nvSpPr>
        <p:spPr>
          <a:xfrm>
            <a:off x="762000" y="1524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DBE593-0A47-BF02-762A-C997FE37AD33}"/>
              </a:ext>
            </a:extLst>
          </p:cNvPr>
          <p:cNvSpPr/>
          <p:nvPr/>
        </p:nvSpPr>
        <p:spPr>
          <a:xfrm>
            <a:off x="762000" y="1524000"/>
            <a:ext cx="76200" cy="8890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5D4E57D-A41F-D0A4-B914-9492DA73F367}"/>
              </a:ext>
            </a:extLst>
          </p:cNvPr>
          <p:cNvSpPr txBox="1"/>
          <p:nvPr/>
        </p:nvSpPr>
        <p:spPr>
          <a:xfrm>
            <a:off x="1016000" y="1752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A6E3A1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D6E3EA-09C9-56A1-B61D-DBDC956E7390}"/>
              </a:ext>
            </a:extLst>
          </p:cNvPr>
          <p:cNvSpPr txBox="1"/>
          <p:nvPr/>
        </p:nvSpPr>
        <p:spPr>
          <a:xfrm>
            <a:off x="2032000" y="1676400"/>
            <a:ext cx="8890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700" b="1">
                <a:solidFill>
                  <a:srgbClr val="FFFFFF"/>
                </a:solidFill>
                <a:latin typeface="Segoe UI" panose="020B0502040204020203" pitchFamily="34" charset="0"/>
              </a:rPr>
              <a:t>Resource Requests + Limits + QoS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710D1DF-2792-3A6C-F0B0-7411C21667FF}"/>
              </a:ext>
            </a:extLst>
          </p:cNvPr>
          <p:cNvSpPr txBox="1"/>
          <p:nvPr/>
        </p:nvSpPr>
        <p:spPr>
          <a:xfrm>
            <a:off x="2032000" y="2032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Burstable sur tous les pods - protege le cluster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691C76-A454-9845-B671-7127C6A1D176}"/>
              </a:ext>
            </a:extLst>
          </p:cNvPr>
          <p:cNvSpPr txBox="1"/>
          <p:nvPr/>
        </p:nvSpPr>
        <p:spPr>
          <a:xfrm>
            <a:off x="13716000" y="1803400"/>
            <a:ext cx="1016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b="1">
                <a:solidFill>
                  <a:srgbClr val="A6E3A1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353FC7-48F4-2A22-45A0-884FA9F4E416}"/>
              </a:ext>
            </a:extLst>
          </p:cNvPr>
          <p:cNvSpPr/>
          <p:nvPr/>
        </p:nvSpPr>
        <p:spPr>
          <a:xfrm>
            <a:off x="762000" y="2540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922395-97BE-AC6B-F6EB-8F56EFBDFACA}"/>
              </a:ext>
            </a:extLst>
          </p:cNvPr>
          <p:cNvSpPr/>
          <p:nvPr/>
        </p:nvSpPr>
        <p:spPr>
          <a:xfrm>
            <a:off x="762000" y="2540000"/>
            <a:ext cx="76200" cy="8890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37197BD-77BE-8FB0-DC04-52A630E5B80E}"/>
              </a:ext>
            </a:extLst>
          </p:cNvPr>
          <p:cNvSpPr txBox="1"/>
          <p:nvPr/>
        </p:nvSpPr>
        <p:spPr>
          <a:xfrm>
            <a:off x="1016000" y="2768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CBA6F7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44BA240-41D3-17C7-68FC-C4AA39EDE639}"/>
              </a:ext>
            </a:extLst>
          </p:cNvPr>
          <p:cNvSpPr txBox="1"/>
          <p:nvPr/>
        </p:nvSpPr>
        <p:spPr>
          <a:xfrm>
            <a:off x="2032000" y="2692400"/>
            <a:ext cx="8890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700" b="1">
                <a:solidFill>
                  <a:srgbClr val="FFFFFF"/>
                </a:solidFill>
                <a:latin typeface="Segoe UI" panose="020B0502040204020203" pitchFamily="34" charset="0"/>
              </a:rPr>
              <a:t>NetworkPolicy zero-trust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FD8AF44-A315-465F-C7A9-B1BF9DA4FE7B}"/>
              </a:ext>
            </a:extLst>
          </p:cNvPr>
          <p:cNvSpPr txBox="1"/>
          <p:nvPr/>
        </p:nvSpPr>
        <p:spPr>
          <a:xfrm>
            <a:off x="2032000" y="3048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A6ADC8"/>
                </a:solidFill>
                <a:latin typeface="Segoe UI" panose="020B0502040204020203" pitchFamily="34" charset="0"/>
              </a:rPr>
              <a:t>8 policies - default-deny + allow explicite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0461A02-50A6-D650-18FC-E2102C2CCDAB}"/>
              </a:ext>
            </a:extLst>
          </p:cNvPr>
          <p:cNvSpPr txBox="1"/>
          <p:nvPr/>
        </p:nvSpPr>
        <p:spPr>
          <a:xfrm>
            <a:off x="13716000" y="2819400"/>
            <a:ext cx="1016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E57148-66BB-6C27-1C2C-DFA3A302B47A}"/>
              </a:ext>
            </a:extLst>
          </p:cNvPr>
          <p:cNvSpPr/>
          <p:nvPr/>
        </p:nvSpPr>
        <p:spPr>
          <a:xfrm>
            <a:off x="762000" y="3556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932196-D2A3-00EE-3039-9F8877889C91}"/>
              </a:ext>
            </a:extLst>
          </p:cNvPr>
          <p:cNvSpPr/>
          <p:nvPr/>
        </p:nvSpPr>
        <p:spPr>
          <a:xfrm>
            <a:off x="762000" y="3556000"/>
            <a:ext cx="76200" cy="889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AFA3E11-0401-2B77-DA03-79DB1BA5BA83}"/>
              </a:ext>
            </a:extLst>
          </p:cNvPr>
          <p:cNvSpPr txBox="1"/>
          <p:nvPr/>
        </p:nvSpPr>
        <p:spPr>
          <a:xfrm>
            <a:off x="1016000" y="3784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20FECA4-4867-4F9A-0E83-1173F5C067A9}"/>
              </a:ext>
            </a:extLst>
          </p:cNvPr>
          <p:cNvSpPr txBox="1"/>
          <p:nvPr/>
        </p:nvSpPr>
        <p:spPr>
          <a:xfrm>
            <a:off x="2032000" y="3708400"/>
            <a:ext cx="8890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700" b="1">
                <a:solidFill>
                  <a:srgbClr val="FFFFFF"/>
                </a:solidFill>
                <a:latin typeface="Segoe UI" panose="020B0502040204020203" pitchFamily="34" charset="0"/>
              </a:rPr>
              <a:t>Rolling Update zero-downtime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B238C59-79E9-3E15-0640-5FF836DF99EE}"/>
              </a:ext>
            </a:extLst>
          </p:cNvPr>
          <p:cNvSpPr txBox="1"/>
          <p:nvPr/>
        </p:nvSpPr>
        <p:spPr>
          <a:xfrm>
            <a:off x="2032000" y="4064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maxSurge=1 maxUnavailable=0 - service jamais down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613B6FD-F818-60EE-DFB2-1067CEB17C61}"/>
              </a:ext>
            </a:extLst>
          </p:cNvPr>
          <p:cNvSpPr txBox="1"/>
          <p:nvPr/>
        </p:nvSpPr>
        <p:spPr>
          <a:xfrm>
            <a:off x="13716000" y="3835400"/>
            <a:ext cx="1016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b="1">
                <a:solidFill>
                  <a:srgbClr val="89B4FA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3BC38F-FFAC-B9AF-F14B-16C14DAE9B37}"/>
              </a:ext>
            </a:extLst>
          </p:cNvPr>
          <p:cNvSpPr/>
          <p:nvPr/>
        </p:nvSpPr>
        <p:spPr>
          <a:xfrm>
            <a:off x="762000" y="4572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74907C-0563-7182-517C-0DFA47E87813}"/>
              </a:ext>
            </a:extLst>
          </p:cNvPr>
          <p:cNvSpPr/>
          <p:nvPr/>
        </p:nvSpPr>
        <p:spPr>
          <a:xfrm>
            <a:off x="762000" y="4572000"/>
            <a:ext cx="76200" cy="889000"/>
          </a:xfrm>
          <a:prstGeom prst="rect">
            <a:avLst/>
          </a:prstGeom>
          <a:solidFill>
            <a:srgbClr val="F9E2A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AF18266-A6A7-EFE6-CD63-583974661286}"/>
              </a:ext>
            </a:extLst>
          </p:cNvPr>
          <p:cNvSpPr txBox="1"/>
          <p:nvPr/>
        </p:nvSpPr>
        <p:spPr>
          <a:xfrm>
            <a:off x="1016000" y="4800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F9E2A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3AFDA8F-535F-DE50-7DE7-4490F169D252}"/>
              </a:ext>
            </a:extLst>
          </p:cNvPr>
          <p:cNvSpPr txBox="1"/>
          <p:nvPr/>
        </p:nvSpPr>
        <p:spPr>
          <a:xfrm>
            <a:off x="2032000" y="4724400"/>
            <a:ext cx="8890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700" b="1">
                <a:solidFill>
                  <a:srgbClr val="FFFFFF"/>
                </a:solidFill>
                <a:latin typeface="Segoe UI" panose="020B0502040204020203" pitchFamily="34" charset="0"/>
              </a:rPr>
              <a:t>HPA autoscaling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B102FB1-7AC6-8634-8FD5-906229139F8C}"/>
              </a:ext>
            </a:extLst>
          </p:cNvPr>
          <p:cNvSpPr txBox="1"/>
          <p:nvPr/>
        </p:nvSpPr>
        <p:spPr>
          <a:xfrm>
            <a:off x="2032000" y="5080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300">
                <a:solidFill>
                  <a:srgbClr val="A6ADC8"/>
                </a:solidFill>
                <a:latin typeface="Segoe UI" panose="020B0502040204020203" pitchFamily="34" charset="0"/>
              </a:rPr>
              <a:t>2 -&gt; 8 (backend), 3 -&gt; 10 (frontend) - CPU + memory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70582EB-31B3-7BDB-22DD-3C4821A40A72}"/>
              </a:ext>
            </a:extLst>
          </p:cNvPr>
          <p:cNvSpPr txBox="1"/>
          <p:nvPr/>
        </p:nvSpPr>
        <p:spPr>
          <a:xfrm>
            <a:off x="13716000" y="4851400"/>
            <a:ext cx="1016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b="1">
                <a:solidFill>
                  <a:srgbClr val="F9E2AF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B0757C-81B6-B63C-B5A4-249327A92668}"/>
              </a:ext>
            </a:extLst>
          </p:cNvPr>
          <p:cNvSpPr/>
          <p:nvPr/>
        </p:nvSpPr>
        <p:spPr>
          <a:xfrm>
            <a:off x="762000" y="5588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13709C-4A05-1581-4F10-D5DCF079C554}"/>
              </a:ext>
            </a:extLst>
          </p:cNvPr>
          <p:cNvSpPr/>
          <p:nvPr/>
        </p:nvSpPr>
        <p:spPr>
          <a:xfrm>
            <a:off x="762000" y="5588000"/>
            <a:ext cx="76200" cy="889000"/>
          </a:xfrm>
          <a:prstGeom prst="rect">
            <a:avLst/>
          </a:prstGeom>
          <a:solidFill>
            <a:srgbClr val="FAB38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746E10B-1473-99FD-9F4E-231216781B2F}"/>
              </a:ext>
            </a:extLst>
          </p:cNvPr>
          <p:cNvSpPr txBox="1"/>
          <p:nvPr/>
        </p:nvSpPr>
        <p:spPr>
          <a:xfrm>
            <a:off x="1016000" y="5816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FAB387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3C56E76-CB2B-A292-F5D9-0CC46C130DCF}"/>
              </a:ext>
            </a:extLst>
          </p:cNvPr>
          <p:cNvSpPr txBox="1"/>
          <p:nvPr/>
        </p:nvSpPr>
        <p:spPr>
          <a:xfrm>
            <a:off x="2032000" y="5740400"/>
            <a:ext cx="8890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700" b="1">
                <a:solidFill>
                  <a:srgbClr val="FFFFFF"/>
                </a:solidFill>
                <a:latin typeface="Segoe UI" panose="020B0502040204020203" pitchFamily="34" charset="0"/>
              </a:rPr>
              <a:t>Rollback automatique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19EA00F-0F56-5114-94BE-921F9E1B9419}"/>
              </a:ext>
            </a:extLst>
          </p:cNvPr>
          <p:cNvSpPr txBox="1"/>
          <p:nvPr/>
        </p:nvSpPr>
        <p:spPr>
          <a:xfrm>
            <a:off x="2032000" y="6096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rollout undo - testes avec image cassee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0899D57-0866-E59B-7D48-54F328CE64BD}"/>
              </a:ext>
            </a:extLst>
          </p:cNvPr>
          <p:cNvSpPr txBox="1"/>
          <p:nvPr/>
        </p:nvSpPr>
        <p:spPr>
          <a:xfrm>
            <a:off x="13716000" y="5867400"/>
            <a:ext cx="1016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b="1">
                <a:solidFill>
                  <a:srgbClr val="FAB38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6E1BBC-753F-88FF-F4DA-9619E79DB507}"/>
              </a:ext>
            </a:extLst>
          </p:cNvPr>
          <p:cNvSpPr/>
          <p:nvPr/>
        </p:nvSpPr>
        <p:spPr>
          <a:xfrm>
            <a:off x="762000" y="6604000"/>
            <a:ext cx="14732000" cy="889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A3C9947-E490-77C7-ED04-0B2AA87233F6}"/>
              </a:ext>
            </a:extLst>
          </p:cNvPr>
          <p:cNvSpPr/>
          <p:nvPr/>
        </p:nvSpPr>
        <p:spPr>
          <a:xfrm>
            <a:off x="762000" y="6604000"/>
            <a:ext cx="76200" cy="889000"/>
          </a:xfrm>
          <a:prstGeom prst="rect">
            <a:avLst/>
          </a:prstGeom>
          <a:solidFill>
            <a:srgbClr val="F5C2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8E2BB67-69E5-DF86-73A1-220966E91BA3}"/>
              </a:ext>
            </a:extLst>
          </p:cNvPr>
          <p:cNvSpPr txBox="1"/>
          <p:nvPr/>
        </p:nvSpPr>
        <p:spPr>
          <a:xfrm>
            <a:off x="1016000" y="6832600"/>
            <a:ext cx="76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F5C2E7"/>
                </a:solidFill>
                <a:latin typeface="Segoe UI" panose="020B0502040204020203" pitchFamily="34" charset="0"/>
              </a:rPr>
              <a:t>8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0C77F409-6DF3-20BE-ECBB-6798DA199B67}"/>
              </a:ext>
            </a:extLst>
          </p:cNvPr>
          <p:cNvSpPr txBox="1"/>
          <p:nvPr/>
        </p:nvSpPr>
        <p:spPr>
          <a:xfrm>
            <a:off x="2032000" y="6756400"/>
            <a:ext cx="8890000" cy="3077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700" b="1">
                <a:solidFill>
                  <a:srgbClr val="FFFFFF"/>
                </a:solidFill>
                <a:latin typeface="Segoe UI" panose="020B0502040204020203" pitchFamily="34" charset="0"/>
              </a:rPr>
              <a:t>Helm Chart parametrable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B86EB3F9-8752-D3DB-1380-FD0BA5F13AEC}"/>
              </a:ext>
            </a:extLst>
          </p:cNvPr>
          <p:cNvSpPr txBox="1"/>
          <p:nvPr/>
        </p:nvSpPr>
        <p:spPr>
          <a:xfrm>
            <a:off x="2032000" y="7112000"/>
            <a:ext cx="10160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sv-SE" sz="1300">
                <a:solidFill>
                  <a:srgbClr val="A6ADC8"/>
                </a:solidFill>
                <a:latin typeface="Segoe UI" panose="020B0502040204020203" pitchFamily="34" charset="0"/>
              </a:rPr>
              <a:t>charts/lottoti/ - install + upgrade + rollback testes</a:t>
            </a:r>
            <a:endParaRPr lang="fr-FR" sz="1300">
              <a:solidFill>
                <a:srgbClr val="A6ADC8"/>
              </a:solidFill>
              <a:latin typeface="Segoe UI" panose="020B0502040204020203" pitchFamily="34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F1C16940-BE77-BA7E-6CE5-DCEE6FE8D472}"/>
              </a:ext>
            </a:extLst>
          </p:cNvPr>
          <p:cNvSpPr txBox="1"/>
          <p:nvPr/>
        </p:nvSpPr>
        <p:spPr>
          <a:xfrm>
            <a:off x="13716000" y="6883400"/>
            <a:ext cx="1016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b="1">
                <a:solidFill>
                  <a:srgbClr val="F5C2E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50D9A07-53D1-27C3-7941-1D539CF0B96C}"/>
              </a:ext>
            </a:extLst>
          </p:cNvPr>
          <p:cNvSpPr txBox="1"/>
          <p:nvPr/>
        </p:nvSpPr>
        <p:spPr>
          <a:xfrm>
            <a:off x="762000" y="7810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CBA6F7"/>
                </a:solidFill>
                <a:latin typeface="Segoe UI" panose="020B0502040204020203" pitchFamily="34" charset="0"/>
              </a:rPr>
              <a:t>6 bonus x +1 pt = +6 pts -&gt; plafonne a +5 pts par le sujet -&gt; resultat +5/5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031746D-EEBC-BF02-2BDA-1936070598BE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D26BDF3A-22F5-7367-2A2B-3228D3AB1380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2400763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E59707-94E8-C5AE-321A-9C9FC8519689}"/>
              </a:ext>
            </a:extLst>
          </p:cNvPr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A995DA-E4D6-B520-CF60-8263E48DBD05}"/>
              </a:ext>
            </a:extLst>
          </p:cNvPr>
          <p:cNvSpPr/>
          <p:nvPr/>
        </p:nvSpPr>
        <p:spPr>
          <a:xfrm>
            <a:off x="0" y="0"/>
            <a:ext cx="76200" cy="1016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F5B7661-BBA1-19B7-E50B-419E5CD9CFC2}"/>
              </a:ext>
            </a:extLst>
          </p:cNvPr>
          <p:cNvSpPr txBox="1"/>
          <p:nvPr/>
        </p:nvSpPr>
        <p:spPr>
          <a:xfrm>
            <a:off x="381000" y="203200"/>
            <a:ext cx="13970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2800" b="1">
                <a:solidFill>
                  <a:srgbClr val="89B4FA"/>
                </a:solidFill>
                <a:latin typeface="Segoe UI" panose="020B0502040204020203" pitchFamily="34" charset="0"/>
              </a:rPr>
              <a:t>Bilan bareme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923F722-596C-318E-5AA2-9588D86391F8}"/>
              </a:ext>
            </a:extLst>
          </p:cNvPr>
          <p:cNvSpPr txBox="1"/>
          <p:nvPr/>
        </p:nvSpPr>
        <p:spPr>
          <a:xfrm>
            <a:off x="381000" y="635000"/>
            <a:ext cx="13970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Mapping PDF section 5 - tous criteres valides objectivement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6D3802B-77AE-3550-4CB9-FA0ED88D6792}"/>
              </a:ext>
            </a:extLst>
          </p:cNvPr>
          <p:cNvSpPr txBox="1"/>
          <p:nvPr/>
        </p:nvSpPr>
        <p:spPr>
          <a:xfrm>
            <a:off x="762000" y="1270000"/>
            <a:ext cx="1016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89B4FA"/>
                </a:solidFill>
                <a:latin typeface="Segoe UI" panose="020B0502040204020203" pitchFamily="34" charset="0"/>
              </a:rPr>
              <a:t>BASE (15 / 15 pts)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ED22D-9FA0-7ED8-C839-B72B2A1F9FF0}"/>
              </a:ext>
            </a:extLst>
          </p:cNvPr>
          <p:cNvSpPr/>
          <p:nvPr/>
        </p:nvSpPr>
        <p:spPr>
          <a:xfrm>
            <a:off x="762000" y="17145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DE7539-C664-6E1F-C091-F7EB59F9DAF7}"/>
              </a:ext>
            </a:extLst>
          </p:cNvPr>
          <p:cNvSpPr/>
          <p:nvPr/>
        </p:nvSpPr>
        <p:spPr>
          <a:xfrm>
            <a:off x="762000" y="17145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E1E4786-F3C1-C020-431A-73419BE0F55C}"/>
              </a:ext>
            </a:extLst>
          </p:cNvPr>
          <p:cNvSpPr txBox="1"/>
          <p:nvPr/>
        </p:nvSpPr>
        <p:spPr>
          <a:xfrm>
            <a:off x="1016000" y="17907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9C06530-6DF7-BE7E-39C2-5DA8FDC55731}"/>
              </a:ext>
            </a:extLst>
          </p:cNvPr>
          <p:cNvSpPr txBox="1"/>
          <p:nvPr/>
        </p:nvSpPr>
        <p:spPr>
          <a:xfrm>
            <a:off x="1524000" y="17907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Cluster (1 master + 2 workers)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C24E21C-A589-71D8-75D6-FE69FB4CD372}"/>
              </a:ext>
            </a:extLst>
          </p:cNvPr>
          <p:cNvSpPr txBox="1"/>
          <p:nvPr/>
        </p:nvSpPr>
        <p:spPr>
          <a:xfrm>
            <a:off x="7620000" y="17907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34BB14A-D06F-06B1-D38A-7B2400EB1962}"/>
              </a:ext>
            </a:extLst>
          </p:cNvPr>
          <p:cNvSpPr txBox="1"/>
          <p:nvPr/>
        </p:nvSpPr>
        <p:spPr>
          <a:xfrm>
            <a:off x="8636000" y="17907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061FFF-5967-5680-243B-967816695674}"/>
              </a:ext>
            </a:extLst>
          </p:cNvPr>
          <p:cNvSpPr/>
          <p:nvPr/>
        </p:nvSpPr>
        <p:spPr>
          <a:xfrm>
            <a:off x="762000" y="21717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F38294-8229-503B-0D22-FFC86C51C315}"/>
              </a:ext>
            </a:extLst>
          </p:cNvPr>
          <p:cNvSpPr/>
          <p:nvPr/>
        </p:nvSpPr>
        <p:spPr>
          <a:xfrm>
            <a:off x="762000" y="21717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1889400-F4ED-BD1C-BFF2-165E0579202A}"/>
              </a:ext>
            </a:extLst>
          </p:cNvPr>
          <p:cNvSpPr txBox="1"/>
          <p:nvPr/>
        </p:nvSpPr>
        <p:spPr>
          <a:xfrm>
            <a:off x="1016000" y="22479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726E4FD-538E-B96E-3799-1EA370656AAF}"/>
              </a:ext>
            </a:extLst>
          </p:cNvPr>
          <p:cNvSpPr txBox="1"/>
          <p:nvPr/>
        </p:nvSpPr>
        <p:spPr>
          <a:xfrm>
            <a:off x="1524000" y="22479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Deploiement (front + back + DB)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25DDB8D-CBD2-1419-07DC-4CEDFB7B8197}"/>
              </a:ext>
            </a:extLst>
          </p:cNvPr>
          <p:cNvSpPr txBox="1"/>
          <p:nvPr/>
        </p:nvSpPr>
        <p:spPr>
          <a:xfrm>
            <a:off x="7620000" y="22479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5 pts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B74E296-CA71-A733-76BA-0F20E5D6B084}"/>
              </a:ext>
            </a:extLst>
          </p:cNvPr>
          <p:cNvSpPr txBox="1"/>
          <p:nvPr/>
        </p:nvSpPr>
        <p:spPr>
          <a:xfrm>
            <a:off x="8636000" y="22479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02 + 10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3AF63B-4C52-464D-622C-29CA4E16AFC0}"/>
              </a:ext>
            </a:extLst>
          </p:cNvPr>
          <p:cNvSpPr/>
          <p:nvPr/>
        </p:nvSpPr>
        <p:spPr>
          <a:xfrm>
            <a:off x="762000" y="26289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BDB52E-C3DF-092D-56FD-84406EA8ED60}"/>
              </a:ext>
            </a:extLst>
          </p:cNvPr>
          <p:cNvSpPr/>
          <p:nvPr/>
        </p:nvSpPr>
        <p:spPr>
          <a:xfrm>
            <a:off x="762000" y="26289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810AC76-4481-C6B8-C6BB-803D43C8FF76}"/>
              </a:ext>
            </a:extLst>
          </p:cNvPr>
          <p:cNvSpPr txBox="1"/>
          <p:nvPr/>
        </p:nvSpPr>
        <p:spPr>
          <a:xfrm>
            <a:off x="1016000" y="27051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14810EC-7B4D-B3AF-77F0-9ECC2F2561AA}"/>
              </a:ext>
            </a:extLst>
          </p:cNvPr>
          <p:cNvSpPr txBox="1"/>
          <p:nvPr/>
        </p:nvSpPr>
        <p:spPr>
          <a:xfrm>
            <a:off x="1524000" y="27051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Persistance (volumes survivent)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595C901-D77D-ADAB-CF2F-602299905F98}"/>
              </a:ext>
            </a:extLst>
          </p:cNvPr>
          <p:cNvSpPr txBox="1"/>
          <p:nvPr/>
        </p:nvSpPr>
        <p:spPr>
          <a:xfrm>
            <a:off x="7620000" y="27051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A552837-2684-3FC5-20DC-D2C9693A6A20}"/>
              </a:ext>
            </a:extLst>
          </p:cNvPr>
          <p:cNvSpPr txBox="1"/>
          <p:nvPr/>
        </p:nvSpPr>
        <p:spPr>
          <a:xfrm>
            <a:off x="8636000" y="27051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03 + 07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F9C11-C54F-9854-1FC9-CA2D9790D73D}"/>
              </a:ext>
            </a:extLst>
          </p:cNvPr>
          <p:cNvSpPr/>
          <p:nvPr/>
        </p:nvSpPr>
        <p:spPr>
          <a:xfrm>
            <a:off x="762000" y="30861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E56ADC-DBBB-DFDB-90C4-5887EB9551E6}"/>
              </a:ext>
            </a:extLst>
          </p:cNvPr>
          <p:cNvSpPr/>
          <p:nvPr/>
        </p:nvSpPr>
        <p:spPr>
          <a:xfrm>
            <a:off x="762000" y="30861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9F6D4D2-E142-7F20-7817-377DE80FA6A8}"/>
              </a:ext>
            </a:extLst>
          </p:cNvPr>
          <p:cNvSpPr txBox="1"/>
          <p:nvPr/>
        </p:nvSpPr>
        <p:spPr>
          <a:xfrm>
            <a:off x="1016000" y="31623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80D8616-7649-DD1C-F5BF-4C6EA23426E6}"/>
              </a:ext>
            </a:extLst>
          </p:cNvPr>
          <p:cNvSpPr txBox="1"/>
          <p:nvPr/>
        </p:nvSpPr>
        <p:spPr>
          <a:xfrm>
            <a:off x="1524000" y="31623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Securite (Secrets + HTTPS)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F1570D3-41D0-81E6-EDDF-CF5F19D0F841}"/>
              </a:ext>
            </a:extLst>
          </p:cNvPr>
          <p:cNvSpPr txBox="1"/>
          <p:nvPr/>
        </p:nvSpPr>
        <p:spPr>
          <a:xfrm>
            <a:off x="7620000" y="31623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92434E1-F58D-0731-C37E-BD8146AABA11}"/>
              </a:ext>
            </a:extLst>
          </p:cNvPr>
          <p:cNvSpPr txBox="1"/>
          <p:nvPr/>
        </p:nvSpPr>
        <p:spPr>
          <a:xfrm>
            <a:off x="8636000" y="31623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04 + 14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6733A7-6761-BACE-B617-771702A9CFDE}"/>
              </a:ext>
            </a:extLst>
          </p:cNvPr>
          <p:cNvSpPr/>
          <p:nvPr/>
        </p:nvSpPr>
        <p:spPr>
          <a:xfrm>
            <a:off x="762000" y="35433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59446C-BA14-7022-9E18-1CAE75DE4DD1}"/>
              </a:ext>
            </a:extLst>
          </p:cNvPr>
          <p:cNvSpPr/>
          <p:nvPr/>
        </p:nvSpPr>
        <p:spPr>
          <a:xfrm>
            <a:off x="762000" y="35433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1C1C716-1BCF-D6DC-6544-B1296AE4DE83}"/>
              </a:ext>
            </a:extLst>
          </p:cNvPr>
          <p:cNvSpPr txBox="1"/>
          <p:nvPr/>
        </p:nvSpPr>
        <p:spPr>
          <a:xfrm>
            <a:off x="1016000" y="36195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02534ED-67C1-C2AB-6419-1593B1DA567E}"/>
              </a:ext>
            </a:extLst>
          </p:cNvPr>
          <p:cNvSpPr txBox="1"/>
          <p:nvPr/>
        </p:nvSpPr>
        <p:spPr>
          <a:xfrm>
            <a:off x="1524000" y="36195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Exposition (Ingress + DNS)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979BCE3-C7FC-8718-721B-F7A1679F08F1}"/>
              </a:ext>
            </a:extLst>
          </p:cNvPr>
          <p:cNvSpPr txBox="1"/>
          <p:nvPr/>
        </p:nvSpPr>
        <p:spPr>
          <a:xfrm>
            <a:off x="7620000" y="36195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14F5FEFE-1BD7-710D-96BB-A22ADE23381B}"/>
              </a:ext>
            </a:extLst>
          </p:cNvPr>
          <p:cNvSpPr txBox="1"/>
          <p:nvPr/>
        </p:nvSpPr>
        <p:spPr>
          <a:xfrm>
            <a:off x="8636000" y="36195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04 + 10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2463A2-3C3F-8056-CFE1-C55C3C884E79}"/>
              </a:ext>
            </a:extLst>
          </p:cNvPr>
          <p:cNvSpPr/>
          <p:nvPr/>
        </p:nvSpPr>
        <p:spPr>
          <a:xfrm>
            <a:off x="762000" y="4000500"/>
            <a:ext cx="10160000" cy="4064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B7E148-816D-7C90-AA14-2BEF3F58AA83}"/>
              </a:ext>
            </a:extLst>
          </p:cNvPr>
          <p:cNvSpPr/>
          <p:nvPr/>
        </p:nvSpPr>
        <p:spPr>
          <a:xfrm>
            <a:off x="762000" y="4000500"/>
            <a:ext cx="50800" cy="406400"/>
          </a:xfrm>
          <a:prstGeom prst="rect">
            <a:avLst/>
          </a:prstGeom>
          <a:solidFill>
            <a:srgbClr val="A6E3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5FB493B4-224F-0E77-AE45-28190FB93C43}"/>
              </a:ext>
            </a:extLst>
          </p:cNvPr>
          <p:cNvSpPr txBox="1"/>
          <p:nvPr/>
        </p:nvSpPr>
        <p:spPr>
          <a:xfrm>
            <a:off x="1016000" y="4076700"/>
            <a:ext cx="381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400" b="1">
                <a:solidFill>
                  <a:srgbClr val="A6E3A1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2B0303E-F9F6-6227-C85F-2F21B42ED3AA}"/>
              </a:ext>
            </a:extLst>
          </p:cNvPr>
          <p:cNvSpPr txBox="1"/>
          <p:nvPr/>
        </p:nvSpPr>
        <p:spPr>
          <a:xfrm>
            <a:off x="1524000" y="4076700"/>
            <a:ext cx="596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>
                <a:solidFill>
                  <a:srgbClr val="FFFFFF"/>
                </a:solidFill>
                <a:latin typeface="Segoe UI" panose="020B0502040204020203" pitchFamily="34" charset="0"/>
              </a:rPr>
              <a:t>Documentation &amp; scripts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1BD6EA9-AA6C-5B38-ECD0-60704DEE9F55}"/>
              </a:ext>
            </a:extLst>
          </p:cNvPr>
          <p:cNvSpPr txBox="1"/>
          <p:nvPr/>
        </p:nvSpPr>
        <p:spPr>
          <a:xfrm>
            <a:off x="7620000" y="40767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F9E2AF"/>
                </a:solidFill>
                <a:latin typeface="Segoe UI" panose="020B0502040204020203" pitchFamily="34" charset="0"/>
              </a:rPr>
              <a:t>2 pts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D620060-34CD-9F37-5667-A87ACA5EBF74}"/>
              </a:ext>
            </a:extLst>
          </p:cNvPr>
          <p:cNvSpPr txBox="1"/>
          <p:nvPr/>
        </p:nvSpPr>
        <p:spPr>
          <a:xfrm>
            <a:off x="8636000" y="40767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16 captures + scripts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F2A89A9-3F07-E231-EC98-E493B5B0CA46}"/>
              </a:ext>
            </a:extLst>
          </p:cNvPr>
          <p:cNvSpPr txBox="1"/>
          <p:nvPr/>
        </p:nvSpPr>
        <p:spPr>
          <a:xfrm>
            <a:off x="762000" y="4635500"/>
            <a:ext cx="10160000" cy="32316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b="1">
                <a:solidFill>
                  <a:srgbClr val="CBA6F7"/>
                </a:solidFill>
                <a:latin typeface="Segoe UI" panose="020B0502040204020203" pitchFamily="34" charset="0"/>
              </a:rPr>
              <a:t>BONUS (+5 / +5 pts plafond)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39F252-5D3F-FF67-8254-93EB3E482AB5}"/>
              </a:ext>
            </a:extLst>
          </p:cNvPr>
          <p:cNvSpPr/>
          <p:nvPr/>
        </p:nvSpPr>
        <p:spPr>
          <a:xfrm>
            <a:off x="762000" y="50800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9F8EC1-BDBF-1CAF-0FB9-86393A88051D}"/>
              </a:ext>
            </a:extLst>
          </p:cNvPr>
          <p:cNvSpPr/>
          <p:nvPr/>
        </p:nvSpPr>
        <p:spPr>
          <a:xfrm>
            <a:off x="762000" y="50800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5AB53ED3-D8FA-EBB3-ABB0-42C05536C74A}"/>
              </a:ext>
            </a:extLst>
          </p:cNvPr>
          <p:cNvSpPr txBox="1"/>
          <p:nvPr/>
        </p:nvSpPr>
        <p:spPr>
          <a:xfrm>
            <a:off x="1016000" y="51308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00AC545-E9A8-BC42-C22F-45FF05E9293A}"/>
              </a:ext>
            </a:extLst>
          </p:cNvPr>
          <p:cNvSpPr txBox="1"/>
          <p:nvPr/>
        </p:nvSpPr>
        <p:spPr>
          <a:xfrm>
            <a:off x="1524000" y="51308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1 - Resource Limits + QoS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315D45A8-3243-BD5D-CD30-BD3D99A2C7BB}"/>
              </a:ext>
            </a:extLst>
          </p:cNvPr>
          <p:cNvSpPr txBox="1"/>
          <p:nvPr/>
        </p:nvSpPr>
        <p:spPr>
          <a:xfrm>
            <a:off x="7620000" y="51308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695996A-34D0-DC3D-9DA6-B0BCBC005F85}"/>
              </a:ext>
            </a:extLst>
          </p:cNvPr>
          <p:cNvSpPr txBox="1"/>
          <p:nvPr/>
        </p:nvSpPr>
        <p:spPr>
          <a:xfrm>
            <a:off x="8636000" y="51308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9BC0D71-1358-7488-44AB-20CD472D1DD3}"/>
              </a:ext>
            </a:extLst>
          </p:cNvPr>
          <p:cNvSpPr/>
          <p:nvPr/>
        </p:nvSpPr>
        <p:spPr>
          <a:xfrm>
            <a:off x="762000" y="54864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6231DD-83C7-010F-A656-AD418A1BD559}"/>
              </a:ext>
            </a:extLst>
          </p:cNvPr>
          <p:cNvSpPr/>
          <p:nvPr/>
        </p:nvSpPr>
        <p:spPr>
          <a:xfrm>
            <a:off x="762000" y="54864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121584E-C113-D9A0-6C13-7E6B9932A335}"/>
              </a:ext>
            </a:extLst>
          </p:cNvPr>
          <p:cNvSpPr txBox="1"/>
          <p:nvPr/>
        </p:nvSpPr>
        <p:spPr>
          <a:xfrm>
            <a:off x="1016000" y="55372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8686D96-2550-5546-CA58-C00930B0B306}"/>
              </a:ext>
            </a:extLst>
          </p:cNvPr>
          <p:cNvSpPr txBox="1"/>
          <p:nvPr/>
        </p:nvSpPr>
        <p:spPr>
          <a:xfrm>
            <a:off x="1524000" y="55372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3 - NetworkPolicy zero-trust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3A64848-7908-4142-C48D-C39E28539ACD}"/>
              </a:ext>
            </a:extLst>
          </p:cNvPr>
          <p:cNvSpPr txBox="1"/>
          <p:nvPr/>
        </p:nvSpPr>
        <p:spPr>
          <a:xfrm>
            <a:off x="7620000" y="55372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F7E2372-4C54-ECE9-938C-F76F9F5D7BB3}"/>
              </a:ext>
            </a:extLst>
          </p:cNvPr>
          <p:cNvSpPr txBox="1"/>
          <p:nvPr/>
        </p:nvSpPr>
        <p:spPr>
          <a:xfrm>
            <a:off x="8636000" y="55372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A5C563-9AF3-5D11-DD94-EC8D2C13AEDE}"/>
              </a:ext>
            </a:extLst>
          </p:cNvPr>
          <p:cNvSpPr/>
          <p:nvPr/>
        </p:nvSpPr>
        <p:spPr>
          <a:xfrm>
            <a:off x="762000" y="58928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DEF254-74F8-86A9-70CD-D0C616E9D1AE}"/>
              </a:ext>
            </a:extLst>
          </p:cNvPr>
          <p:cNvSpPr/>
          <p:nvPr/>
        </p:nvSpPr>
        <p:spPr>
          <a:xfrm>
            <a:off x="762000" y="58928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73E0CBE8-47FF-CEE4-C97B-B9BA703A677F}"/>
              </a:ext>
            </a:extLst>
          </p:cNvPr>
          <p:cNvSpPr txBox="1"/>
          <p:nvPr/>
        </p:nvSpPr>
        <p:spPr>
          <a:xfrm>
            <a:off x="1016000" y="59436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4C298424-697A-3998-3FE9-4152F5E0C408}"/>
              </a:ext>
            </a:extLst>
          </p:cNvPr>
          <p:cNvSpPr txBox="1"/>
          <p:nvPr/>
        </p:nvSpPr>
        <p:spPr>
          <a:xfrm>
            <a:off x="1524000" y="59436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Bonus 4 - Rolling Update zero-downtime</a:t>
            </a:r>
            <a:endParaRPr lang="fr-FR" sz="12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574EB3CF-47D7-EA7F-A1DF-1CD68AA06B63}"/>
              </a:ext>
            </a:extLst>
          </p:cNvPr>
          <p:cNvSpPr txBox="1"/>
          <p:nvPr/>
        </p:nvSpPr>
        <p:spPr>
          <a:xfrm>
            <a:off x="7620000" y="59436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345B158D-451D-D3DB-2518-92F70346E048}"/>
              </a:ext>
            </a:extLst>
          </p:cNvPr>
          <p:cNvSpPr txBox="1"/>
          <p:nvPr/>
        </p:nvSpPr>
        <p:spPr>
          <a:xfrm>
            <a:off x="8636000" y="59436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08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D2A90B6-66E3-2417-1803-95CE8E2DB905}"/>
              </a:ext>
            </a:extLst>
          </p:cNvPr>
          <p:cNvSpPr/>
          <p:nvPr/>
        </p:nvSpPr>
        <p:spPr>
          <a:xfrm>
            <a:off x="762000" y="62992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8D9A7CE-6A8B-06A5-373D-B473B2839AD9}"/>
              </a:ext>
            </a:extLst>
          </p:cNvPr>
          <p:cNvSpPr/>
          <p:nvPr/>
        </p:nvSpPr>
        <p:spPr>
          <a:xfrm>
            <a:off x="762000" y="62992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FF0E78EC-63CC-B6A8-A47F-BCFCF6E87A6E}"/>
              </a:ext>
            </a:extLst>
          </p:cNvPr>
          <p:cNvSpPr txBox="1"/>
          <p:nvPr/>
        </p:nvSpPr>
        <p:spPr>
          <a:xfrm>
            <a:off x="1016000" y="63500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ED09D5E1-219D-61F5-046C-D31B8370E463}"/>
              </a:ext>
            </a:extLst>
          </p:cNvPr>
          <p:cNvSpPr txBox="1"/>
          <p:nvPr/>
        </p:nvSpPr>
        <p:spPr>
          <a:xfrm>
            <a:off x="1524000" y="63500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5 - HPA Autoscaling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6ACF9D15-8499-04D1-C0FE-286736BDC2FE}"/>
              </a:ext>
            </a:extLst>
          </p:cNvPr>
          <p:cNvSpPr txBox="1"/>
          <p:nvPr/>
        </p:nvSpPr>
        <p:spPr>
          <a:xfrm>
            <a:off x="7620000" y="63500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78DC76EB-8BF5-29A7-F784-9CCDB0DBBB6A}"/>
              </a:ext>
            </a:extLst>
          </p:cNvPr>
          <p:cNvSpPr txBox="1"/>
          <p:nvPr/>
        </p:nvSpPr>
        <p:spPr>
          <a:xfrm>
            <a:off x="8636000" y="63500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559ACD4-D9EB-C7BD-9624-04F5ACA9B0C2}"/>
              </a:ext>
            </a:extLst>
          </p:cNvPr>
          <p:cNvSpPr/>
          <p:nvPr/>
        </p:nvSpPr>
        <p:spPr>
          <a:xfrm>
            <a:off x="762000" y="67056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BDB8371-F891-D630-C60A-A4741BB63115}"/>
              </a:ext>
            </a:extLst>
          </p:cNvPr>
          <p:cNvSpPr/>
          <p:nvPr/>
        </p:nvSpPr>
        <p:spPr>
          <a:xfrm>
            <a:off x="762000" y="67056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0FF02D14-7A98-854F-4F89-568A5875181A}"/>
              </a:ext>
            </a:extLst>
          </p:cNvPr>
          <p:cNvSpPr txBox="1"/>
          <p:nvPr/>
        </p:nvSpPr>
        <p:spPr>
          <a:xfrm>
            <a:off x="1016000" y="67564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F120D987-90B0-174A-B7CB-4210A7ECFCD3}"/>
              </a:ext>
            </a:extLst>
          </p:cNvPr>
          <p:cNvSpPr txBox="1"/>
          <p:nvPr/>
        </p:nvSpPr>
        <p:spPr>
          <a:xfrm>
            <a:off x="1524000" y="67564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7 - Rollback automatique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5DBB2FDF-EC17-3F8C-0B45-50AB4C5C2807}"/>
              </a:ext>
            </a:extLst>
          </p:cNvPr>
          <p:cNvSpPr txBox="1"/>
          <p:nvPr/>
        </p:nvSpPr>
        <p:spPr>
          <a:xfrm>
            <a:off x="7620000" y="67564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C2AC44A7-6008-BB4B-5B8A-25B9E6960730}"/>
              </a:ext>
            </a:extLst>
          </p:cNvPr>
          <p:cNvSpPr txBox="1"/>
          <p:nvPr/>
        </p:nvSpPr>
        <p:spPr>
          <a:xfrm>
            <a:off x="8636000" y="67564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09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6182C80-2DDC-A0CD-CAA2-39938ADF0807}"/>
              </a:ext>
            </a:extLst>
          </p:cNvPr>
          <p:cNvSpPr/>
          <p:nvPr/>
        </p:nvSpPr>
        <p:spPr>
          <a:xfrm>
            <a:off x="762000" y="7112000"/>
            <a:ext cx="10160000" cy="355600"/>
          </a:xfrm>
          <a:prstGeom prst="rect">
            <a:avLst/>
          </a:prstGeom>
          <a:solidFill>
            <a:srgbClr val="3132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4F0114E-D2A2-CAF0-AA69-81197E474806}"/>
              </a:ext>
            </a:extLst>
          </p:cNvPr>
          <p:cNvSpPr/>
          <p:nvPr/>
        </p:nvSpPr>
        <p:spPr>
          <a:xfrm>
            <a:off x="762000" y="7112000"/>
            <a:ext cx="50800" cy="3556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E2A40D0-A1D2-EBBA-3ACE-EDA88C842811}"/>
              </a:ext>
            </a:extLst>
          </p:cNvPr>
          <p:cNvSpPr txBox="1"/>
          <p:nvPr/>
        </p:nvSpPr>
        <p:spPr>
          <a:xfrm>
            <a:off x="1016000" y="7162800"/>
            <a:ext cx="38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OK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76BA5BC4-D25C-CC29-5869-EB2A759CF6AD}"/>
              </a:ext>
            </a:extLst>
          </p:cNvPr>
          <p:cNvSpPr txBox="1"/>
          <p:nvPr/>
        </p:nvSpPr>
        <p:spPr>
          <a:xfrm>
            <a:off x="1524000" y="7162800"/>
            <a:ext cx="5969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200">
                <a:solidFill>
                  <a:srgbClr val="FFFFFF"/>
                </a:solidFill>
                <a:latin typeface="Segoe UI" panose="020B0502040204020203" pitchFamily="34" charset="0"/>
              </a:rPr>
              <a:t>Bonus 8 - Helm Chart parametrable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2AE26B4D-3DB7-1119-0451-9BCD59E82307}"/>
              </a:ext>
            </a:extLst>
          </p:cNvPr>
          <p:cNvSpPr txBox="1"/>
          <p:nvPr/>
        </p:nvSpPr>
        <p:spPr>
          <a:xfrm>
            <a:off x="7620000" y="7162800"/>
            <a:ext cx="889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300" b="1">
                <a:solidFill>
                  <a:srgbClr val="CBA6F7"/>
                </a:solidFill>
                <a:latin typeface="Segoe UI" panose="020B0502040204020203" pitchFamily="34" charset="0"/>
              </a:rPr>
              <a:t>+1 pt</a:t>
            </a: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AE8D0B0E-D6AC-731E-1B08-ADFE6CDAF35D}"/>
              </a:ext>
            </a:extLst>
          </p:cNvPr>
          <p:cNvSpPr txBox="1"/>
          <p:nvPr/>
        </p:nvSpPr>
        <p:spPr>
          <a:xfrm>
            <a:off x="8636000" y="7162800"/>
            <a:ext cx="2159000" cy="21544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100">
                <a:solidFill>
                  <a:srgbClr val="A6ADC8"/>
                </a:solidFill>
                <a:latin typeface="Segoe UI" panose="020B0502040204020203" pitchFamily="34" charset="0"/>
              </a:rPr>
              <a:t>capture 13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14A3DEF-71E2-A90A-A86C-E33E5B3E3A26}"/>
              </a:ext>
            </a:extLst>
          </p:cNvPr>
          <p:cNvSpPr/>
          <p:nvPr/>
        </p:nvSpPr>
        <p:spPr>
          <a:xfrm>
            <a:off x="11303000" y="1270000"/>
            <a:ext cx="4191000" cy="6858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83B0A54-C371-C300-993B-4366C01F68A9}"/>
              </a:ext>
            </a:extLst>
          </p:cNvPr>
          <p:cNvSpPr/>
          <p:nvPr/>
        </p:nvSpPr>
        <p:spPr>
          <a:xfrm>
            <a:off x="11303000" y="1270000"/>
            <a:ext cx="4191000" cy="76200"/>
          </a:xfrm>
          <a:prstGeom prst="rect">
            <a:avLst/>
          </a:prstGeom>
          <a:solidFill>
            <a:srgbClr val="CBA6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8B23E15-6F3E-42A9-BAF6-C97C5F0C2C86}"/>
              </a:ext>
            </a:extLst>
          </p:cNvPr>
          <p:cNvSpPr txBox="1"/>
          <p:nvPr/>
        </p:nvSpPr>
        <p:spPr>
          <a:xfrm>
            <a:off x="11303000" y="1905000"/>
            <a:ext cx="4191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600">
                <a:solidFill>
                  <a:srgbClr val="A6ADC8"/>
                </a:solidFill>
                <a:latin typeface="Segoe UI" panose="020B0502040204020203" pitchFamily="34" charset="0"/>
              </a:rPr>
              <a:t>Total projete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DCF02A5F-0F4B-2BE3-9408-AB7436A7C7DD}"/>
              </a:ext>
            </a:extLst>
          </p:cNvPr>
          <p:cNvSpPr txBox="1"/>
          <p:nvPr/>
        </p:nvSpPr>
        <p:spPr>
          <a:xfrm>
            <a:off x="11303000" y="2540000"/>
            <a:ext cx="4191000" cy="3170099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0000" b="1">
                <a:solidFill>
                  <a:srgbClr val="CBA6F7"/>
                </a:solidFill>
                <a:latin typeface="Segoe UI" panose="020B0502040204020203" pitchFamily="34" charset="0"/>
              </a:rPr>
              <a:t>20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9DAF7265-4CE6-1F39-7DDB-DF70C9D4508A}"/>
              </a:ext>
            </a:extLst>
          </p:cNvPr>
          <p:cNvSpPr txBox="1"/>
          <p:nvPr/>
        </p:nvSpPr>
        <p:spPr>
          <a:xfrm>
            <a:off x="11303000" y="4826000"/>
            <a:ext cx="4191000" cy="60016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3600">
                <a:solidFill>
                  <a:srgbClr val="CBA6F7"/>
                </a:solidFill>
                <a:latin typeface="Segoe UI" panose="020B0502040204020203" pitchFamily="34" charset="0"/>
              </a:rPr>
              <a:t>/ 15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F39EEB2-5031-A3EF-35D8-149D98C44900}"/>
              </a:ext>
            </a:extLst>
          </p:cNvPr>
          <p:cNvSpPr txBox="1"/>
          <p:nvPr/>
        </p:nvSpPr>
        <p:spPr>
          <a:xfrm>
            <a:off x="11303000" y="5842000"/>
            <a:ext cx="4191000" cy="29238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600" b="1">
                <a:solidFill>
                  <a:srgbClr val="A6E3A1"/>
                </a:solidFill>
                <a:latin typeface="Segoe UI" panose="020B0502040204020203" pitchFamily="34" charset="0"/>
              </a:rPr>
              <a:t>15 base + 5 bonus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7BD4F3B9-7D97-9555-D496-AE5FBD1CDC02}"/>
              </a:ext>
            </a:extLst>
          </p:cNvPr>
          <p:cNvSpPr txBox="1"/>
          <p:nvPr/>
        </p:nvSpPr>
        <p:spPr>
          <a:xfrm>
            <a:off x="11303000" y="6350000"/>
            <a:ext cx="419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Tous les criteres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9F760F06-8D72-2B58-E617-DC07CD557E57}"/>
              </a:ext>
            </a:extLst>
          </p:cNvPr>
          <p:cNvSpPr txBox="1"/>
          <p:nvPr/>
        </p:nvSpPr>
        <p:spPr>
          <a:xfrm>
            <a:off x="11303000" y="6667500"/>
            <a:ext cx="4191000" cy="2462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300">
                <a:solidFill>
                  <a:srgbClr val="A6ADC8"/>
                </a:solidFill>
                <a:latin typeface="Segoe UI" panose="020B0502040204020203" pitchFamily="34" charset="0"/>
              </a:rPr>
              <a:t>valides objectivement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48146478-7C6C-C1AE-E0B7-F310D23DAD1F}"/>
              </a:ext>
            </a:extLst>
          </p:cNvPr>
          <p:cNvSpPr txBox="1"/>
          <p:nvPr/>
        </p:nvSpPr>
        <p:spPr>
          <a:xfrm>
            <a:off x="381000" y="8763000"/>
            <a:ext cx="1016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LottoTi - Clusterisation de container - ESGI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F9A611EE-6770-19F5-34B2-5E525144E878}"/>
              </a:ext>
            </a:extLst>
          </p:cNvPr>
          <p:cNvSpPr txBox="1"/>
          <p:nvPr/>
        </p:nvSpPr>
        <p:spPr>
          <a:xfrm>
            <a:off x="14605000" y="8763000"/>
            <a:ext cx="1270000" cy="20005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r"/>
            <a:r>
              <a:rPr lang="fr-FR" sz="1000">
                <a:solidFill>
                  <a:srgbClr val="6C7086"/>
                </a:solidFill>
                <a:latin typeface="Segoe UI" panose="020B0502040204020203" pitchFamily="34" charset="0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2550108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59E810-5918-F014-CB26-B1CBD947B188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1111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7F59DD-9204-8056-3AFA-E954552C92FD}"/>
              </a:ext>
            </a:extLst>
          </p:cNvPr>
          <p:cNvSpPr/>
          <p:nvPr/>
        </p:nvSpPr>
        <p:spPr>
          <a:xfrm>
            <a:off x="0" y="0"/>
            <a:ext cx="152400" cy="9144000"/>
          </a:xfrm>
          <a:prstGeom prst="rect">
            <a:avLst/>
          </a:prstGeom>
          <a:solidFill>
            <a:srgbClr val="89B4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F295AB-CA94-CED5-08FD-5BE2C338BC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0" y="1270000"/>
            <a:ext cx="1905000" cy="1905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F1C0A7B-74EA-D3CB-92A5-F67B1CB10D77}"/>
              </a:ext>
            </a:extLst>
          </p:cNvPr>
          <p:cNvSpPr txBox="1"/>
          <p:nvPr/>
        </p:nvSpPr>
        <p:spPr>
          <a:xfrm>
            <a:off x="762000" y="3556000"/>
            <a:ext cx="14732000" cy="147732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9000" b="1">
                <a:solidFill>
                  <a:srgbClr val="89B4FA"/>
                </a:solidFill>
                <a:latin typeface="Segoe UI" panose="020B0502040204020203" pitchFamily="34" charset="0"/>
              </a:rPr>
              <a:t>Merci !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7DD386F-9B2A-9991-BEB8-0F2AFEF23423}"/>
              </a:ext>
            </a:extLst>
          </p:cNvPr>
          <p:cNvSpPr txBox="1"/>
          <p:nvPr/>
        </p:nvSpPr>
        <p:spPr>
          <a:xfrm>
            <a:off x="762000" y="4826000"/>
            <a:ext cx="14732000" cy="47705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800">
                <a:solidFill>
                  <a:srgbClr val="FFFFFF"/>
                </a:solidFill>
                <a:latin typeface="Segoe UI" panose="020B0502040204020203" pitchFamily="34" charset="0"/>
              </a:rPr>
              <a:t>Questions / Demo live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D37488-B933-1797-DF5B-6F1847D0BB26}"/>
              </a:ext>
            </a:extLst>
          </p:cNvPr>
          <p:cNvSpPr txBox="1"/>
          <p:nvPr/>
        </p:nvSpPr>
        <p:spPr>
          <a:xfrm>
            <a:off x="762000" y="60960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Demo en direct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D5B35FB-6ED2-61D5-E939-4A605DC4FD78}"/>
              </a:ext>
            </a:extLst>
          </p:cNvPr>
          <p:cNvSpPr txBox="1"/>
          <p:nvPr/>
        </p:nvSpPr>
        <p:spPr>
          <a:xfrm>
            <a:off x="762000" y="6426200"/>
            <a:ext cx="14732000" cy="38472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2200" b="1">
                <a:solidFill>
                  <a:srgbClr val="A6E3A1"/>
                </a:solidFill>
                <a:latin typeface="Consolas" panose="020B0609020204030204" pitchFamily="49" charset="0"/>
              </a:rPr>
              <a:t>https://lottoti.local:30443/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5205AF5-2E83-8964-3F7A-4F6022654EBC}"/>
              </a:ext>
            </a:extLst>
          </p:cNvPr>
          <p:cNvSpPr txBox="1"/>
          <p:nvPr/>
        </p:nvSpPr>
        <p:spPr>
          <a:xfrm>
            <a:off x="762000" y="7048500"/>
            <a:ext cx="14732000" cy="2616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400">
                <a:solidFill>
                  <a:srgbClr val="A6ADC8"/>
                </a:solidFill>
                <a:latin typeface="Segoe UI" panose="020B0502040204020203" pitchFamily="34" charset="0"/>
              </a:rPr>
              <a:t>Repo + documentation : c:\cluster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63982A9-F530-B0CD-41C3-4BAB888022E0}"/>
              </a:ext>
            </a:extLst>
          </p:cNvPr>
          <p:cNvSpPr txBox="1"/>
          <p:nvPr/>
        </p:nvSpPr>
        <p:spPr>
          <a:xfrm>
            <a:off x="762000" y="8509000"/>
            <a:ext cx="14732000" cy="230832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pPr algn="ctr"/>
            <a:r>
              <a:rPr lang="fr-FR" sz="1200">
                <a:solidFill>
                  <a:srgbClr val="6C7086"/>
                </a:solidFill>
                <a:latin typeface="Segoe UI" panose="020B0502040204020203" pitchFamily="34" charset="0"/>
              </a:rPr>
              <a:t>LottoTi - ESGI - 2026</a:t>
            </a:r>
          </a:p>
        </p:txBody>
      </p:sp>
    </p:spTree>
    <p:extLst>
      <p:ext uri="{BB962C8B-B14F-4D97-AF65-F5344CB8AC3E}">
        <p14:creationId xmlns:p14="http://schemas.microsoft.com/office/powerpoint/2010/main" val="31434428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2305</Words>
  <Application>Microsoft Office PowerPoint</Application>
  <PresentationFormat>Personnalisé</PresentationFormat>
  <Paragraphs>325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NeuronesIT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Djellali Fouad</dc:creator>
  <cp:lastModifiedBy>Djellali Fouad</cp:lastModifiedBy>
  <cp:revision>1</cp:revision>
  <dcterms:created xsi:type="dcterms:W3CDTF">2026-05-01T20:11:48Z</dcterms:created>
  <dcterms:modified xsi:type="dcterms:W3CDTF">2026-05-01T20:11:48Z</dcterms:modified>
</cp:coreProperties>
</file>