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6256000" cy="9144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132B1-AC58-A295-8B04-191F21B8C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7A26AE-7A76-2075-78AD-E8888B5C9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2F8C0C-ECCA-84A2-BC27-3F3A0075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B3D29E-6443-F1D8-0B60-5FCCDECA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9249A8-BAE4-DF2E-13C7-F10087CF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12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A658C-0816-5739-8141-6119051D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9DA063-119F-5C79-8866-A81660A9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0CF4DF-3D2A-B7B9-9F79-241A6272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1DBECB-AAFA-50F7-46E2-429A4C5A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AD92D-5A9D-63A3-44D8-B3A652B4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96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094F9-4717-81C3-8AE0-776CC9D8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B95172-D907-8578-99D0-99CAA3A7B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312E3E-0A79-39D7-4359-9B8C2F5BF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6C7503-872C-942D-3B3E-A9E0B25C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AAAB04-49C3-B231-DDCC-5BC9F7AB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18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B361B7-B3B8-6725-81B4-3892ACD9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4318F7-5C4C-1FF8-626C-08AEB0A1A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7D2E4E-2B66-30BC-6CBB-DFC82D537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7C143E-025B-B9CE-FC74-41F96E0A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FBEE47-9CAC-F5FC-A915-4B2D346A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4A2EAC-9FBC-61D5-35FE-9994B354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28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FC651-2EB0-979A-0913-7D73CE65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1E3223-FEF2-2BA4-2F77-51DE4BE48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70B9B5-81F2-59E5-DCA5-FA6739A87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AE6D07-7BDE-1FA3-DB6C-D4334EFBF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58C585-29E6-F0DA-7997-CCCF6A1C6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1C5D1C-37B3-C8F6-1A55-E6A14878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7BF244-E725-E9CF-092C-0ACB22C7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489907F-765F-1D23-B1FE-88BFF3ED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18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22B95-F298-35F5-C54D-19DFDC8C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0E9D3E5-5429-06C1-48CD-EEF8DD3B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4210B3-2D59-7C06-5264-9DE2699F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1AB187-FAD1-9694-6C4F-294C6BF2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725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405359-256D-6BDB-3C79-2B580403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ECE212-9CF8-806D-BF12-9F7F90CA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F11A98-F486-ECA4-2E57-B94FEDE0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77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9F2AB-9DE6-C22E-7CD5-D3693095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DC2292-4B7E-90CC-90B8-F35AE271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AB03EE-120B-DCD7-600F-1C2D1A16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4D974B-CFDF-6619-9216-8CDE9269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090119-FCDA-53DC-FB2A-93ADBAA4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2F1AA3-1886-7C33-343B-D5CF862B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8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B6E8C-0A6C-44D1-373E-4EE35A07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43807B-1004-FC24-79C3-ED3407337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445779-FA89-9510-720F-EC42639BF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A03101-49B4-2960-26AF-2C9BB9B5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91AFA-FC20-CD25-FA31-3F16E01A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E2491B-EF56-1568-F3F4-C8F640D7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07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BAD2B-0D3A-19D0-5035-BF190511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8C14587-B9D9-FD7D-9914-2760F89DD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E6C1DF-CC17-EE02-5651-CB70B01A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634563-A7CA-9791-83C7-C6A25448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33E7A-9B60-37CB-94FA-6BDF1E24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73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EDAC6B-149A-0C5C-C9A9-4A3AB1C71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8EBBFDF-4C34-B697-0CB0-CD49E775E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6C520F-88C7-F56A-99AC-D166FEFD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C60369-B2C2-43F7-D0CC-DB2153A2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08DE8D-7101-EB32-742B-C0F099DD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96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876B14-94A1-C291-339E-DAF4A972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65F8E2-E67D-4E9D-F6A6-0AD2FF2C2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C5721F-6B9D-66DD-A0C1-3686AB70B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F0773-C6D6-432D-B9DC-6AEDC3C32600}" type="datetimeFigureOut">
              <a:rPr lang="fr-FR" smtClean="0"/>
              <a:t>30/04/2026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CF1444-9C6F-2B1B-7551-9E3B7D208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A9F7DD-122B-AF54-4E5D-28F88EB8C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70A35-D768-48CF-98C4-5A2B9C46C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68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C49CD-F949-4213-CB3E-71FE7C1B35C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26FB6-D340-45A2-4671-E3B7B6AC4BED}"/>
              </a:ext>
            </a:extLst>
          </p:cNvPr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DA7104-EB9D-58C5-FCF0-68EC764A92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270000"/>
            <a:ext cx="1905000" cy="1905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20036B1-67E8-C787-1739-F72D54D9AAD8}"/>
              </a:ext>
            </a:extLst>
          </p:cNvPr>
          <p:cNvSpPr txBox="1"/>
          <p:nvPr/>
        </p:nvSpPr>
        <p:spPr>
          <a:xfrm>
            <a:off x="3175000" y="1651000"/>
            <a:ext cx="10160000" cy="132343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8000" b="1">
                <a:solidFill>
                  <a:srgbClr val="89B4FA"/>
                </a:solidFill>
                <a:latin typeface="Segoe UI" panose="020B0502040204020203" pitchFamily="34" charset="0"/>
              </a:rPr>
              <a:t>LottoTi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FB5521-AA82-EC56-28D1-D2C37D72EF86}"/>
              </a:ext>
            </a:extLst>
          </p:cNvPr>
          <p:cNvSpPr txBox="1"/>
          <p:nvPr/>
        </p:nvSpPr>
        <p:spPr>
          <a:xfrm>
            <a:off x="3175000" y="2794000"/>
            <a:ext cx="11430000" cy="53860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3200">
                <a:solidFill>
                  <a:srgbClr val="FFFFFF"/>
                </a:solidFill>
                <a:latin typeface="Segoe UI" panose="020B0502040204020203" pitchFamily="34" charset="0"/>
              </a:rPr>
              <a:t>Clusterisation de container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9898888-D9F8-7B79-35D7-8F7BC2B96436}"/>
              </a:ext>
            </a:extLst>
          </p:cNvPr>
          <p:cNvSpPr txBox="1"/>
          <p:nvPr/>
        </p:nvSpPr>
        <p:spPr>
          <a:xfrm>
            <a:off x="3175000" y="3429000"/>
            <a:ext cx="1143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>
                <a:solidFill>
                  <a:srgbClr val="A6ADC8"/>
                </a:solidFill>
                <a:latin typeface="Segoe UI" panose="020B0502040204020203" pitchFamily="34" charset="0"/>
              </a:rPr>
              <a:t>Projet final ESGI - Vincent LAINE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793EF-B3FF-6C38-17F5-3EE60A6A9FE8}"/>
              </a:ext>
            </a:extLst>
          </p:cNvPr>
          <p:cNvSpPr/>
          <p:nvPr/>
        </p:nvSpPr>
        <p:spPr>
          <a:xfrm>
            <a:off x="1016000" y="4826000"/>
            <a:ext cx="4572000" cy="1143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A9EFF5-C4ED-344E-0813-8099A0ABA694}"/>
              </a:ext>
            </a:extLst>
          </p:cNvPr>
          <p:cNvSpPr txBox="1"/>
          <p:nvPr/>
        </p:nvSpPr>
        <p:spPr>
          <a:xfrm>
            <a:off x="1270000" y="4978400"/>
            <a:ext cx="406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Cluster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7DD36E-8B07-82C1-720D-9514FC31C2C0}"/>
              </a:ext>
            </a:extLst>
          </p:cNvPr>
          <p:cNvSpPr txBox="1"/>
          <p:nvPr/>
        </p:nvSpPr>
        <p:spPr>
          <a:xfrm>
            <a:off x="1270000" y="5207000"/>
            <a:ext cx="4064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1 master + 2 workers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3993D68-7B2F-1360-15BF-BF7E70A2E23B}"/>
              </a:ext>
            </a:extLst>
          </p:cNvPr>
          <p:cNvSpPr txBox="1"/>
          <p:nvPr/>
        </p:nvSpPr>
        <p:spPr>
          <a:xfrm>
            <a:off x="1270000" y="5588000"/>
            <a:ext cx="406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94E2D5"/>
                </a:solidFill>
                <a:latin typeface="Segoe UI" panose="020B0502040204020203" pitchFamily="34" charset="0"/>
              </a:rPr>
              <a:t>k3s v1.31.5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C3F04-8325-15CF-E532-AC419EF453F1}"/>
              </a:ext>
            </a:extLst>
          </p:cNvPr>
          <p:cNvSpPr/>
          <p:nvPr/>
        </p:nvSpPr>
        <p:spPr>
          <a:xfrm>
            <a:off x="5842000" y="4826000"/>
            <a:ext cx="4572000" cy="1143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25CD40E-3522-E5E6-15A7-5A02DC26D61A}"/>
              </a:ext>
            </a:extLst>
          </p:cNvPr>
          <p:cNvSpPr txBox="1"/>
          <p:nvPr/>
        </p:nvSpPr>
        <p:spPr>
          <a:xfrm>
            <a:off x="6096000" y="4978400"/>
            <a:ext cx="406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Replicas (aligne PDF)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BA63DA-D6CF-1736-FDE9-9AF5E1881183}"/>
              </a:ext>
            </a:extLst>
          </p:cNvPr>
          <p:cNvSpPr txBox="1"/>
          <p:nvPr/>
        </p:nvSpPr>
        <p:spPr>
          <a:xfrm>
            <a:off x="6096000" y="5207000"/>
            <a:ext cx="4064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2 backend + 3 frontend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F2AA502-5AC1-0591-204A-1B21D3FBA251}"/>
              </a:ext>
            </a:extLst>
          </p:cNvPr>
          <p:cNvSpPr txBox="1"/>
          <p:nvPr/>
        </p:nvSpPr>
        <p:spPr>
          <a:xfrm>
            <a:off x="6096000" y="5588000"/>
            <a:ext cx="406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94E2D5"/>
                </a:solidFill>
                <a:latin typeface="Segoe UI" panose="020B0502040204020203" pitchFamily="34" charset="0"/>
              </a:rPr>
              <a:t>Flask + Next.js + Postgres + Redis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70F644-DA33-7E59-FFD1-09D7935D5E05}"/>
              </a:ext>
            </a:extLst>
          </p:cNvPr>
          <p:cNvSpPr/>
          <p:nvPr/>
        </p:nvSpPr>
        <p:spPr>
          <a:xfrm>
            <a:off x="10668000" y="4826000"/>
            <a:ext cx="4572000" cy="1143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399DD76-2280-0D7C-FEAC-F4ACC28DF202}"/>
              </a:ext>
            </a:extLst>
          </p:cNvPr>
          <p:cNvSpPr txBox="1"/>
          <p:nvPr/>
        </p:nvSpPr>
        <p:spPr>
          <a:xfrm>
            <a:off x="10922000" y="4927600"/>
            <a:ext cx="406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Note projetee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A6FB317-530E-55C7-E3AE-80B048AF49FF}"/>
              </a:ext>
            </a:extLst>
          </p:cNvPr>
          <p:cNvSpPr txBox="1"/>
          <p:nvPr/>
        </p:nvSpPr>
        <p:spPr>
          <a:xfrm>
            <a:off x="10922000" y="5143500"/>
            <a:ext cx="4064000" cy="50783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3000" b="1">
                <a:solidFill>
                  <a:srgbClr val="CBA6F7"/>
                </a:solidFill>
                <a:latin typeface="Segoe UI" panose="020B0502040204020203" pitchFamily="34" charset="0"/>
              </a:rPr>
              <a:t>20 / 15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9354B4F-85DE-4C87-616D-C07B3153D6BA}"/>
              </a:ext>
            </a:extLst>
          </p:cNvPr>
          <p:cNvSpPr txBox="1"/>
          <p:nvPr/>
        </p:nvSpPr>
        <p:spPr>
          <a:xfrm>
            <a:off x="10922000" y="5651500"/>
            <a:ext cx="4064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94E2D5"/>
                </a:solidFill>
                <a:latin typeface="Segoe UI" panose="020B0502040204020203" pitchFamily="34" charset="0"/>
              </a:rPr>
              <a:t>15 base + 5 bonus - Tous criteres OK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0FB78E3-23CB-D02C-9725-397086DD4BAE}"/>
              </a:ext>
            </a:extLst>
          </p:cNvPr>
          <p:cNvSpPr txBox="1"/>
          <p:nvPr/>
        </p:nvSpPr>
        <p:spPr>
          <a:xfrm>
            <a:off x="1016000" y="83820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6C7086"/>
                </a:solidFill>
                <a:latin typeface="Segoe UI" panose="020B0502040204020203" pitchFamily="34" charset="0"/>
              </a:rPr>
              <a:t>Date : 30 avril 2026</a:t>
            </a:r>
          </a:p>
        </p:txBody>
      </p:sp>
    </p:spTree>
    <p:extLst>
      <p:ext uri="{BB962C8B-B14F-4D97-AF65-F5344CB8AC3E}">
        <p14:creationId xmlns:p14="http://schemas.microsoft.com/office/powerpoint/2010/main" val="87375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CCB18F-2EB4-E1A0-534D-A9A64BC44101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725E1-0FBE-B87A-381A-1C766FB3922E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56972B-C931-BCC5-8407-2608803335BE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Sommaire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A1C237-2BBA-BEE2-DC52-41A263B5EE01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Plan de la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667F4-692E-957E-7603-326FC60B50EF}"/>
              </a:ext>
            </a:extLst>
          </p:cNvPr>
          <p:cNvSpPr/>
          <p:nvPr/>
        </p:nvSpPr>
        <p:spPr>
          <a:xfrm>
            <a:off x="1016000" y="1524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25A8C-4549-1A6E-173F-60DDA7001DDE}"/>
              </a:ext>
            </a:extLst>
          </p:cNvPr>
          <p:cNvSpPr/>
          <p:nvPr/>
        </p:nvSpPr>
        <p:spPr>
          <a:xfrm>
            <a:off x="1016000" y="1524000"/>
            <a:ext cx="76200" cy="762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CD860D-89E6-2144-E194-BEF3E021864A}"/>
              </a:ext>
            </a:extLst>
          </p:cNvPr>
          <p:cNvSpPr txBox="1"/>
          <p:nvPr/>
        </p:nvSpPr>
        <p:spPr>
          <a:xfrm>
            <a:off x="1397000" y="1714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89B4FA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E8724E-19D6-9E47-D96C-70451C574F61}"/>
              </a:ext>
            </a:extLst>
          </p:cNvPr>
          <p:cNvSpPr txBox="1"/>
          <p:nvPr/>
        </p:nvSpPr>
        <p:spPr>
          <a:xfrm>
            <a:off x="2286000" y="1625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Introduction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524E640-66BF-F579-88BE-113AE452D58D}"/>
              </a:ext>
            </a:extLst>
          </p:cNvPr>
          <p:cNvSpPr txBox="1"/>
          <p:nvPr/>
        </p:nvSpPr>
        <p:spPr>
          <a:xfrm>
            <a:off x="2286000" y="1930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Contexte projet annuel + objectifs ESGI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C0A59-61D4-9C05-42E9-748097F6BE2C}"/>
              </a:ext>
            </a:extLst>
          </p:cNvPr>
          <p:cNvSpPr/>
          <p:nvPr/>
        </p:nvSpPr>
        <p:spPr>
          <a:xfrm>
            <a:off x="1016000" y="2540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6127B7-4AFF-33BB-1D12-A96AF0891233}"/>
              </a:ext>
            </a:extLst>
          </p:cNvPr>
          <p:cNvSpPr/>
          <p:nvPr/>
        </p:nvSpPr>
        <p:spPr>
          <a:xfrm>
            <a:off x="1016000" y="2540000"/>
            <a:ext cx="76200" cy="762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16BF9F8-F5B5-08FC-0BDB-83D1524501C3}"/>
              </a:ext>
            </a:extLst>
          </p:cNvPr>
          <p:cNvSpPr txBox="1"/>
          <p:nvPr/>
        </p:nvSpPr>
        <p:spPr>
          <a:xfrm>
            <a:off x="1397000" y="2730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CBA6F7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E04645-768F-7849-A280-428F5A783B2D}"/>
              </a:ext>
            </a:extLst>
          </p:cNvPr>
          <p:cNvSpPr txBox="1"/>
          <p:nvPr/>
        </p:nvSpPr>
        <p:spPr>
          <a:xfrm>
            <a:off x="2286000" y="2641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FEC093A-324E-FB7C-5D38-5BFFE5C81515}"/>
              </a:ext>
            </a:extLst>
          </p:cNvPr>
          <p:cNvSpPr txBox="1"/>
          <p:nvPr/>
        </p:nvSpPr>
        <p:spPr>
          <a:xfrm>
            <a:off x="2286000" y="2946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Stack LottoTi + topologie Kubernetes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4E7F17-E77D-E957-97F3-CEB8564FF0CF}"/>
              </a:ext>
            </a:extLst>
          </p:cNvPr>
          <p:cNvSpPr/>
          <p:nvPr/>
        </p:nvSpPr>
        <p:spPr>
          <a:xfrm>
            <a:off x="1016000" y="3556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3C0880-C09F-E45A-FDF6-DA381AF26541}"/>
              </a:ext>
            </a:extLst>
          </p:cNvPr>
          <p:cNvSpPr/>
          <p:nvPr/>
        </p:nvSpPr>
        <p:spPr>
          <a:xfrm>
            <a:off x="1016000" y="3556000"/>
            <a:ext cx="76200" cy="762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D116B7C-9F7A-B863-FBD4-C3C8521013CA}"/>
              </a:ext>
            </a:extLst>
          </p:cNvPr>
          <p:cNvSpPr txBox="1"/>
          <p:nvPr/>
        </p:nvSpPr>
        <p:spPr>
          <a:xfrm>
            <a:off x="1397000" y="3746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6B55FE-498C-63B9-370E-B1B278701C7F}"/>
              </a:ext>
            </a:extLst>
          </p:cNvPr>
          <p:cNvSpPr txBox="1"/>
          <p:nvPr/>
        </p:nvSpPr>
        <p:spPr>
          <a:xfrm>
            <a:off x="2286000" y="3657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Steps d'installation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FEF8123-0BF8-7BC1-BBD7-3DA2A02681FC}"/>
              </a:ext>
            </a:extLst>
          </p:cNvPr>
          <p:cNvSpPr txBox="1"/>
          <p:nvPr/>
        </p:nvSpPr>
        <p:spPr>
          <a:xfrm>
            <a:off x="2286000" y="3962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8 etapes scriptees pour reproduire le cluster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B4E3B-7768-E563-7F38-EC94C78E9F99}"/>
              </a:ext>
            </a:extLst>
          </p:cNvPr>
          <p:cNvSpPr/>
          <p:nvPr/>
        </p:nvSpPr>
        <p:spPr>
          <a:xfrm>
            <a:off x="1016000" y="4572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0AF4D-7BFD-A40E-F564-9B94A1BF43CC}"/>
              </a:ext>
            </a:extLst>
          </p:cNvPr>
          <p:cNvSpPr/>
          <p:nvPr/>
        </p:nvSpPr>
        <p:spPr>
          <a:xfrm>
            <a:off x="1016000" y="4572000"/>
            <a:ext cx="76200" cy="762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4D03FEF-AE3E-B6C6-76E5-A502DB0155FD}"/>
              </a:ext>
            </a:extLst>
          </p:cNvPr>
          <p:cNvSpPr txBox="1"/>
          <p:nvPr/>
        </p:nvSpPr>
        <p:spPr>
          <a:xfrm>
            <a:off x="1397000" y="4762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9E2A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528249F-777D-019F-5781-F7B5ABF1A86F}"/>
              </a:ext>
            </a:extLst>
          </p:cNvPr>
          <p:cNvSpPr txBox="1"/>
          <p:nvPr/>
        </p:nvSpPr>
        <p:spPr>
          <a:xfrm>
            <a:off x="2286000" y="4673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Demo live + preuves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ADBC8ED-0D02-4BD4-68AE-A5999BDCF311}"/>
              </a:ext>
            </a:extLst>
          </p:cNvPr>
          <p:cNvSpPr txBox="1"/>
          <p:nvPr/>
        </p:nvSpPr>
        <p:spPr>
          <a:xfrm>
            <a:off x="2286000" y="4978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12 captures live de la VRAIE app deployee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271579-F7AA-5131-3201-A089A9796233}"/>
              </a:ext>
            </a:extLst>
          </p:cNvPr>
          <p:cNvSpPr/>
          <p:nvPr/>
        </p:nvSpPr>
        <p:spPr>
          <a:xfrm>
            <a:off x="1016000" y="5588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6BCDC8-CD04-D246-7D9A-2801DE1F1417}"/>
              </a:ext>
            </a:extLst>
          </p:cNvPr>
          <p:cNvSpPr/>
          <p:nvPr/>
        </p:nvSpPr>
        <p:spPr>
          <a:xfrm>
            <a:off x="1016000" y="5588000"/>
            <a:ext cx="76200" cy="762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8248265-D6FD-21A3-FC54-003CC52A62E7}"/>
              </a:ext>
            </a:extLst>
          </p:cNvPr>
          <p:cNvSpPr txBox="1"/>
          <p:nvPr/>
        </p:nvSpPr>
        <p:spPr>
          <a:xfrm>
            <a:off x="1397000" y="5778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AB387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7970368-C717-1530-3122-FF0293C5FEDC}"/>
              </a:ext>
            </a:extLst>
          </p:cNvPr>
          <p:cNvSpPr txBox="1"/>
          <p:nvPr/>
        </p:nvSpPr>
        <p:spPr>
          <a:xfrm>
            <a:off x="2286000" y="5689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Bonus implementes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6520E12-F678-05BA-C765-8993B13A10AB}"/>
              </a:ext>
            </a:extLst>
          </p:cNvPr>
          <p:cNvSpPr txBox="1"/>
          <p:nvPr/>
        </p:nvSpPr>
        <p:spPr>
          <a:xfrm>
            <a:off x="2286000" y="5994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6 bonus = plafond +5 pts atteint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18C435-7B7B-01CE-C719-816A60281067}"/>
              </a:ext>
            </a:extLst>
          </p:cNvPr>
          <p:cNvSpPr/>
          <p:nvPr/>
        </p:nvSpPr>
        <p:spPr>
          <a:xfrm>
            <a:off x="1016000" y="6604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1D3C12-CB8E-3B65-24B0-3E4BC4B095CD}"/>
              </a:ext>
            </a:extLst>
          </p:cNvPr>
          <p:cNvSpPr/>
          <p:nvPr/>
        </p:nvSpPr>
        <p:spPr>
          <a:xfrm>
            <a:off x="1016000" y="6604000"/>
            <a:ext cx="76200" cy="762000"/>
          </a:xfrm>
          <a:prstGeom prst="rect">
            <a:avLst/>
          </a:prstGeom>
          <a:solidFill>
            <a:srgbClr val="F5C2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28C4713-3D4E-CFBD-A4F0-27CBDE54165A}"/>
              </a:ext>
            </a:extLst>
          </p:cNvPr>
          <p:cNvSpPr txBox="1"/>
          <p:nvPr/>
        </p:nvSpPr>
        <p:spPr>
          <a:xfrm>
            <a:off x="1397000" y="6794500"/>
            <a:ext cx="76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5C2E7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7997669-0EFD-D20F-98FD-AA60D4E56B85}"/>
              </a:ext>
            </a:extLst>
          </p:cNvPr>
          <p:cNvSpPr txBox="1"/>
          <p:nvPr/>
        </p:nvSpPr>
        <p:spPr>
          <a:xfrm>
            <a:off x="2286000" y="6705600"/>
            <a:ext cx="444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Bilan + Q&amp;A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FB78EAF-E592-B5CE-1B52-98A4E7BEB96B}"/>
              </a:ext>
            </a:extLst>
          </p:cNvPr>
          <p:cNvSpPr txBox="1"/>
          <p:nvPr/>
        </p:nvSpPr>
        <p:spPr>
          <a:xfrm>
            <a:off x="2286000" y="70104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Bareme detaille + comment reproduire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02F3F6D-0E22-0253-E4F3-820F316C9D07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C0EDA93-11DB-0039-7276-F493BBE4D82F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9700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B2271-17B0-E613-7BFD-53B88A62453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C58E4-2D00-0783-7DB9-CA54D070FF0F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177001-4D99-08A6-6427-272B0A2CD682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0DE129-9912-CA8D-7E21-EBF89C60AC0A}"/>
              </a:ext>
            </a:extLst>
          </p:cNvPr>
          <p:cNvSpPr txBox="1"/>
          <p:nvPr/>
        </p:nvSpPr>
        <p:spPr>
          <a:xfrm>
            <a:off x="4064000" y="3683000"/>
            <a:ext cx="10160000" cy="103105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6400" b="1">
                <a:solidFill>
                  <a:srgbClr val="11111B"/>
                </a:solidFill>
                <a:latin typeface="Segoe UI" panose="020B0502040204020203" pitchFamily="34" charset="0"/>
              </a:rPr>
              <a:t>Introduction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C4966EA-522D-E70A-B263-B6F0909E7CD3}"/>
              </a:ext>
            </a:extLst>
          </p:cNvPr>
          <p:cNvSpPr txBox="1"/>
          <p:nvPr/>
        </p:nvSpPr>
        <p:spPr>
          <a:xfrm>
            <a:off x="4064000" y="4826000"/>
            <a:ext cx="10160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Contexte projet annuel + objectifs ESGI</a:t>
            </a:r>
          </a:p>
        </p:txBody>
      </p:sp>
    </p:spTree>
    <p:extLst>
      <p:ext uri="{BB962C8B-B14F-4D97-AF65-F5344CB8AC3E}">
        <p14:creationId xmlns:p14="http://schemas.microsoft.com/office/powerpoint/2010/main" val="344272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550D5E-E22D-2DCF-9BEA-B73DDE95D6B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7B5896-E16E-4D88-5DE1-44F6525E5068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5C0944D-F714-240F-C92A-404BD8716196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Le projet annuel : LottoTi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07549F-7B4C-3393-3FB0-2E0F465E4407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01 - Introduction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0D4EBEB-6D07-4602-D5B2-338F356BE974}"/>
              </a:ext>
            </a:extLst>
          </p:cNvPr>
          <p:cNvSpPr txBox="1"/>
          <p:nvPr/>
        </p:nvSpPr>
        <p:spPr>
          <a:xfrm>
            <a:off x="762000" y="1397000"/>
            <a:ext cx="1473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FFFFFF"/>
                </a:solidFill>
                <a:latin typeface="Segoe UI" panose="020B0502040204020203" pitchFamily="34" charset="0"/>
              </a:rPr>
              <a:t>Plateforme de location de vehicules entre particuliers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87278-6F16-3E26-40F4-08034E32BB3A}"/>
              </a:ext>
            </a:extLst>
          </p:cNvPr>
          <p:cNvSpPr/>
          <p:nvPr/>
        </p:nvSpPr>
        <p:spPr>
          <a:xfrm>
            <a:off x="762000" y="2286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2F0D6-FE48-DB62-7C43-4B53678FB607}"/>
              </a:ext>
            </a:extLst>
          </p:cNvPr>
          <p:cNvSpPr/>
          <p:nvPr/>
        </p:nvSpPr>
        <p:spPr>
          <a:xfrm>
            <a:off x="762000" y="2286000"/>
            <a:ext cx="101600" cy="762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5DDC41-655C-9857-1704-0A24D7AE6146}"/>
              </a:ext>
            </a:extLst>
          </p:cNvPr>
          <p:cNvSpPr txBox="1"/>
          <p:nvPr/>
        </p:nvSpPr>
        <p:spPr>
          <a:xfrm>
            <a:off x="1143000" y="2387600"/>
            <a:ext cx="317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Frontend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C9E044-863A-B6ED-B22D-0A55E4A21705}"/>
              </a:ext>
            </a:extLst>
          </p:cNvPr>
          <p:cNvSpPr txBox="1"/>
          <p:nvPr/>
        </p:nvSpPr>
        <p:spPr>
          <a:xfrm>
            <a:off x="4445000" y="2463800"/>
            <a:ext cx="1079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Next.js 15 - React Server Components - Standalone</a:t>
            </a:r>
            <a:endParaRPr lang="fr-FR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E93EAA-9FB5-F6C8-014A-90D0C9D55BC8}"/>
              </a:ext>
            </a:extLst>
          </p:cNvPr>
          <p:cNvSpPr/>
          <p:nvPr/>
        </p:nvSpPr>
        <p:spPr>
          <a:xfrm>
            <a:off x="762000" y="3302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313967-59A2-1CC1-792B-5308FA3D23A6}"/>
              </a:ext>
            </a:extLst>
          </p:cNvPr>
          <p:cNvSpPr/>
          <p:nvPr/>
        </p:nvSpPr>
        <p:spPr>
          <a:xfrm>
            <a:off x="762000" y="3302000"/>
            <a:ext cx="101600" cy="762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6F0479-C8C0-2F7F-CEB7-33E863F26091}"/>
              </a:ext>
            </a:extLst>
          </p:cNvPr>
          <p:cNvSpPr txBox="1"/>
          <p:nvPr/>
        </p:nvSpPr>
        <p:spPr>
          <a:xfrm>
            <a:off x="1143000" y="3403600"/>
            <a:ext cx="317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A6E3A1"/>
                </a:solidFill>
                <a:latin typeface="Segoe UI" panose="020B0502040204020203" pitchFamily="34" charset="0"/>
              </a:rPr>
              <a:t>Backend API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3225A3-EAB1-FABC-AB9C-BFE40AA7E9CC}"/>
              </a:ext>
            </a:extLst>
          </p:cNvPr>
          <p:cNvSpPr txBox="1"/>
          <p:nvPr/>
        </p:nvSpPr>
        <p:spPr>
          <a:xfrm>
            <a:off x="4445000" y="3479800"/>
            <a:ext cx="1079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Flask + Gunicorn-gevent + Socket.IO + JWT auth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F15D41-3A44-F91C-78DF-1F08EA9C0150}"/>
              </a:ext>
            </a:extLst>
          </p:cNvPr>
          <p:cNvSpPr/>
          <p:nvPr/>
        </p:nvSpPr>
        <p:spPr>
          <a:xfrm>
            <a:off x="762000" y="4318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254FE-63C6-7E2A-1A22-A53F453DCB49}"/>
              </a:ext>
            </a:extLst>
          </p:cNvPr>
          <p:cNvSpPr/>
          <p:nvPr/>
        </p:nvSpPr>
        <p:spPr>
          <a:xfrm>
            <a:off x="762000" y="4318000"/>
            <a:ext cx="101600" cy="762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2824F5E-918F-3819-E7A0-C77CAFFB0C57}"/>
              </a:ext>
            </a:extLst>
          </p:cNvPr>
          <p:cNvSpPr txBox="1"/>
          <p:nvPr/>
        </p:nvSpPr>
        <p:spPr>
          <a:xfrm>
            <a:off x="1143000" y="4419600"/>
            <a:ext cx="317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Base de donnees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63D152-EA40-3FFC-A739-5618F087B22E}"/>
              </a:ext>
            </a:extLst>
          </p:cNvPr>
          <p:cNvSpPr txBox="1"/>
          <p:nvPr/>
        </p:nvSpPr>
        <p:spPr>
          <a:xfrm>
            <a:off x="4445000" y="4495800"/>
            <a:ext cx="1079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PostgreSQL 16 (location, users, vehicules, paiements)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8662D-1406-6E1B-75E1-B9544C5D2903}"/>
              </a:ext>
            </a:extLst>
          </p:cNvPr>
          <p:cNvSpPr/>
          <p:nvPr/>
        </p:nvSpPr>
        <p:spPr>
          <a:xfrm>
            <a:off x="762000" y="5334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02FF62-4CB9-9080-9EBB-606EDF3F878C}"/>
              </a:ext>
            </a:extLst>
          </p:cNvPr>
          <p:cNvSpPr/>
          <p:nvPr/>
        </p:nvSpPr>
        <p:spPr>
          <a:xfrm>
            <a:off x="762000" y="5334000"/>
            <a:ext cx="101600" cy="762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FF9947-6EC7-130B-790F-54CFCE9B597F}"/>
              </a:ext>
            </a:extLst>
          </p:cNvPr>
          <p:cNvSpPr txBox="1"/>
          <p:nvPr/>
        </p:nvSpPr>
        <p:spPr>
          <a:xfrm>
            <a:off x="1143000" y="5435600"/>
            <a:ext cx="3175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9E2AF"/>
                </a:solidFill>
                <a:latin typeface="Segoe UI" panose="020B0502040204020203" pitchFamily="34" charset="0"/>
              </a:rPr>
              <a:t>Cache + sessions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E1BCE23-2316-F1ED-A3F1-31B893CC5630}"/>
              </a:ext>
            </a:extLst>
          </p:cNvPr>
          <p:cNvSpPr txBox="1"/>
          <p:nvPr/>
        </p:nvSpPr>
        <p:spPr>
          <a:xfrm>
            <a:off x="4445000" y="5511800"/>
            <a:ext cx="1079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Redis 7 (rate limiting, Socket.IO pubsub, cache)</a:t>
            </a:r>
            <a:endParaRPr lang="fr-FR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4CB754E-8C2A-7659-8176-9C6713C10EB9}"/>
              </a:ext>
            </a:extLst>
          </p:cNvPr>
          <p:cNvSpPr txBox="1"/>
          <p:nvPr/>
        </p:nvSpPr>
        <p:spPr>
          <a:xfrm>
            <a:off x="762000" y="6731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Source : c:\LottoTi\ - deja conteneurise via docker-compose (5 services)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CC2F663-EF00-51FD-EEF2-4BB04AE7D0CF}"/>
              </a:ext>
            </a:extLst>
          </p:cNvPr>
          <p:cNvSpPr txBox="1"/>
          <p:nvPr/>
        </p:nvSpPr>
        <p:spPr>
          <a:xfrm>
            <a:off x="762000" y="7175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9E2AF"/>
                </a:solidFill>
                <a:latin typeface="Segoe UI" panose="020B0502040204020203" pitchFamily="34" charset="0"/>
              </a:rPr>
              <a:t>Mission ESGI : transposer cette stack vers Kubernetes pour HA + securite + persistance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EBF7F5B-9243-D93F-FB51-136464FC28DA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B3111BC-D944-6354-5437-0ABA31B265A7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49060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B4C14B-E8C5-3341-AE1C-2E703CC36016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AF8685-9955-C9C5-1577-3EC3B41E43A3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54839C-3C09-2D4D-525F-56ECAB398B96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Les 4 piliers exiges par le sujet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D2C784-303E-BDDD-BD74-DD4BAC9FBA25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01 - Introduction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064A41B-197E-1965-99E9-C40EEF7BE4EF}"/>
              </a:ext>
            </a:extLst>
          </p:cNvPr>
          <p:cNvSpPr txBox="1"/>
          <p:nvPr/>
        </p:nvSpPr>
        <p:spPr>
          <a:xfrm>
            <a:off x="762000" y="13970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PDF 'Projet final - Clusterisation de container' (Vincent LAINE) - section 1 page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47DD49-2534-9F21-65A8-D20A5773FFCF}"/>
              </a:ext>
            </a:extLst>
          </p:cNvPr>
          <p:cNvSpPr/>
          <p:nvPr/>
        </p:nvSpPr>
        <p:spPr>
          <a:xfrm>
            <a:off x="762000" y="2159000"/>
            <a:ext cx="14732000" cy="1397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0A594E-8F73-72A7-F14A-440837966C20}"/>
              </a:ext>
            </a:extLst>
          </p:cNvPr>
          <p:cNvSpPr/>
          <p:nvPr/>
        </p:nvSpPr>
        <p:spPr>
          <a:xfrm>
            <a:off x="762000" y="2159000"/>
            <a:ext cx="101600" cy="1397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648765C-8BA2-D8AB-D133-AE4B31B22291}"/>
              </a:ext>
            </a:extLst>
          </p:cNvPr>
          <p:cNvSpPr txBox="1"/>
          <p:nvPr/>
        </p:nvSpPr>
        <p:spPr>
          <a:xfrm>
            <a:off x="1143000" y="2476500"/>
            <a:ext cx="1016000" cy="78483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4800" b="1">
                <a:solidFill>
                  <a:srgbClr val="A6E3A1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CC72DD1-4043-FC56-4628-9C5FCFDEFD35}"/>
              </a:ext>
            </a:extLst>
          </p:cNvPr>
          <p:cNvSpPr txBox="1"/>
          <p:nvPr/>
        </p:nvSpPr>
        <p:spPr>
          <a:xfrm>
            <a:off x="2286000" y="2311400"/>
            <a:ext cx="7620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Haute disponibilite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70A5040-8C98-6F86-E9C5-C544AE1358E4}"/>
              </a:ext>
            </a:extLst>
          </p:cNvPr>
          <p:cNvSpPr txBox="1"/>
          <p:nvPr/>
        </p:nvSpPr>
        <p:spPr>
          <a:xfrm>
            <a:off x="2286000" y="2692400"/>
            <a:ext cx="1016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>
                <a:solidFill>
                  <a:srgbClr val="A6E3A1"/>
                </a:solidFill>
                <a:latin typeface="Segoe UI" panose="020B0502040204020203" pitchFamily="34" charset="0"/>
              </a:rPr>
              <a:t>Replicas, load balancing, scaling horizontal</a:t>
            </a:r>
            <a:endParaRPr lang="fr-FR" sz="1400">
              <a:solidFill>
                <a:srgbClr val="A6E3A1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9E195F0-7DD7-E722-4C91-34FCC877C735}"/>
              </a:ext>
            </a:extLst>
          </p:cNvPr>
          <p:cNvSpPr txBox="1"/>
          <p:nvPr/>
        </p:nvSpPr>
        <p:spPr>
          <a:xfrm>
            <a:off x="2286000" y="3048000"/>
            <a:ext cx="1244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Backend min 2 replicas, frontend min 3 replicas (PDF section 3.2.4)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554DD-306F-0E0D-0A87-8F68E64BB385}"/>
              </a:ext>
            </a:extLst>
          </p:cNvPr>
          <p:cNvSpPr/>
          <p:nvPr/>
        </p:nvSpPr>
        <p:spPr>
          <a:xfrm>
            <a:off x="762000" y="3810000"/>
            <a:ext cx="14732000" cy="1397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3321BB-E27E-CF26-C6C0-0D03BF40BFD0}"/>
              </a:ext>
            </a:extLst>
          </p:cNvPr>
          <p:cNvSpPr/>
          <p:nvPr/>
        </p:nvSpPr>
        <p:spPr>
          <a:xfrm>
            <a:off x="762000" y="3810000"/>
            <a:ext cx="101600" cy="1397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14D70C9-11AB-A2C2-C5C1-C15AA4EE92A2}"/>
              </a:ext>
            </a:extLst>
          </p:cNvPr>
          <p:cNvSpPr txBox="1"/>
          <p:nvPr/>
        </p:nvSpPr>
        <p:spPr>
          <a:xfrm>
            <a:off x="1143000" y="4127500"/>
            <a:ext cx="1016000" cy="78483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4800" b="1">
                <a:solidFill>
                  <a:srgbClr val="F9E2A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8277C7-602E-79AF-8CBD-652118C78F77}"/>
              </a:ext>
            </a:extLst>
          </p:cNvPr>
          <p:cNvSpPr txBox="1"/>
          <p:nvPr/>
        </p:nvSpPr>
        <p:spPr>
          <a:xfrm>
            <a:off x="2286000" y="3962400"/>
            <a:ext cx="7620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Securite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278C1D-029E-A75F-8CB6-A9F5DCDD0260}"/>
              </a:ext>
            </a:extLst>
          </p:cNvPr>
          <p:cNvSpPr txBox="1"/>
          <p:nvPr/>
        </p:nvSpPr>
        <p:spPr>
          <a:xfrm>
            <a:off x="2286000" y="4343400"/>
            <a:ext cx="1016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Secrets, HTTPS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260617F-7FB8-5989-60AD-C83974548DC4}"/>
              </a:ext>
            </a:extLst>
          </p:cNvPr>
          <p:cNvSpPr txBox="1"/>
          <p:nvPr/>
        </p:nvSpPr>
        <p:spPr>
          <a:xfrm>
            <a:off x="2286000" y="4699000"/>
            <a:ext cx="1244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Kubernetes Secrets + ConfigMaps + cert auto-signe ou Let's Encrypt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422838-7A05-16D6-D3B3-65E6A3BC193D}"/>
              </a:ext>
            </a:extLst>
          </p:cNvPr>
          <p:cNvSpPr/>
          <p:nvPr/>
        </p:nvSpPr>
        <p:spPr>
          <a:xfrm>
            <a:off x="762000" y="5461000"/>
            <a:ext cx="14732000" cy="1397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904EEA-EC2F-7FD2-3244-44124F1F042E}"/>
              </a:ext>
            </a:extLst>
          </p:cNvPr>
          <p:cNvSpPr/>
          <p:nvPr/>
        </p:nvSpPr>
        <p:spPr>
          <a:xfrm>
            <a:off x="762000" y="5461000"/>
            <a:ext cx="101600" cy="1397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B2CBEEE-C43C-FE46-4077-3FC8FADCB16A}"/>
              </a:ext>
            </a:extLst>
          </p:cNvPr>
          <p:cNvSpPr txBox="1"/>
          <p:nvPr/>
        </p:nvSpPr>
        <p:spPr>
          <a:xfrm>
            <a:off x="1143000" y="5778500"/>
            <a:ext cx="1016000" cy="78483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4800" b="1">
                <a:solidFill>
                  <a:srgbClr val="89B4FA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1BAD9D1-4ABE-B453-3F70-0437F57C018B}"/>
              </a:ext>
            </a:extLst>
          </p:cNvPr>
          <p:cNvSpPr txBox="1"/>
          <p:nvPr/>
        </p:nvSpPr>
        <p:spPr>
          <a:xfrm>
            <a:off x="2286000" y="5613400"/>
            <a:ext cx="7620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Persistance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7130CAB-E638-367D-C00A-220550C2F794}"/>
              </a:ext>
            </a:extLst>
          </p:cNvPr>
          <p:cNvSpPr txBox="1"/>
          <p:nvPr/>
        </p:nvSpPr>
        <p:spPr>
          <a:xfrm>
            <a:off x="2286000" y="5994400"/>
            <a:ext cx="1016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89B4FA"/>
                </a:solidFill>
                <a:latin typeface="Segoe UI" panose="020B0502040204020203" pitchFamily="34" charset="0"/>
              </a:rPr>
              <a:t>Volumes pour la DB, etc.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D935F73-198D-0839-7E7B-D6DBD4672189}"/>
              </a:ext>
            </a:extLst>
          </p:cNvPr>
          <p:cNvSpPr txBox="1"/>
          <p:nvPr/>
        </p:nvSpPr>
        <p:spPr>
          <a:xfrm>
            <a:off x="2286000" y="6350000"/>
            <a:ext cx="1244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PV/PVC k3s - donnees survivent au delete pod ou redeploiement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274BDA-8CB9-C509-CFF9-E4F90B9AFF71}"/>
              </a:ext>
            </a:extLst>
          </p:cNvPr>
          <p:cNvSpPr/>
          <p:nvPr/>
        </p:nvSpPr>
        <p:spPr>
          <a:xfrm>
            <a:off x="762000" y="7112000"/>
            <a:ext cx="14732000" cy="1397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08B89B-AB18-E696-7D96-E02DFCDA960E}"/>
              </a:ext>
            </a:extLst>
          </p:cNvPr>
          <p:cNvSpPr/>
          <p:nvPr/>
        </p:nvSpPr>
        <p:spPr>
          <a:xfrm>
            <a:off x="762000" y="7112000"/>
            <a:ext cx="101600" cy="1397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A2B0129-768A-A5D1-42D0-11764750745F}"/>
              </a:ext>
            </a:extLst>
          </p:cNvPr>
          <p:cNvSpPr txBox="1"/>
          <p:nvPr/>
        </p:nvSpPr>
        <p:spPr>
          <a:xfrm>
            <a:off x="1143000" y="7429500"/>
            <a:ext cx="1016000" cy="78483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4800" b="1">
                <a:solidFill>
                  <a:srgbClr val="CBA6F7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E06017F-4C9B-4BDA-FF56-0BF82DB0A7F2}"/>
              </a:ext>
            </a:extLst>
          </p:cNvPr>
          <p:cNvSpPr txBox="1"/>
          <p:nvPr/>
        </p:nvSpPr>
        <p:spPr>
          <a:xfrm>
            <a:off x="2286000" y="7264400"/>
            <a:ext cx="7620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  <a:latin typeface="Segoe UI" panose="020B0502040204020203" pitchFamily="34" charset="0"/>
              </a:rPr>
              <a:t>Documentation et manifest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97F14F8-D008-C66F-16B9-A21FC1E49823}"/>
              </a:ext>
            </a:extLst>
          </p:cNvPr>
          <p:cNvSpPr txBox="1"/>
          <p:nvPr/>
        </p:nvSpPr>
        <p:spPr>
          <a:xfrm>
            <a:off x="2286000" y="7645400"/>
            <a:ext cx="1016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CBA6F7"/>
                </a:solidFill>
                <a:latin typeface="Segoe UI" panose="020B0502040204020203" pitchFamily="34" charset="0"/>
              </a:rPr>
              <a:t>Scripts, YAML, etc.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0CBF920-752C-5CDD-0831-D316781399FC}"/>
              </a:ext>
            </a:extLst>
          </p:cNvPr>
          <p:cNvSpPr txBox="1"/>
          <p:nvPr/>
        </p:nvSpPr>
        <p:spPr>
          <a:xfrm>
            <a:off x="2286000" y="8001000"/>
            <a:ext cx="1244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Tutoriel reproductible + captures - le pred peut cloner et lancer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FB3D75D-39F3-343A-47A4-EF78C90A1929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87AA9F0-1ACE-3B37-BC19-913638CDFEF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58632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9FBDAE-9284-2988-D122-AA9363D235F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DAC860-6BAB-C812-9E85-FE6C699587E7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44BE49-5E56-E838-273A-DE8E2F2298B3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701E13-7076-37E0-CE1A-3042D21DA2E6}"/>
              </a:ext>
            </a:extLst>
          </p:cNvPr>
          <p:cNvSpPr txBox="1"/>
          <p:nvPr/>
        </p:nvSpPr>
        <p:spPr>
          <a:xfrm>
            <a:off x="4064000" y="3683000"/>
            <a:ext cx="10160000" cy="103105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6400" b="1">
                <a:solidFill>
                  <a:srgbClr val="11111B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ABD0094-2D9D-F02C-E022-A1F2DB6BF133}"/>
              </a:ext>
            </a:extLst>
          </p:cNvPr>
          <p:cNvSpPr txBox="1"/>
          <p:nvPr/>
        </p:nvSpPr>
        <p:spPr>
          <a:xfrm>
            <a:off x="4064000" y="4826000"/>
            <a:ext cx="10160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Stack avant + apres + topologie cluster</a:t>
            </a:r>
          </a:p>
        </p:txBody>
      </p:sp>
    </p:spTree>
    <p:extLst>
      <p:ext uri="{BB962C8B-B14F-4D97-AF65-F5344CB8AC3E}">
        <p14:creationId xmlns:p14="http://schemas.microsoft.com/office/powerpoint/2010/main" val="301846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17C07C-A72A-2C0E-6A06-85B4CF05ACE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F6735-FAAA-068E-C3DC-278D580F6EE1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199141-320D-ECA3-FE0C-FAA5ED849997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AVANT : docker-compose monolithique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196389-2193-181D-D281-8FA24310B20E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02 -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431AD2B-CF07-0218-915F-3CA77E172C6F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9E2AF"/>
                </a:solidFill>
                <a:latin typeface="Segoe UI" panose="020B0502040204020203" pitchFamily="34" charset="0"/>
              </a:rPr>
              <a:t>5 services sur une seule machine - aucune redondance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550165-BD2D-4893-60EA-E2450EDD7C8E}"/>
              </a:ext>
            </a:extLst>
          </p:cNvPr>
          <p:cNvSpPr/>
          <p:nvPr/>
        </p:nvSpPr>
        <p:spPr>
          <a:xfrm>
            <a:off x="762000" y="2032000"/>
            <a:ext cx="7620000" cy="5080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31AD5D6-978C-A64D-1EC0-E6305A048B72}"/>
              </a:ext>
            </a:extLst>
          </p:cNvPr>
          <p:cNvSpPr txBox="1"/>
          <p:nvPr/>
        </p:nvSpPr>
        <p:spPr>
          <a:xfrm>
            <a:off x="1016000" y="2222500"/>
            <a:ext cx="7112000" cy="267765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E3A1"/>
                </a:solidFill>
                <a:latin typeface="Consolas" panose="020B0609020204030204" pitchFamily="49" charset="0"/>
              </a:rPr>
              <a:t>services:
  frontend:    # Next.js     - 1 instance
  api:         # Flask       - 1 instance
  db:          # PostgreSQL  - 1 instance
  redis:       # Redis       - 1 instance
  nginx:       # Reverse proxy - 1 instance
volumes:
  pgdata, redisdata, uploads, logs
networks:
  app: bridge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922EF5-B3A1-A776-CFB6-B95D1D505D48}"/>
              </a:ext>
            </a:extLst>
          </p:cNvPr>
          <p:cNvSpPr txBox="1"/>
          <p:nvPr/>
        </p:nvSpPr>
        <p:spPr>
          <a:xfrm>
            <a:off x="8763000" y="2032000"/>
            <a:ext cx="6731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38BA8"/>
                </a:solidFill>
                <a:latin typeface="Segoe UI" panose="020B0502040204020203" pitchFamily="34" charset="0"/>
              </a:rPr>
              <a:t>Limitations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F163EAF-A209-6D64-3BB4-5B2355C43153}"/>
              </a:ext>
            </a:extLst>
          </p:cNvPr>
          <p:cNvSpPr txBox="1"/>
          <p:nvPr/>
        </p:nvSpPr>
        <p:spPr>
          <a:xfrm>
            <a:off x="8763000" y="26670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38BA8"/>
                </a:solidFill>
                <a:latin typeface="Segoe UI" panose="020B0502040204020203" pitchFamily="34" charset="0"/>
              </a:rPr>
              <a:t>  X  Une panne = downtime total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87A731-C1DF-7D1F-F255-1FB5FCDA588D}"/>
              </a:ext>
            </a:extLst>
          </p:cNvPr>
          <p:cNvSpPr txBox="1"/>
          <p:nvPr/>
        </p:nvSpPr>
        <p:spPr>
          <a:xfrm>
            <a:off x="8763000" y="31115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38BA8"/>
                </a:solidFill>
                <a:latin typeface="Segoe UI" panose="020B0502040204020203" pitchFamily="34" charset="0"/>
              </a:rPr>
              <a:t>  X  Pas de scaling horizontal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8675ACC-DCE9-1616-2F92-07E7ED34E4BD}"/>
              </a:ext>
            </a:extLst>
          </p:cNvPr>
          <p:cNvSpPr txBox="1"/>
          <p:nvPr/>
        </p:nvSpPr>
        <p:spPr>
          <a:xfrm>
            <a:off x="8763000" y="35560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38BA8"/>
                </a:solidFill>
                <a:latin typeface="Segoe UI" panose="020B0502040204020203" pitchFamily="34" charset="0"/>
              </a:rPr>
              <a:t>  X  Pas de rolling update sans coupure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89C6119-968B-B703-3584-75C27932AB42}"/>
              </a:ext>
            </a:extLst>
          </p:cNvPr>
          <p:cNvSpPr txBox="1"/>
          <p:nvPr/>
        </p:nvSpPr>
        <p:spPr>
          <a:xfrm>
            <a:off x="8763000" y="40005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38BA8"/>
                </a:solidFill>
                <a:latin typeface="Segoe UI" panose="020B0502040204020203" pitchFamily="34" charset="0"/>
              </a:rPr>
              <a:t>  X  Pas de health checks declaratifs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F915004-B7C8-48BE-DED6-CD75A5F382D7}"/>
              </a:ext>
            </a:extLst>
          </p:cNvPr>
          <p:cNvSpPr txBox="1"/>
          <p:nvPr/>
        </p:nvSpPr>
        <p:spPr>
          <a:xfrm>
            <a:off x="8763000" y="44450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38BA8"/>
                </a:solidFill>
                <a:latin typeface="Segoe UI" panose="020B0502040204020203" pitchFamily="34" charset="0"/>
              </a:rPr>
              <a:t>  X  Secrets en .env en clair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E4C605E-480E-D84A-45A9-68A47D59B89E}"/>
              </a:ext>
            </a:extLst>
          </p:cNvPr>
          <p:cNvSpPr txBox="1"/>
          <p:nvPr/>
        </p:nvSpPr>
        <p:spPr>
          <a:xfrm>
            <a:off x="8763000" y="4889500"/>
            <a:ext cx="673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nl-NL" sz="1400">
                <a:solidFill>
                  <a:srgbClr val="F38BA8"/>
                </a:solidFill>
                <a:latin typeface="Segoe UI" panose="020B0502040204020203" pitchFamily="34" charset="0"/>
              </a:rPr>
              <a:t>  X  Pas de zero-trust networking</a:t>
            </a:r>
            <a:endParaRPr lang="fr-FR" sz="1400">
              <a:solidFill>
                <a:srgbClr val="F38BA8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92627C0-DB5D-5354-6DDF-10719A54BCCE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9575734-5880-CA7C-B7D3-681C0736A5DA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335108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90E7E-C1A8-4092-F87B-BD0CD97AC852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370BF-113A-C6BD-6133-62A560D2AB78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7417C9-6CDC-8695-37CF-83951B5C5810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APRES : Kubernetes (k3s)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5C78A0-F0AB-5A1B-C3DC-D07311D18183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02 -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07B4CE-6D1B-6983-E128-B0472EE4C9BE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E3A1"/>
                </a:solidFill>
                <a:latin typeface="Segoe UI" panose="020B0502040204020203" pitchFamily="34" charset="0"/>
              </a:rPr>
              <a:t>Meme stack mais orchestree sur 3 noeuds avec HA + persistance + secu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DC22E-DA13-C42B-A401-28A230DADF61}"/>
              </a:ext>
            </a:extLst>
          </p:cNvPr>
          <p:cNvSpPr/>
          <p:nvPr/>
        </p:nvSpPr>
        <p:spPr>
          <a:xfrm>
            <a:off x="762000" y="1905000"/>
            <a:ext cx="14732000" cy="6477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96F0CE-DB59-5882-D1A9-65CF302AEBB4}"/>
              </a:ext>
            </a:extLst>
          </p:cNvPr>
          <p:cNvSpPr txBox="1"/>
          <p:nvPr/>
        </p:nvSpPr>
        <p:spPr>
          <a:xfrm>
            <a:off x="1016000" y="2095500"/>
            <a:ext cx="14224000" cy="544764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                Internet / utilisateur
                            |
                            v
                  +-------------------+
                  |  /etc/hosts       |
                  |  lottoti.local    |
                  +-------------------+
                            |
                  +---------------------------------+
                  |    Cluster k3s                  |
                  |                                 |
                  |  master (control-plane)         |
                  |    Traefik Ingress + cert TLS   |
                  |             |                   |
                  |    +--------+--------+          |
                  |    |        |        |          |
                  |    v        v        v          |
                  |  /api/*  /socket  /  (Next.js)  |
                  |    |        |        |          |
                  |    v        v        v          |
                  |  backend(2)      frontend(3)    |
                  |    |  |             |  |  |     |
                  |    v  v             v  v  v     |
                  |  postgres(1)     repartis sur   |
                  |  redis(1)        3 noeuds       |
                  |  uploads PVC     anti-affinity  |
                  |                                 |
                  |  worker1   worker2              |
                  +---------------------------------+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091940-3893-B01B-629F-067E8EDDB077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7DFB9A0-702C-3E1D-036E-3B6B5CFA0C69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255246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9D3B0-A56C-85BF-31AB-FD203D847A76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FDED56-969B-F320-C032-CE794B612BAD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23D240-8AF7-150E-ED06-5F4C7441D7F5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nl-NL" sz="2600" b="1">
                <a:solidFill>
                  <a:srgbClr val="89B4FA"/>
                </a:solidFill>
                <a:latin typeface="Segoe UI" panose="020B0502040204020203" pitchFamily="34" charset="0"/>
              </a:rPr>
              <a:t>Topologie : 1 master + 2 workers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8EE416-E2A0-257E-D3C4-29FD5FFAB079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02 -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B9FC152-5D79-36D7-7BEC-5D97026F58E1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section 3.1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8268CF8-F03A-2D8F-6A16-3A74FA601063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3 VMs Ubuntu 22.04 via Multipass (cible prod) ou containers k3s via k3d (demo)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895238-38E9-3733-FB97-4E7A35208F53}"/>
              </a:ext>
            </a:extLst>
          </p:cNvPr>
          <p:cNvSpPr/>
          <p:nvPr/>
        </p:nvSpPr>
        <p:spPr>
          <a:xfrm>
            <a:off x="762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8B69D-77A1-D479-B4F9-1AC6D99D3685}"/>
              </a:ext>
            </a:extLst>
          </p:cNvPr>
          <p:cNvSpPr/>
          <p:nvPr/>
        </p:nvSpPr>
        <p:spPr>
          <a:xfrm>
            <a:off x="762000" y="2032000"/>
            <a:ext cx="4318000" cy="101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C67F3B-3106-2C46-E5BD-B6397B412031}"/>
              </a:ext>
            </a:extLst>
          </p:cNvPr>
          <p:cNvSpPr txBox="1"/>
          <p:nvPr/>
        </p:nvSpPr>
        <p:spPr>
          <a:xfrm>
            <a:off x="1016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CBA6F7"/>
                </a:solidFill>
                <a:latin typeface="Segoe UI" panose="020B0502040204020203" pitchFamily="34" charset="0"/>
              </a:rPr>
              <a:t>master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86AD24-C8B9-DF3D-B284-08C8D2DFDB5D}"/>
              </a:ext>
            </a:extLst>
          </p:cNvPr>
          <p:cNvSpPr txBox="1"/>
          <p:nvPr/>
        </p:nvSpPr>
        <p:spPr>
          <a:xfrm>
            <a:off x="1016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control-plane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DBE553-54C2-98CC-3467-099C3D849731}"/>
              </a:ext>
            </a:extLst>
          </p:cNvPr>
          <p:cNvSpPr txBox="1"/>
          <p:nvPr/>
        </p:nvSpPr>
        <p:spPr>
          <a:xfrm>
            <a:off x="1016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79965BF-C62D-36D6-73FC-04BEF0BA01D2}"/>
              </a:ext>
            </a:extLst>
          </p:cNvPr>
          <p:cNvSpPr txBox="1"/>
          <p:nvPr/>
        </p:nvSpPr>
        <p:spPr>
          <a:xfrm>
            <a:off x="1016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00C3858-4051-7142-2B15-9B7D47BF940A}"/>
              </a:ext>
            </a:extLst>
          </p:cNvPr>
          <p:cNvSpPr txBox="1"/>
          <p:nvPr/>
        </p:nvSpPr>
        <p:spPr>
          <a:xfrm>
            <a:off x="1016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D4072D-4896-D2C7-4F71-C7F8F7F3E641}"/>
              </a:ext>
            </a:extLst>
          </p:cNvPr>
          <p:cNvSpPr txBox="1"/>
          <p:nvPr/>
        </p:nvSpPr>
        <p:spPr>
          <a:xfrm>
            <a:off x="1016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Go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C17CF11-316E-3043-8BBD-FC5E9642E09F}"/>
              </a:ext>
            </a:extLst>
          </p:cNvPr>
          <p:cNvSpPr txBox="1"/>
          <p:nvPr/>
        </p:nvSpPr>
        <p:spPr>
          <a:xfrm>
            <a:off x="1016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 heberges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8C240A2-758D-3500-5B3B-A96620B751B5}"/>
              </a:ext>
            </a:extLst>
          </p:cNvPr>
          <p:cNvSpPr txBox="1"/>
          <p:nvPr/>
        </p:nvSpPr>
        <p:spPr>
          <a:xfrm>
            <a:off x="1016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API server, scheduler, etcd, frontend(1)</a:t>
            </a:r>
            <a:endParaRPr lang="fr-FR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080CED-24B5-B7C3-5F9B-B0908F70926F}"/>
              </a:ext>
            </a:extLst>
          </p:cNvPr>
          <p:cNvSpPr/>
          <p:nvPr/>
        </p:nvSpPr>
        <p:spPr>
          <a:xfrm>
            <a:off x="5969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FAE262-8B13-EC7B-8643-74433236BB09}"/>
              </a:ext>
            </a:extLst>
          </p:cNvPr>
          <p:cNvSpPr/>
          <p:nvPr/>
        </p:nvSpPr>
        <p:spPr>
          <a:xfrm>
            <a:off x="5969000" y="2032000"/>
            <a:ext cx="4318000" cy="1016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DF7232F-D592-FD66-EBFC-BE7928D4FEEC}"/>
              </a:ext>
            </a:extLst>
          </p:cNvPr>
          <p:cNvSpPr txBox="1"/>
          <p:nvPr/>
        </p:nvSpPr>
        <p:spPr>
          <a:xfrm>
            <a:off x="6223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worker1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616F531-5C76-688A-E390-B1D03DFCD228}"/>
              </a:ext>
            </a:extLst>
          </p:cNvPr>
          <p:cNvSpPr txBox="1"/>
          <p:nvPr/>
        </p:nvSpPr>
        <p:spPr>
          <a:xfrm>
            <a:off x="6223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app + storage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11718E2-06A5-366C-8473-04D928ED9E9D}"/>
              </a:ext>
            </a:extLst>
          </p:cNvPr>
          <p:cNvSpPr txBox="1"/>
          <p:nvPr/>
        </p:nvSpPr>
        <p:spPr>
          <a:xfrm>
            <a:off x="6223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C441D3E-DD95-BB54-CDBC-4A533EDDD79C}"/>
              </a:ext>
            </a:extLst>
          </p:cNvPr>
          <p:cNvSpPr txBox="1"/>
          <p:nvPr/>
        </p:nvSpPr>
        <p:spPr>
          <a:xfrm>
            <a:off x="6223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9021960-5B73-5AFF-0194-C82ECEE29496}"/>
              </a:ext>
            </a:extLst>
          </p:cNvPr>
          <p:cNvSpPr txBox="1"/>
          <p:nvPr/>
        </p:nvSpPr>
        <p:spPr>
          <a:xfrm>
            <a:off x="6223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CA8DF93-3DE3-C05E-1AE0-A76DFF940413}"/>
              </a:ext>
            </a:extLst>
          </p:cNvPr>
          <p:cNvSpPr txBox="1"/>
          <p:nvPr/>
        </p:nvSpPr>
        <p:spPr>
          <a:xfrm>
            <a:off x="6223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 Go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E987609-E52C-59A3-BA57-00A47FE3FD78}"/>
              </a:ext>
            </a:extLst>
          </p:cNvPr>
          <p:cNvSpPr txBox="1"/>
          <p:nvPr/>
        </p:nvSpPr>
        <p:spPr>
          <a:xfrm>
            <a:off x="6223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 heberges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420EA79-6715-CAB2-5401-EF1836FF474E}"/>
              </a:ext>
            </a:extLst>
          </p:cNvPr>
          <p:cNvSpPr txBox="1"/>
          <p:nvPr/>
        </p:nvSpPr>
        <p:spPr>
          <a:xfrm>
            <a:off x="6223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backend(2), postgres, frontend(1)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4C7098-5C5D-3756-1710-8531A2F4A8D9}"/>
              </a:ext>
            </a:extLst>
          </p:cNvPr>
          <p:cNvSpPr/>
          <p:nvPr/>
        </p:nvSpPr>
        <p:spPr>
          <a:xfrm>
            <a:off x="11176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20240F-CF58-2A60-A299-585137766926}"/>
              </a:ext>
            </a:extLst>
          </p:cNvPr>
          <p:cNvSpPr/>
          <p:nvPr/>
        </p:nvSpPr>
        <p:spPr>
          <a:xfrm>
            <a:off x="11176000" y="2032000"/>
            <a:ext cx="4318000" cy="1016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D1B97AB-CFCD-D3F6-42CE-E15DD583ED26}"/>
              </a:ext>
            </a:extLst>
          </p:cNvPr>
          <p:cNvSpPr txBox="1"/>
          <p:nvPr/>
        </p:nvSpPr>
        <p:spPr>
          <a:xfrm>
            <a:off x="11430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89B4FA"/>
                </a:solidFill>
                <a:latin typeface="Segoe UI" panose="020B0502040204020203" pitchFamily="34" charset="0"/>
              </a:rPr>
              <a:t>worker2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AB56DE5-E038-252D-F1EA-498297D9FCBB}"/>
              </a:ext>
            </a:extLst>
          </p:cNvPr>
          <p:cNvSpPr txBox="1"/>
          <p:nvPr/>
        </p:nvSpPr>
        <p:spPr>
          <a:xfrm>
            <a:off x="11430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app + storage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030F06A-8D8A-2AC3-1EBA-79A48F16DB9A}"/>
              </a:ext>
            </a:extLst>
          </p:cNvPr>
          <p:cNvSpPr txBox="1"/>
          <p:nvPr/>
        </p:nvSpPr>
        <p:spPr>
          <a:xfrm>
            <a:off x="11430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81CE3B6-AE22-826F-BC73-269A6ABF2F28}"/>
              </a:ext>
            </a:extLst>
          </p:cNvPr>
          <p:cNvSpPr txBox="1"/>
          <p:nvPr/>
        </p:nvSpPr>
        <p:spPr>
          <a:xfrm>
            <a:off x="11430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6A85F1A-BE54-853B-F851-ABCF91B61E45}"/>
              </a:ext>
            </a:extLst>
          </p:cNvPr>
          <p:cNvSpPr txBox="1"/>
          <p:nvPr/>
        </p:nvSpPr>
        <p:spPr>
          <a:xfrm>
            <a:off x="11430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5228670-0534-A13D-5D61-E5C428C4184A}"/>
              </a:ext>
            </a:extLst>
          </p:cNvPr>
          <p:cNvSpPr txBox="1"/>
          <p:nvPr/>
        </p:nvSpPr>
        <p:spPr>
          <a:xfrm>
            <a:off x="11430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 Go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0951173-8825-876B-2CF2-870A812383C7}"/>
              </a:ext>
            </a:extLst>
          </p:cNvPr>
          <p:cNvSpPr txBox="1"/>
          <p:nvPr/>
        </p:nvSpPr>
        <p:spPr>
          <a:xfrm>
            <a:off x="11430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 heberges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82B0518-EFE2-ACBC-3D61-B4E729F7F038}"/>
              </a:ext>
            </a:extLst>
          </p:cNvPr>
          <p:cNvSpPr txBox="1"/>
          <p:nvPr/>
        </p:nvSpPr>
        <p:spPr>
          <a:xfrm>
            <a:off x="11430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redis, frontend(1)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AEE5A5C-1AA9-31CB-EA24-B549BB059240}"/>
              </a:ext>
            </a:extLst>
          </p:cNvPr>
          <p:cNvSpPr txBox="1"/>
          <p:nvPr/>
        </p:nvSpPr>
        <p:spPr>
          <a:xfrm>
            <a:off x="762000" y="72390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F9E2AF"/>
                </a:solidFill>
                <a:latin typeface="Segoe UI" panose="020B0502040204020203" pitchFamily="34" charset="0"/>
              </a:rPr>
              <a:t>Labels appliques : storage=true (workers), lottoti.io/role=app</a:t>
            </a:r>
            <a:endParaRPr lang="fr-FR" sz="1300">
              <a:solidFill>
                <a:srgbClr val="F9E2AF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A86F87E-0E55-BC1F-8395-6101DD77F095}"/>
              </a:ext>
            </a:extLst>
          </p:cNvPr>
          <p:cNvSpPr txBox="1"/>
          <p:nvPr/>
        </p:nvSpPr>
        <p:spPr>
          <a:xfrm>
            <a:off x="762000" y="76200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PodAntiAffinity : frontend repartis sur les 3 noeuds (zero downtime sur node failure)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17896CF-90AB-7AD6-D7CE-79CBA97A5DDF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BBEDB5B-77C6-3423-0558-EA73CF70B840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9</a:t>
            </a:r>
          </a:p>
        </p:txBody>
      </p:sp>
    </p:spTree>
    <p:extLst>
      <p:ext uri="{BB962C8B-B14F-4D97-AF65-F5344CB8AC3E}">
        <p14:creationId xmlns:p14="http://schemas.microsoft.com/office/powerpoint/2010/main" val="403132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40885B-1D09-6C68-9183-3217148BCBD7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99E25A-A310-DA3C-CB81-64A83D2763FE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916B4E4-5833-3852-FB7F-A8136A9D7101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Inventaire des manifests Kubernetes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C40E8E-F03F-EAE5-64D5-94439B508599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02 -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3C2FB3-93A1-8BC5-079E-079A57A173EF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section 3.2.3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C074F0-8209-EE6D-3E9F-8F41C80B335F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36 manifests YAML + 1 Helm chart - tous dans c:\cluster\k8s\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47AC4-17D2-BF13-C2B4-F03863134121}"/>
              </a:ext>
            </a:extLst>
          </p:cNvPr>
          <p:cNvSpPr/>
          <p:nvPr/>
        </p:nvSpPr>
        <p:spPr>
          <a:xfrm>
            <a:off x="762000" y="1905000"/>
            <a:ext cx="14732000" cy="6096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1C03FD-1EE7-7032-9CF5-AE4D065067E7}"/>
              </a:ext>
            </a:extLst>
          </p:cNvPr>
          <p:cNvSpPr txBox="1"/>
          <p:nvPr/>
        </p:nvSpPr>
        <p:spPr>
          <a:xfrm>
            <a:off x="1016000" y="2095500"/>
            <a:ext cx="14224000" cy="369331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k8s/
|-- base/                      &lt;-- 36 manifests Kustomize
|   |-- 00-namespaces/         (2 namespaces)
|   |-- 15-cert-manager/       (Issuer + CA + ClusterIssuer)
|   |-- 20-database/           (StatefulSet + Service + ConfigMap)
|   |-- 25-redis/              (StatefulSet + Service)
|   |-- 30-backend/            (Deployment + Service + ConfigMap + PVC + HPA + PDB)
|   |-- 40-frontend/           (Deployment + Service + HPA + PDB)
|   |-- 50-ingress/            (Ingress + IngressRoute + Certificate + 6 Middlewares)
|   -- 60-policies/           (8 NetworkPolicies)
|
|-- overlays/
|   |-- dev/                   (1 replica, debug logs)
|   |-- prod/                  (Multipass + Longhorn + 2/3 replicas)
|   |-- k3d/                   (k3d + nginx stub - tests rapides)
|   -- k3d-real/              (k3d + vraies images LottoTi)
charts/lottoti/                &lt;-- Helm chart (24 templates rendus)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5F88BC-C7CC-97A1-BE37-FFE8B348B88D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2DEFE4-E79A-3D97-3179-23F12ED34AE5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3965517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6A6CC-3008-E960-574E-84CFD8FCCCC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8EC686-9EA8-B7B8-E517-5F5B9AACBC91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2B355A6-5B23-FAC0-7B35-9C1203AC69CA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B9873D9-D95C-A1AC-58E5-C0EB1AA55CF6}"/>
              </a:ext>
            </a:extLst>
          </p:cNvPr>
          <p:cNvSpPr txBox="1"/>
          <p:nvPr/>
        </p:nvSpPr>
        <p:spPr>
          <a:xfrm>
            <a:off x="4572000" y="3683000"/>
            <a:ext cx="10922000" cy="9079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5600" b="1">
                <a:solidFill>
                  <a:srgbClr val="11111B"/>
                </a:solidFill>
                <a:latin typeface="Segoe UI" panose="020B0502040204020203" pitchFamily="34" charset="0"/>
              </a:rPr>
              <a:t>Steps d'installation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11B93E-B7F7-F4AA-8589-7E527C2B94D2}"/>
              </a:ext>
            </a:extLst>
          </p:cNvPr>
          <p:cNvSpPr txBox="1"/>
          <p:nvPr/>
        </p:nvSpPr>
        <p:spPr>
          <a:xfrm>
            <a:off x="4572000" y="4826000"/>
            <a:ext cx="1092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8 etapes scriptees pour reproduire le cluster</a:t>
            </a:r>
          </a:p>
        </p:txBody>
      </p:sp>
    </p:spTree>
    <p:extLst>
      <p:ext uri="{BB962C8B-B14F-4D97-AF65-F5344CB8AC3E}">
        <p14:creationId xmlns:p14="http://schemas.microsoft.com/office/powerpoint/2010/main" val="380389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D6B6B5-0FC2-6C54-CF2C-E220CFAFAA1A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2E8BDD-5C31-D53F-B107-1F8F760FE8B1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687796-A2F8-15A2-600E-BD3E521B6688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Pre-requis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ACC612-120F-889E-C109-AF646C68AB31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93C19-FD96-6D82-7C07-45EFFF95E9A7}"/>
              </a:ext>
            </a:extLst>
          </p:cNvPr>
          <p:cNvSpPr/>
          <p:nvPr/>
        </p:nvSpPr>
        <p:spPr>
          <a:xfrm>
            <a:off x="762000" y="165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DF5FC9-9BF1-C4FC-3A18-A846AA9998B2}"/>
              </a:ext>
            </a:extLst>
          </p:cNvPr>
          <p:cNvSpPr/>
          <p:nvPr/>
        </p:nvSpPr>
        <p:spPr>
          <a:xfrm>
            <a:off x="762000" y="165100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4A3AE0-0F6B-40C2-982B-8DECA3C97A2B}"/>
              </a:ext>
            </a:extLst>
          </p:cNvPr>
          <p:cNvSpPr txBox="1"/>
          <p:nvPr/>
        </p:nvSpPr>
        <p:spPr>
          <a:xfrm>
            <a:off x="1143000" y="1778000"/>
            <a:ext cx="317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89B4FA"/>
                </a:solidFill>
                <a:latin typeface="Segoe UI" panose="020B0502040204020203" pitchFamily="34" charset="0"/>
              </a:rPr>
              <a:t>Multipass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141DA44-91C6-3179-7D07-34D8827618BC}"/>
              </a:ext>
            </a:extLst>
          </p:cNvPr>
          <p:cNvSpPr txBox="1"/>
          <p:nvPr/>
        </p:nvSpPr>
        <p:spPr>
          <a:xfrm>
            <a:off x="1143000" y="2184400"/>
            <a:ext cx="762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Installation Ubuntu 22.04 sur Hyper-V (Windows) / KVM (Linux)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918B4D-BE45-70EF-A946-44B102BB14CC}"/>
              </a:ext>
            </a:extLst>
          </p:cNvPr>
          <p:cNvSpPr txBox="1"/>
          <p:nvPr/>
        </p:nvSpPr>
        <p:spPr>
          <a:xfrm>
            <a:off x="8890000" y="2032000"/>
            <a:ext cx="635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winget install Canonical.Multipass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B1358-1452-C8B9-8AD9-C21C0E482CE1}"/>
              </a:ext>
            </a:extLst>
          </p:cNvPr>
          <p:cNvSpPr/>
          <p:nvPr/>
        </p:nvSpPr>
        <p:spPr>
          <a:xfrm>
            <a:off x="762000" y="292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08651-48B2-00E2-3E6E-CC992AEF9242}"/>
              </a:ext>
            </a:extLst>
          </p:cNvPr>
          <p:cNvSpPr/>
          <p:nvPr/>
        </p:nvSpPr>
        <p:spPr>
          <a:xfrm>
            <a:off x="762000" y="2921000"/>
            <a:ext cx="76200" cy="1016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C63FEF-B175-0E80-BA97-BFD310C1DB8C}"/>
              </a:ext>
            </a:extLst>
          </p:cNvPr>
          <p:cNvSpPr txBox="1"/>
          <p:nvPr/>
        </p:nvSpPr>
        <p:spPr>
          <a:xfrm>
            <a:off x="1143000" y="3048000"/>
            <a:ext cx="317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A6E3A1"/>
                </a:solidFill>
                <a:latin typeface="Segoe UI" panose="020B0502040204020203" pitchFamily="34" charset="0"/>
              </a:rPr>
              <a:t>Docker Desktop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3038E4E-4CCF-C7F8-8630-2272E844EA72}"/>
              </a:ext>
            </a:extLst>
          </p:cNvPr>
          <p:cNvSpPr txBox="1"/>
          <p:nvPr/>
        </p:nvSpPr>
        <p:spPr>
          <a:xfrm>
            <a:off x="1143000" y="3454400"/>
            <a:ext cx="762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Pour le build des images applicatives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85C063C-00F9-25D6-B023-7D0700D07428}"/>
              </a:ext>
            </a:extLst>
          </p:cNvPr>
          <p:cNvSpPr txBox="1"/>
          <p:nvPr/>
        </p:nvSpPr>
        <p:spPr>
          <a:xfrm>
            <a:off x="8890000" y="3302000"/>
            <a:ext cx="635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https://docker.com/products/docker-desktop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F43002-87D7-054E-68FF-608ED7B44A2A}"/>
              </a:ext>
            </a:extLst>
          </p:cNvPr>
          <p:cNvSpPr/>
          <p:nvPr/>
        </p:nvSpPr>
        <p:spPr>
          <a:xfrm>
            <a:off x="762000" y="419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C870D1-679F-D3D3-8C5D-31557E1D54B8}"/>
              </a:ext>
            </a:extLst>
          </p:cNvPr>
          <p:cNvSpPr/>
          <p:nvPr/>
        </p:nvSpPr>
        <p:spPr>
          <a:xfrm>
            <a:off x="762000" y="4191000"/>
            <a:ext cx="76200" cy="1016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DACBAA9-18A8-7087-7DE0-1E43A1238569}"/>
              </a:ext>
            </a:extLst>
          </p:cNvPr>
          <p:cNvSpPr txBox="1"/>
          <p:nvPr/>
        </p:nvSpPr>
        <p:spPr>
          <a:xfrm>
            <a:off x="1143000" y="4318000"/>
            <a:ext cx="317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CBA6F7"/>
                </a:solidFill>
                <a:latin typeface="Segoe UI" panose="020B0502040204020203" pitchFamily="34" charset="0"/>
              </a:rPr>
              <a:t>kubectl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B52F3FD-403F-C817-2F1A-6B879E72E93E}"/>
              </a:ext>
            </a:extLst>
          </p:cNvPr>
          <p:cNvSpPr txBox="1"/>
          <p:nvPr/>
        </p:nvSpPr>
        <p:spPr>
          <a:xfrm>
            <a:off x="1143000" y="4724400"/>
            <a:ext cx="762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CLI Kubernetes (CE script local)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FB47D4C-6BBE-4C60-FBC2-444F784CE56E}"/>
              </a:ext>
            </a:extLst>
          </p:cNvPr>
          <p:cNvSpPr txBox="1"/>
          <p:nvPr/>
        </p:nvSpPr>
        <p:spPr>
          <a:xfrm>
            <a:off x="8890000" y="4572000"/>
            <a:ext cx="635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winget install Kubernetes.kubectl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796E55-8470-4EB0-34E1-AE59B93E5E17}"/>
              </a:ext>
            </a:extLst>
          </p:cNvPr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F947BB-BEF1-1389-C01A-B8501EAC54AD}"/>
              </a:ext>
            </a:extLst>
          </p:cNvPr>
          <p:cNvSpPr/>
          <p:nvPr/>
        </p:nvSpPr>
        <p:spPr>
          <a:xfrm>
            <a:off x="762000" y="5461000"/>
            <a:ext cx="76200" cy="1016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B4981C3-3DA5-A834-18B6-7336B737FB96}"/>
              </a:ext>
            </a:extLst>
          </p:cNvPr>
          <p:cNvSpPr txBox="1"/>
          <p:nvPr/>
        </p:nvSpPr>
        <p:spPr>
          <a:xfrm>
            <a:off x="1143000" y="5588000"/>
            <a:ext cx="317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9E2AF"/>
                </a:solidFill>
                <a:latin typeface="Segoe UI" panose="020B0502040204020203" pitchFamily="34" charset="0"/>
              </a:rPr>
              <a:t>Helm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50F27A1-DED4-FFCF-F236-3658A3C91EFB}"/>
              </a:ext>
            </a:extLst>
          </p:cNvPr>
          <p:cNvSpPr txBox="1"/>
          <p:nvPr/>
        </p:nvSpPr>
        <p:spPr>
          <a:xfrm>
            <a:off x="1143000" y="5994400"/>
            <a:ext cx="762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Package manager Kubernetes (Traefik, Longhorn, app)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BB4F7BF-9B77-31C1-AA48-51038F90CDEB}"/>
              </a:ext>
            </a:extLst>
          </p:cNvPr>
          <p:cNvSpPr txBox="1"/>
          <p:nvPr/>
        </p:nvSpPr>
        <p:spPr>
          <a:xfrm>
            <a:off x="8890000" y="5842000"/>
            <a:ext cx="635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winget install Helm.Helm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1A08FD-A48D-AAD3-145A-4CD49BA738F5}"/>
              </a:ext>
            </a:extLst>
          </p:cNvPr>
          <p:cNvSpPr/>
          <p:nvPr/>
        </p:nvSpPr>
        <p:spPr>
          <a:xfrm>
            <a:off x="762000" y="673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7CACE6-F91C-2553-2407-57157CF532A7}"/>
              </a:ext>
            </a:extLst>
          </p:cNvPr>
          <p:cNvSpPr/>
          <p:nvPr/>
        </p:nvSpPr>
        <p:spPr>
          <a:xfrm>
            <a:off x="762000" y="6731000"/>
            <a:ext cx="76200" cy="1016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EC1D251-C6CF-CC69-9056-BB67B06AFED3}"/>
              </a:ext>
            </a:extLst>
          </p:cNvPr>
          <p:cNvSpPr txBox="1"/>
          <p:nvPr/>
        </p:nvSpPr>
        <p:spPr>
          <a:xfrm>
            <a:off x="1143000" y="6858000"/>
            <a:ext cx="3175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000" b="1">
                <a:solidFill>
                  <a:srgbClr val="FAB387"/>
                </a:solidFill>
                <a:latin typeface="Segoe UI" panose="020B0502040204020203" pitchFamily="34" charset="0"/>
              </a:rPr>
              <a:t>git bash / WSL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4C3D8F7-DF1E-5DBA-6B44-17574A0C65E2}"/>
              </a:ext>
            </a:extLst>
          </p:cNvPr>
          <p:cNvSpPr txBox="1"/>
          <p:nvPr/>
        </p:nvSpPr>
        <p:spPr>
          <a:xfrm>
            <a:off x="1143000" y="7264400"/>
            <a:ext cx="762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Shell pour executer les scripts d'install (.sh)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1B35556-3611-81F5-CCC6-2344716302B3}"/>
              </a:ext>
            </a:extLst>
          </p:cNvPr>
          <p:cNvSpPr txBox="1"/>
          <p:nvPr/>
        </p:nvSpPr>
        <p:spPr>
          <a:xfrm>
            <a:off x="8890000" y="7112000"/>
            <a:ext cx="635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https://git-scm.com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10F066C-5D4B-FD3B-C501-571F9A6765C2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F404A11-0322-FDFD-C46F-D66467BCC68D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363780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C4B993-091A-5A04-2D2F-D45E810A8DEB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56186-2FF3-EC8D-1D41-EC9AF1E2384B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79B976-B444-FA39-3B87-2DA6993FAF9C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600" b="1">
                <a:solidFill>
                  <a:srgbClr val="89B4FA"/>
                </a:solidFill>
                <a:latin typeface="Segoe UI" panose="020B0502040204020203" pitchFamily="34" charset="0"/>
              </a:rPr>
              <a:t>Step 1/8 - Creation VMs Multipass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5C5919-E4C8-C31F-214A-B41D40E78FD9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F90C225-3D7D-F76A-7693-ECB3AE2BCF3E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scripts/01-create-vms.sh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859718-230F-7F5E-1B53-709041405538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Segoe UI" panose="020B0502040204020203" pitchFamily="34" charset="0"/>
              </a:rPr>
              <a:t>Creer 3 VMs Ubuntu (1 master + 2 workers) avec ressources dediees</a:t>
            </a:r>
            <a:endParaRPr lang="fr-FR" sz="16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2FC8D9-BC89-4994-E09F-99CD20CC4802}"/>
              </a:ext>
            </a:extLst>
          </p:cNvPr>
          <p:cNvSpPr/>
          <p:nvPr/>
        </p:nvSpPr>
        <p:spPr>
          <a:xfrm>
            <a:off x="762000" y="2032000"/>
            <a:ext cx="14732000" cy="4572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A28FA37-DE38-15B0-7210-B06ED7B694EE}"/>
              </a:ext>
            </a:extLst>
          </p:cNvPr>
          <p:cNvSpPr txBox="1"/>
          <p:nvPr/>
        </p:nvSpPr>
        <p:spPr>
          <a:xfrm>
            <a:off x="1016000" y="2222500"/>
            <a:ext cx="14224000" cy="289310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E3A1"/>
                </a:solidFill>
                <a:latin typeface="Consolas" panose="020B0609020204030204" pitchFamily="49" charset="0"/>
              </a:rPr>
              <a:t>#!/usr/bin/env bash
# scripts/01-create-vms.sh
multipass launch 22.04 --name master  --cpus 2 --memory 2G --disk 20G
multipass launch 22.04 --name worker1 --cpus 2 --memory 3G --disk 20G
multipass launch 22.04 --name worker2 --cpus 2 --memory 3G --disk 20G
# Verification
multipass list
# Name     | State   | IPv4         | Image
# master   | Running | 192.168.x.10 | Ubuntu 22.04 LTS
# worker1  | Running | 192.168.x.11 | Ubuntu 22.04 LTS
# worker2  | Running | 192.168.x.12 | Ubuntu 22.04 LTS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53892B9-7374-A091-A52F-EC41522E9042}"/>
              </a:ext>
            </a:extLst>
          </p:cNvPr>
          <p:cNvSpPr txBox="1"/>
          <p:nvPr/>
        </p:nvSpPr>
        <p:spPr>
          <a:xfrm>
            <a:off x="762000" y="6858000"/>
            <a:ext cx="508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9E2AF"/>
                </a:solidFill>
                <a:latin typeface="Segoe UI" panose="020B0502040204020203" pitchFamily="34" charset="0"/>
              </a:rPr>
              <a:t>Duree : ~3 minutes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AD4E41-6AC3-1A0A-DB71-EC4B2DC4260F}"/>
              </a:ext>
            </a:extLst>
          </p:cNvPr>
          <p:cNvSpPr txBox="1"/>
          <p:nvPr/>
        </p:nvSpPr>
        <p:spPr>
          <a:xfrm>
            <a:off x="5842000" y="6858000"/>
            <a:ext cx="762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Resultat : 3 VMs Running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C3E16A-7561-8B6B-0669-7077D8E79D8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E57D83-02A2-5E3A-7D4A-6EF2F230F5D9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331551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71149-CB49-AFDD-9D26-3D94929BE55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FF5D0-03A1-9731-C1D7-FC300E970399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7A3E49-249D-0877-4235-E8EEE39CF939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Step 2/8 - Installation k3s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D7E49B-3E84-A4CE-1191-9F23CD8A9264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03018C3-2BA0-70D5-6579-BEFEF6313FBB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scripts/02-install-k3s.sh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A59649A-5D9F-CA16-9AC1-7DA7BAB1F9FD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Installer k3s server sur master + agents sur workers (Traefik desactive : on installe le notre apres)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C7287-D792-05B8-5B40-79B8B337F34D}"/>
              </a:ext>
            </a:extLst>
          </p:cNvPr>
          <p:cNvSpPr/>
          <p:nvPr/>
        </p:nvSpPr>
        <p:spPr>
          <a:xfrm>
            <a:off x="762000" y="1905000"/>
            <a:ext cx="14732000" cy="5842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9332B89-2F92-D525-4CA5-900E8259D848}"/>
              </a:ext>
            </a:extLst>
          </p:cNvPr>
          <p:cNvSpPr txBox="1"/>
          <p:nvPr/>
        </p:nvSpPr>
        <p:spPr>
          <a:xfrm>
            <a:off x="1016000" y="2095500"/>
            <a:ext cx="14224000" cy="397031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# Master (control plane)
multipass exec master -- bash -c "
  curl -sfL https://get.k3s.io | INSTALL_K3S_EXEC='server --disable=traefik' sh -
"
# Recuperer le token de jonction
TOKEN=$(multipass exec master sudo cat /var/lib/rancher/k3s/server/node-token)
MASTER_IP=$(multipass info master | awk '/IPv4/ {print $2}')
# Workers (rejoignent le cluster)
for w in worker1 worker2; do
  multipass exec $w -- bash -c "
    curl -sfL https://get.k3s.io | K3S_URL=https://$MASTER_IP:6443 K3S_TOKEN=$TOKEN sh -
  "
done
# Recuperer kubeconfig en local
multipass exec master sudo cat /etc/rancher/k3s/k3s.yaml \
  | sed s/127.0.0.1/$MASTER_IP/ &gt; ~/.kube/config-lottoti
kubectl --kubeconfig ~/.kube/config-lottoti get nodes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79EA09B-FB1C-DA30-09A4-97772139D728}"/>
              </a:ext>
            </a:extLst>
          </p:cNvPr>
          <p:cNvSpPr txBox="1"/>
          <p:nvPr/>
        </p:nvSpPr>
        <p:spPr>
          <a:xfrm>
            <a:off x="762000" y="7874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~2 minutes - Resultat : 3 nodes Ready</a:t>
            </a:r>
            <a:endParaRPr lang="fr-FR" sz="1400" b="1">
              <a:solidFill>
                <a:srgbClr val="A6E3A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B02C39F-C3B0-63E2-BF34-A8B9411043B2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D22B30-A398-6B73-96B1-3CF6C62E7F43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33986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058A9E-150F-306C-9125-B343B0C791A2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793707-C53E-B662-D150-09467C8C30D6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65E2FF-08C9-8206-CBE3-01C3A3BDBDAA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600" b="1">
                <a:solidFill>
                  <a:srgbClr val="89B4FA"/>
                </a:solidFill>
                <a:latin typeface="Segoe UI" panose="020B0502040204020203" pitchFamily="34" charset="0"/>
              </a:rPr>
              <a:t>Step 3/8 - Storage Longhorn (RWX)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66A3FF-7A68-C7B3-9F83-09DEC27D9863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F23FFE-8D79-AE7F-C87B-942E193A0AF4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scripts/03-install-storage.sh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DA38CD0-6828-D138-7C38-3276AB1A8E5B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Pourquoi Longhorn ? Le PVC uploads doit etre RWX (partage entre les 2 backend pods)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DB8FB8-C6F4-DF04-9623-4C0214E0CE10}"/>
              </a:ext>
            </a:extLst>
          </p:cNvPr>
          <p:cNvSpPr/>
          <p:nvPr/>
        </p:nvSpPr>
        <p:spPr>
          <a:xfrm>
            <a:off x="762000" y="1905000"/>
            <a:ext cx="14732000" cy="533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1FCDD5F-6984-2592-6476-91497ED8BB3A}"/>
              </a:ext>
            </a:extLst>
          </p:cNvPr>
          <p:cNvSpPr txBox="1"/>
          <p:nvPr/>
        </p:nvSpPr>
        <p:spPr>
          <a:xfrm>
            <a:off x="1016000" y="2095500"/>
            <a:ext cx="14224000" cy="409342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# Pre-requis Longhorn sur chaque node : iscsi, nfs, util-linux
for n in master worker1 worker2; do
  multipass exec $n -- bash -c "
    sudo apt-get install -y -qq open-iscsi nfs-common util-linux
    sudo systemctl enable --now iscsid
  "
done
# Helm install Longhorn
helm repo add longhorn https://charts.longhorn.io
helm upgrade --install longhorn longhorn/longhorn \
  --namespace longhorn-system --create-namespace \
  --version 1.7.2 \
  --set defaultSettings.replicaSoftAntiAffinity=true \
  --set persistence.defaultClassReplicaCount=2 \
  --wait --timeout 10m
# Promote longhorn comme StorageClass par defaut
kubectl annotate storageclass longhorn \
  storageclass.kubernetes.io/is-default-class=true --overwrite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792E056-B522-B7F4-D56F-A6D16AFF6CEF}"/>
              </a:ext>
            </a:extLst>
          </p:cNvPr>
          <p:cNvSpPr txBox="1"/>
          <p:nvPr/>
        </p:nvSpPr>
        <p:spPr>
          <a:xfrm>
            <a:off x="762000" y="736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~5 minutes - Resultat : SC longhorn (default), supporte RWO + RWX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77F8A1-01F6-1C18-F208-5F4739C5203B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B72F28-8A35-E1DF-D731-732EB4A66006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3623075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1BFF90-3189-B460-B46B-E8F7291EF5BA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7F83BF-D4B7-79FE-58E5-A1433B267992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ACE386-2A54-EBFA-93DD-8B15C7410CE2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Step 4/8 - cert-manager (HTTPS)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D45C21-0B12-DBC4-28EA-4F674698BFF5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672647-A1DB-CDA3-7DE6-07B7FA0651EE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scripts/04-install-cert-manager.sh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C7D810-D487-6EFD-CC43-D28EFC131504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Pour le HTTPS exigence PDF section 3.4 : installer cert-manager + creer un CA local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0257B-5475-F62F-CAD8-69C311F6015B}"/>
              </a:ext>
            </a:extLst>
          </p:cNvPr>
          <p:cNvSpPr/>
          <p:nvPr/>
        </p:nvSpPr>
        <p:spPr>
          <a:xfrm>
            <a:off x="762000" y="1905000"/>
            <a:ext cx="14732000" cy="533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F356DE-89AA-C417-C2B3-7B11A577C169}"/>
              </a:ext>
            </a:extLst>
          </p:cNvPr>
          <p:cNvSpPr txBox="1"/>
          <p:nvPr/>
        </p:nvSpPr>
        <p:spPr>
          <a:xfrm>
            <a:off x="1016000" y="2095500"/>
            <a:ext cx="14224000" cy="30931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# Install cert-manager
kubectl apply -f https://github.com/cert-manager/cert-manager/releases/download/v1.16.2/cert-manager.yaml
kubectl -n cert-manager wait --for=condition=Available deploy --all --timeout=5m
# 1. ClusterIssuer self-signed (bootstrap)
kubectl apply -f k8s/base/15-cert-manager/00-selfsigned-issuer.yaml
# 2. Generer le CA local 'lottoti-ca' (signe par self-signed)
kubectl apply -f k8s/base/15-cert-manager/01-ca-certificate.yaml
kubectl -n cert-manager wait --for=condition=Ready certificate/lottoti-ca --timeout=2m
# 3. ClusterIssuer 'lottoti-ca-issuer' (utilise notre CA pour signer les certs apps)
kubectl apply -f k8s/base/15-cert-manager/02-ca-issuer.yaml
# Resultat : certs auto-generes pour lottoti.local + api.lottoti.local + *.lottoti.local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F5F39D-A659-5B4B-EAAE-BA1A12140A97}"/>
              </a:ext>
            </a:extLst>
          </p:cNvPr>
          <p:cNvSpPr txBox="1"/>
          <p:nvPr/>
        </p:nvSpPr>
        <p:spPr>
          <a:xfrm>
            <a:off x="762000" y="736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~2 minutes - Resultat : ClusterIssuer 'lottoti-ca-issuer' Ready</a:t>
            </a:r>
            <a:endParaRPr lang="fr-FR" sz="1400" b="1">
              <a:solidFill>
                <a:srgbClr val="A6E3A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562037-1E7A-6D02-84C1-8C094C793A1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3B1C6CC-5EB9-F455-A0D9-2D116DA2D1B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121831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E92DA6-0076-E652-EBFF-6D359B619128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B7FD08-1E1C-9F96-0E4D-913F57AD4BFC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E05653-C718-B5F8-A347-D9B39E30CD43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600" b="1">
                <a:solidFill>
                  <a:srgbClr val="89B4FA"/>
                </a:solidFill>
                <a:latin typeface="Segoe UI" panose="020B0502040204020203" pitchFamily="34" charset="0"/>
              </a:rPr>
              <a:t>Step 5/8 - Ingress Traefik v3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BB8979-FCA2-D77A-B85D-C9B904106D5C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530225B-BF2F-F47A-C370-1A741AB0FB9D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scripts/05-install-ingress.sh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0DF4FA-EF96-2B07-A547-4C1B48C670DC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Exigence PDF section 3.5 : Load Balancer/Ingress (Traefik, NGINX) pour acceder a l'app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7B90C-1A50-5B61-1A0F-D0EA99FBA2DC}"/>
              </a:ext>
            </a:extLst>
          </p:cNvPr>
          <p:cNvSpPr/>
          <p:nvPr/>
        </p:nvSpPr>
        <p:spPr>
          <a:xfrm>
            <a:off x="762000" y="1905000"/>
            <a:ext cx="14732000" cy="533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F7F2BE-1657-D5F4-5315-4BD267869D52}"/>
              </a:ext>
            </a:extLst>
          </p:cNvPr>
          <p:cNvSpPr txBox="1"/>
          <p:nvPr/>
        </p:nvSpPr>
        <p:spPr>
          <a:xfrm>
            <a:off x="1016000" y="2095500"/>
            <a:ext cx="14224000" cy="369331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# Helm install Traefik
helm repo add traefik https://traefik.github.io/charts
helm upgrade --install traefik traefik/traefik \
  --namespace traefik --create-namespace \
  --version 33.0.0 \
  --set service.type=NodePort \
  --set ports.web.nodePort=30080 \
  --set ports.websecure.nodePort=30443 \
  --set ingressClass.isDefaultClass=true \
  --set providers.kubernetesIngress.allowExternalNameServices=true \
  --set providers.kubernetesCRD.allowCrossNamespace=true \
  --wait --timeout 5m
# Resultat
# kubectl -n traefik get svc traefik
# NAME     TYPE       PORT(S)
# traefik  NodePort   80:30080/TCP, 443:30443/TCP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3A73A26-9878-0576-BE5B-FDF8B1FA9931}"/>
              </a:ext>
            </a:extLst>
          </p:cNvPr>
          <p:cNvSpPr txBox="1"/>
          <p:nvPr/>
        </p:nvSpPr>
        <p:spPr>
          <a:xfrm>
            <a:off x="762000" y="736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~1 minute - Resultat : NodePort 30080 (HTTP) + 30443 (HTTPS)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EA9ACF-D404-ABB2-9D03-7F8210F4AA81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ACD1AE2-09FB-540B-8FA2-7FE52EE0A20E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17</a:t>
            </a:r>
          </a:p>
        </p:txBody>
      </p:sp>
    </p:spTree>
    <p:extLst>
      <p:ext uri="{BB962C8B-B14F-4D97-AF65-F5344CB8AC3E}">
        <p14:creationId xmlns:p14="http://schemas.microsoft.com/office/powerpoint/2010/main" val="1468984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2255D-BD3A-51B4-AABF-4B8C6834294B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5BCED4-9B2A-6AD7-4BEB-CFB5A7E84115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5689290-F898-AAEE-8FBD-2BDF6288480D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600" b="1">
                <a:solidFill>
                  <a:srgbClr val="89B4FA"/>
                </a:solidFill>
                <a:latin typeface="Segoe UI" panose="020B0502040204020203" pitchFamily="34" charset="0"/>
              </a:rPr>
              <a:t>Step 6/8 - Build images Docker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48FECD-D9BF-0D80-DE6D-3C714FAD5826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0480E5-6087-D98F-D657-3288F195CADD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scripts/06-build-images.sh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F7C6C3-2BBD-558A-C610-DB8EB8BC77D4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Builder backend Flask + frontend Next.js puis importer dans k3s (sans registry externe)</a:t>
            </a:r>
            <a:endParaRPr lang="fr-FR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9944C-4E54-3D60-53F5-1FB2ADB13AF7}"/>
              </a:ext>
            </a:extLst>
          </p:cNvPr>
          <p:cNvSpPr/>
          <p:nvPr/>
        </p:nvSpPr>
        <p:spPr>
          <a:xfrm>
            <a:off x="762000" y="1905000"/>
            <a:ext cx="14732000" cy="5842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4174BA2-C03F-D983-3096-F1C555DEBD72}"/>
              </a:ext>
            </a:extLst>
          </p:cNvPr>
          <p:cNvSpPr txBox="1"/>
          <p:nvPr/>
        </p:nvSpPr>
        <p:spPr>
          <a:xfrm>
            <a:off x="1016000" y="2095500"/>
            <a:ext cx="14224000" cy="378565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# Build local
docker build -t lottoti/backend:1.0.0  C:/LottoTi/backend
docker build -t lottoti/frontend:1.0.0 C:/LottoTi/lottoit \
  --build-arg NEXT_PUBLIC_API_URL=https://api.lottoti.local
# docker save -&gt; tar -&gt; scp -&gt; k3s ctr import
WORK=./.images
mkdir -p $WORK
docker save -o $WORK/backend.tar  lottoti/backend:1.0.0
docker save -o $WORK/frontend.tar lottoti/frontend:1.0.0
for n in master worker1 worker2; do
  for img in backend frontend; do
    multipass transfer $WORK/$img.tar $n:/tmp/$img.tar
    multipass exec $n -- sudo k3s ctr images import /tmp/$img.tar
  done
done
# Verification
multipass exec master -- sudo k3s ctr images ls | grep lottoti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D0A6F3-767D-228E-5969-325110C06922}"/>
              </a:ext>
            </a:extLst>
          </p:cNvPr>
          <p:cNvSpPr txBox="1"/>
          <p:nvPr/>
        </p:nvSpPr>
        <p:spPr>
          <a:xfrm>
            <a:off x="762000" y="7874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~5 minutes (build) + 2 minutes (transfert) - Resultat : images dispo sur tous les nodes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1A9FED2-4719-C4B6-791D-889A193F9635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3F82EAB-37F0-F69E-441A-71EA01AD9E49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433811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4207ED-7EAF-E5A6-D5A7-C95D7A2AA545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BE31C-9241-5CB6-F609-E21D5186C183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18C8CC-8EF5-A68B-AD9C-F8F03AB66457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Step 7/8 - Deploy LottoTi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1DCC52-0D75-D2C4-5A63-D976586B78E1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687D8B-FBB1-3E21-6895-CE0C21F04E68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scripts/07-deploy.sh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03BF35-567F-697A-54BF-CBD4C6544E4E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Generer les secrets, creer le namespace, puis appliquer les manifests via Kustomize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96434-9536-E829-9738-3D4AAD4673FB}"/>
              </a:ext>
            </a:extLst>
          </p:cNvPr>
          <p:cNvSpPr/>
          <p:nvPr/>
        </p:nvSpPr>
        <p:spPr>
          <a:xfrm>
            <a:off x="762000" y="1905000"/>
            <a:ext cx="14732000" cy="533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F8306EA-4DF1-6667-0642-78C8EDF485B2}"/>
              </a:ext>
            </a:extLst>
          </p:cNvPr>
          <p:cNvSpPr txBox="1"/>
          <p:nvPr/>
        </p:nvSpPr>
        <p:spPr>
          <a:xfrm>
            <a:off x="1016000" y="2095500"/>
            <a:ext cx="14224000" cy="409342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# 1. Generer les secrets (1ere fois seulement)
cat &gt; .secrets.env &lt;&lt;EOF
POSTGRES_PASSWORD=$(openssl rand -hex 24)
FLASK_SECRET_KEY=$(openssl rand -hex 32)
JWT_SECRET_KEY=$(openssl rand -hex 32)
EOF
# 2. Creer namespace + Secret Kubernetes
kubectl apply -f k8s/base/00-namespaces/
kubectl -n lottoti create secret generic lottoti-secrets \
  --from-env-file=.secrets.env --dry-run=client -o yaml | kubectl apply -f -
# 3. Apply tous les manifests via Kustomize
kubectl apply -k k8s/overlays/prod   # 36 ressources crees
# 4. Wait rollout
kubectl -n lottoti rollout status statefulset/postgres
kubectl -n lottoti rollout status statefulset/redis
kubectl -n lottoti rollout status deploy/backend
kubectl -n lottoti rollout status deploy/frontend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3B79B1-6EA1-1245-7E5B-03CC25062E91}"/>
              </a:ext>
            </a:extLst>
          </p:cNvPr>
          <p:cNvSpPr txBox="1"/>
          <p:nvPr/>
        </p:nvSpPr>
        <p:spPr>
          <a:xfrm>
            <a:off x="762000" y="736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A6E3A1"/>
                </a:solidFill>
                <a:latin typeface="Segoe UI" panose="020B0502040204020203" pitchFamily="34" charset="0"/>
              </a:rPr>
              <a:t>Duree : ~2-3 minutes - Resultat : 36 ressources, pods Running</a:t>
            </a:r>
            <a:endParaRPr lang="fr-FR" sz="1400" b="1">
              <a:solidFill>
                <a:srgbClr val="A6E3A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8584BA-D981-97A4-6712-19CA2583E9B8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046E35-40DD-B085-443D-F108D60A6688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19</a:t>
            </a:r>
          </a:p>
        </p:txBody>
      </p:sp>
    </p:spTree>
    <p:extLst>
      <p:ext uri="{BB962C8B-B14F-4D97-AF65-F5344CB8AC3E}">
        <p14:creationId xmlns:p14="http://schemas.microsoft.com/office/powerpoint/2010/main" val="23987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C3B6DE-37E4-C86F-CC9D-4A1B5BB06FEB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9E612-D8BB-3ABE-1553-B98B5775ECA6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9AE0EB-E96A-65A6-42D0-D2DC78B334AD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Step 8/8 + workflow complet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F3ED90-7B17-7EE4-E733-F79EABA7E766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03 - Installation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9CA5FD-3C6F-B957-8496-ED12F35B343C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scripts/install-all.sh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18F783-19BF-8C27-0B28-B8F92D4C60E2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Segoe UI" panose="020B0502040204020203" pitchFamily="34" charset="0"/>
              </a:rPr>
              <a:t>Workflow one-shot : install-all.sh execute les 7 etapes precedentes en sequence</a:t>
            </a:r>
            <a:endParaRPr lang="fr-FR" sz="16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0A98B-5FDA-485B-391D-838AACBE197D}"/>
              </a:ext>
            </a:extLst>
          </p:cNvPr>
          <p:cNvSpPr/>
          <p:nvPr/>
        </p:nvSpPr>
        <p:spPr>
          <a:xfrm>
            <a:off x="762000" y="1905000"/>
            <a:ext cx="14732000" cy="5207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3B971BD-8F45-C912-AE4C-81D826A03899}"/>
              </a:ext>
            </a:extLst>
          </p:cNvPr>
          <p:cNvSpPr txBox="1"/>
          <p:nvPr/>
        </p:nvSpPr>
        <p:spPr>
          <a:xfrm>
            <a:off x="1016000" y="2095500"/>
            <a:ext cx="14224000" cy="440120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E3A1"/>
                </a:solidFill>
                <a:latin typeface="Consolas" panose="020B0609020204030204" pitchFamily="49" charset="0"/>
              </a:rPr>
              <a:t>#!/usr/bin/env bash
# scripts/install-all.sh - 1 seul appel pour tout monter
set -euo pipefail
SCRIPT_DIR="$(cd "$(dirname "$0")" &amp;&amp; pwd)"
bash "$SCRIPT_DIR/01-create-vms.sh"          # 3 VMs Multipass
bash "$SCRIPT_DIR/02-install-k3s.sh"         # k3s server + 2 agents
bash "$SCRIPT_DIR/03-install-storage.sh"     # Longhorn (RWX)
bash "$SCRIPT_DIR/04-install-cert-manager.sh" # cert-manager + CA local
bash "$SCRIPT_DIR/05-install-ingress.sh"     # Traefik v3
bash "$SCRIPT_DIR/06-build-images.sh"        # Docker build + import
bash "$SCRIPT_DIR/07-deploy.sh"              # kubectl apply -k
echo "[OK] LottoTi pret. Lance ./08-test-ha.sh pour les tests HA."
# Pour la demo
bash "$SCRIPT_DIR/08-test-ha.sh"             # tests scale, kill, rolling
# Pour cleanup
bash "$SCRIPT_DIR/99-teardown.sh"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EC29C7-9FB1-5FD4-5631-E8E999E107EF}"/>
              </a:ext>
            </a:extLst>
          </p:cNvPr>
          <p:cNvSpPr txBox="1"/>
          <p:nvPr/>
        </p:nvSpPr>
        <p:spPr>
          <a:xfrm>
            <a:off x="762000" y="7239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Duree totale : ~15 minutes - Reproductible sur n'importe quelle machine Multipass-compatible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E1EAB6-B6A6-94F0-8382-EC62239D1803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3D25372-688C-99BB-5F14-B0A1C7A6E134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20</a:t>
            </a:r>
          </a:p>
        </p:txBody>
      </p:sp>
    </p:spTree>
    <p:extLst>
      <p:ext uri="{BB962C8B-B14F-4D97-AF65-F5344CB8AC3E}">
        <p14:creationId xmlns:p14="http://schemas.microsoft.com/office/powerpoint/2010/main" val="1358309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CF3371-5DBE-2F86-668F-D1E9BC5D248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A3359-3DA7-F985-1B84-05D01B3FA313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15A20E-E2CD-377D-A09B-35EEA80B8901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9BDB49A-3048-FA61-F1AA-7BFF75DA583A}"/>
              </a:ext>
            </a:extLst>
          </p:cNvPr>
          <p:cNvSpPr txBox="1"/>
          <p:nvPr/>
        </p:nvSpPr>
        <p:spPr>
          <a:xfrm>
            <a:off x="4572000" y="3683000"/>
            <a:ext cx="10922000" cy="9079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5600" b="1">
                <a:solidFill>
                  <a:srgbClr val="11111B"/>
                </a:solidFill>
                <a:latin typeface="Segoe UI" panose="020B0502040204020203" pitchFamily="34" charset="0"/>
              </a:rPr>
              <a:t>Demo live + preuves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D77776-C055-D280-8EAC-91143F404D13}"/>
              </a:ext>
            </a:extLst>
          </p:cNvPr>
          <p:cNvSpPr txBox="1"/>
          <p:nvPr/>
        </p:nvSpPr>
        <p:spPr>
          <a:xfrm>
            <a:off x="4572000" y="4826000"/>
            <a:ext cx="1092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12 captures d'execution reelle de la VRAIE app</a:t>
            </a:r>
          </a:p>
        </p:txBody>
      </p:sp>
    </p:spTree>
    <p:extLst>
      <p:ext uri="{BB962C8B-B14F-4D97-AF65-F5344CB8AC3E}">
        <p14:creationId xmlns:p14="http://schemas.microsoft.com/office/powerpoint/2010/main" val="1333219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46780E-77CD-C793-1921-2A3CA8B1D58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7FF2BF-0DF6-E0DA-B27E-0F271AF4FDFE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FFD290-6043-CDD7-E583-8B5CD201C440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Cluster healthy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511137-8C3A-B726-8A90-70938C6795B4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04 - Demo : 3 nodes Ready, k3s v1.31.5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BCCD10-0BF7-16EB-3083-1453EC607A0A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335E568-EE61-AE52-06EB-BA5004A30E7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288C8C-BB8D-762F-7957-E2C98BDF5009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F90E6A-E344-86AC-02EE-54A46A36252C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F9E2AF"/>
                </a:solidFill>
                <a:latin typeface="Segoe UI" panose="020B0502040204020203" pitchFamily="34" charset="0"/>
              </a:rPr>
              <a:t>1 master + 2 workers Ready - exigence PDF respectee</a:t>
            </a:r>
            <a:endParaRPr lang="fr-FR" sz="1200">
              <a:solidFill>
                <a:srgbClr val="F9E2A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3F7F83-AE08-91F5-9B52-A1B01E899B2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36DE9C1-8E84-D8C7-1ED2-3E161C06AAA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22</a:t>
            </a:r>
          </a:p>
        </p:txBody>
      </p:sp>
    </p:spTree>
    <p:extLst>
      <p:ext uri="{BB962C8B-B14F-4D97-AF65-F5344CB8AC3E}">
        <p14:creationId xmlns:p14="http://schemas.microsoft.com/office/powerpoint/2010/main" val="1847971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82E8F7-0505-3F3D-5A59-D200120A0576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AC9036-2DCE-26CC-A420-A1FA49AA6794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259727-5C33-6E79-0DC5-C621DBBE29DD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Deploiement multi-tier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E51FC2E-B361-D754-BE78-AB6CC4DCB4F7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04 - Demo : 2 backend + 3 frontend + DB + Redis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4B0CABA-E40F-0DD5-4A90-F9B00AD306E0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3.2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97A369A-5BD4-AE3F-AF57-0201FFB64C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36C3484-9A65-CAAD-6F4F-53FDDB861A9E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B7BF3E-43F2-8ABE-FA49-5C9EF0269E8D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Replicas alignes : backend 2/2, frontend 3/3 - vraies images Flask + Next.js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18DCF7A-AC02-7011-36BE-DF2E93C3DC1B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026BB3-BE7A-2771-C9F4-35593C82306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23</a:t>
            </a:r>
          </a:p>
        </p:txBody>
      </p:sp>
    </p:spTree>
    <p:extLst>
      <p:ext uri="{BB962C8B-B14F-4D97-AF65-F5344CB8AC3E}">
        <p14:creationId xmlns:p14="http://schemas.microsoft.com/office/powerpoint/2010/main" val="1955840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76093F-2C61-3CF5-6473-BC74BCD6FB4F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B107F-1056-9098-DF50-8B093C56B417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323C9C-04EF-7EAC-31E1-7CFC3572B96C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VRAIE app LottoTi en HTTPS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7BA62F-8B0C-4AC6-DAEA-CE26BB20A5A7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04 - Demo : Browser screenshot + ingress Traefik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557AAF-B1A2-31EB-D601-E85F12E0B42E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4D88D2-D37B-C6AF-D834-54F416EBB7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2508DC-0605-5502-B85A-7D1323986ABD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62EFF36-DBA8-7E37-A574-52D5EA3A0559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Page d'accueil Lottoit live - menu Vehicules/Tarifs/FAQ - boutons Connexion/Inscription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711D00-2304-8444-FB96-1FD3F28AB1AF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8A1C4B-B500-3958-582D-52228CAB82A9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1130099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271665-C6BE-9D83-AB49-23F67C93393A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9EE79-8EC0-C1F9-9847-9AA5D66768E6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F8D58D-5154-2F90-6DF0-540987A97A77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API Flask /api/health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76C825-5733-D6A3-2EFE-5F2220C41A6B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04 - Demo : JSON valide depuis le browser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158DB2-44DE-15B4-278D-2D07EF6EC3B5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0DCDEBB-B2CD-3186-3594-2C9ECF5C74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26290D-0DFD-3BEC-048D-336A5693C8B7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C82C02-9481-4DFC-BA9C-67F7315E5C39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status:healthy + database response 4ms - vraie integration Flask-Postgres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6A3EA59-8C3C-615A-235A-570A78027135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BD526A-3D58-2E9A-1AD3-B04A9A5D1D44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25</a:t>
            </a:r>
          </a:p>
        </p:txBody>
      </p:sp>
    </p:spTree>
    <p:extLst>
      <p:ext uri="{BB962C8B-B14F-4D97-AF65-F5344CB8AC3E}">
        <p14:creationId xmlns:p14="http://schemas.microsoft.com/office/powerpoint/2010/main" val="398019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59E50-76BD-7637-679C-202BF3D78715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3C13C3-1DE1-19F9-2470-617103780E9F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241007E-D33F-8765-3BDC-61C876D6D16E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Persistance (PVC + PV)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2A8C7B-6196-57E4-4E40-730300000F6F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04 - Demo : 3 PVC Bound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132D1E7-36C8-7CE5-D1AB-9495E2241495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182FF16-A563-4A48-91C3-E2978C6ED4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E25C55-841D-D8E7-F2E3-D2F8B567086A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38EC562-BD66-76B4-9D7A-F48A113F90DD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pgdata 5Gi + redisdata 1Gi + uploads 5Gi - StorageClass longhorn (cible) ou local-path (k3d)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6D3EB2E-32B8-9034-3DC0-EA5EFFC3F9F0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2B4463E-985C-2683-10A8-F2447BDB9963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26</a:t>
            </a:r>
          </a:p>
        </p:txBody>
      </p:sp>
    </p:spTree>
    <p:extLst>
      <p:ext uri="{BB962C8B-B14F-4D97-AF65-F5344CB8AC3E}">
        <p14:creationId xmlns:p14="http://schemas.microsoft.com/office/powerpoint/2010/main" val="347766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31AD1-26CD-7E7C-4163-F42998FA4C6F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323B7-1C08-24E8-2CEE-4AC691531551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DFB001-BBC9-CBB3-1760-A5C6A76895FA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PROOF persistance DB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39FD05-475B-3D1B-3FFB-26FF31EB36C6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04 - Demo : kill postgres + donnee survit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74C262-EAAD-FDA4-9F35-A3550ECDFD63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D48738D-B5CD-5FBD-857C-5D7D343817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C6781F-1700-415D-95CA-3DF5AE61929C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F0CA563-8708-8106-2A80-DF4122A19DE2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proof_1777283282 inseree avant kill, MEME PVC UID, MEME ligne SELECT apres recreation pod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6E4973D-6638-5453-A949-004B2E1D3BB4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BFD3E7-30B2-2C4E-524E-3416F42DFA4E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27</a:t>
            </a:r>
          </a:p>
        </p:txBody>
      </p:sp>
    </p:spTree>
    <p:extLst>
      <p:ext uri="{BB962C8B-B14F-4D97-AF65-F5344CB8AC3E}">
        <p14:creationId xmlns:p14="http://schemas.microsoft.com/office/powerpoint/2010/main" val="3184997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B03C3-82B4-48E4-EA4F-9751CC0ABFD0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21BA3A-C8A0-BA98-58D8-C04AFA20FD25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481C44-51B1-D116-AE66-6BC46B803471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Secrets + ConfigMap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1CE5B4-0941-E8BA-84C1-97462374DD38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04 - Demo : Exigence PDF 3.4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210A49-D53B-090A-5E37-E38BF9FA70CB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3.4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8636B5-F5C9-D504-96A2-0900B522EE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10DD0C-3C78-7090-8083-A2CF9E2975AC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E16062F-48F4-5EA7-799D-16AC213D22BC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5 secrets Opaque (passwords + Stripe) + cert TLS - kubectl describe ne montre que les TAILLES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CB162D-54BF-7A3C-FCA8-41F6278DBEC0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6D8BD1-F122-943B-9E9A-19FA9F9717A5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716008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065BA6-ED8C-3062-2A6A-649218EDC1D1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38BEA-06E5-AEAF-6244-652742C61D76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799CEE-52E9-F839-EE9E-081108D0AF14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Ingress + TLS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5BAFEC-6A6D-BA07-AC33-4A4E20971422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it-IT" sz="1300">
                <a:solidFill>
                  <a:srgbClr val="A6ADC8"/>
                </a:solidFill>
                <a:latin typeface="Segoe UI" panose="020B0502040204020203" pitchFamily="34" charset="0"/>
              </a:rPr>
              <a:t>04 - Demo : Cert auto-signe lottoti-ca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B8808D-2E8F-ED54-AE73-153835E41969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3.4 + 3.5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7DDAB45-525B-A227-02E1-BA4AEFB62F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EC072B-E3C7-DF3A-5E56-E6735CD18613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814A388-564D-6149-C9EB-FCFCB8FF5B3D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Certificate Ready - signe par notre CA local - Traefik NodePort 30443 - HTTP 301 -&gt; HTTPS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8F57AD0-0AA6-B577-BD04-5B268495281E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CBEA30E-BAE1-17D7-4185-A85CBD7CF46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29</a:t>
            </a:r>
          </a:p>
        </p:txBody>
      </p:sp>
    </p:spTree>
    <p:extLst>
      <p:ext uri="{BB962C8B-B14F-4D97-AF65-F5344CB8AC3E}">
        <p14:creationId xmlns:p14="http://schemas.microsoft.com/office/powerpoint/2010/main" val="3304690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B95E4F-AA9F-EF6D-D551-1E5FF38F4FB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842AE9-8C91-4630-7BF9-AAC961A22547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5CD832-D5EC-19C6-A71B-D00798FF17CD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HA Scale up/down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AC27EE-E25A-416D-E1AE-38462F47E2EF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it-IT" sz="1300">
                <a:solidFill>
                  <a:srgbClr val="A6ADC8"/>
                </a:solidFill>
                <a:latin typeface="Segoe UI" panose="020B0502040204020203" pitchFamily="34" charset="0"/>
              </a:rPr>
              <a:t>04 - Demo : 3 -&gt; 6 -&gt; 3 frontend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CBA9E3B-A8ED-5921-DA06-C6CEAA2A125C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2.1.5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7A7AC1D-513D-0D4D-1828-02EE9FDC88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5512ADE-4EEC-7C93-A185-2573A5DF9C5F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9EC734F-360C-1A56-CF32-DD4AD2FFCE44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PodAntiAffinity repartit sur 3 nodes - kubectl scale en 8 secondes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5D8841-2536-4E4D-1369-19D3189E0DD5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E53E909-C1F1-A833-496B-0DFFC404AE00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30</a:t>
            </a:r>
          </a:p>
        </p:txBody>
      </p:sp>
    </p:spTree>
    <p:extLst>
      <p:ext uri="{BB962C8B-B14F-4D97-AF65-F5344CB8AC3E}">
        <p14:creationId xmlns:p14="http://schemas.microsoft.com/office/powerpoint/2010/main" val="4131207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FE699-8884-9B97-82BF-C7FD6634241D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63760-0F3F-9001-5649-A83FC1142B0B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8CC9ED-3516-412C-654D-A0CFD6D5FD0F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HA Kill pod recovery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0D29C9-78EB-0063-021D-FAEB6D594CED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04 - Demo : Recovery automatique 8s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D88DF40-6C64-69A2-BD0C-F3C90554A952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PDF 3.3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75D1F-84A5-452D-492A-7FD5A17AAE9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D5BCC6-E8AF-C089-1D79-B18418514EF0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E091FEF-13FB-406A-6ED8-7682DBDE12D7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ReplicaSet recree le pod sans intervention - service jamais down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01B6CA-3C42-EC6D-B83F-47651737985F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1CEB84E-4C28-B820-B08C-32B1EA5113FA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31</a:t>
            </a:r>
          </a:p>
        </p:txBody>
      </p:sp>
    </p:spTree>
    <p:extLst>
      <p:ext uri="{BB962C8B-B14F-4D97-AF65-F5344CB8AC3E}">
        <p14:creationId xmlns:p14="http://schemas.microsoft.com/office/powerpoint/2010/main" val="864377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715236-1ACB-26B2-1FB3-CF6774CD02F0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70CE0-70C0-2015-57FC-A8700034BD47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575186-F6DF-8FAA-20FA-D2BDC851B5EB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NetworkPolicy enforcement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0DD51D-7AF9-FC5A-A2CB-656831EBCFFE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pt-BR" sz="1300">
                <a:solidFill>
                  <a:srgbClr val="A6ADC8"/>
                </a:solidFill>
                <a:latin typeface="Segoe UI" panose="020B0502040204020203" pitchFamily="34" charset="0"/>
              </a:rPr>
              <a:t>04 - Demo : Bonus 3 +1pt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4C8508-D7B5-8247-C497-913D8A9493A9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F56AB65-84F6-7787-5F91-FC942B9C66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55E889-F6B5-D306-3423-A90EB1A22CC5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E57471-C3ED-65C7-39A3-501CE1C7DBFA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frontend-&gt;postgres BLOQUE (TCP REJECT) - backend-&gt;postgres OK - 8 policies zero-trust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F7F0F32-72F3-53AF-4070-08F76D4FD7F9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444C56-1AAF-D47E-14AD-B120FDFC9304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32</a:t>
            </a:r>
          </a:p>
        </p:txBody>
      </p:sp>
    </p:spTree>
    <p:extLst>
      <p:ext uri="{BB962C8B-B14F-4D97-AF65-F5344CB8AC3E}">
        <p14:creationId xmlns:p14="http://schemas.microsoft.com/office/powerpoint/2010/main" val="63954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63C2F-1365-346D-CC40-0DC5261C7FF5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06070-AD88-3173-D850-F98E689E7FD8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F0BDDE3-8C2B-AC59-55B9-A27AFD814084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Resource Limits + QoS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0A80BE2-59D3-5B6B-9060-5C48B9491DEC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pt-BR" sz="1300">
                <a:solidFill>
                  <a:srgbClr val="A6ADC8"/>
                </a:solidFill>
                <a:latin typeface="Segoe UI" panose="020B0502040204020203" pitchFamily="34" charset="0"/>
              </a:rPr>
              <a:t>04 - Demo : Bonus 1 +1pt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12AB14C-13A4-574C-44BC-F2AE4333697F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07A9C19-ED71-8C6A-CE3B-6099C5E700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B2A4F3-0C4F-B470-B8F5-D71D1FC28082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0873C7-1F59-1CE0-C58D-D429EDB20285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QoS Burstable sur tous les pods - requests + limits separes - metrics-server actif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18D87E-D9E8-1E5D-74B4-CC50E4DD39D4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84F45C0-370F-3050-CB26-96453654AC6F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33</a:t>
            </a:r>
          </a:p>
        </p:txBody>
      </p:sp>
    </p:spTree>
    <p:extLst>
      <p:ext uri="{BB962C8B-B14F-4D97-AF65-F5344CB8AC3E}">
        <p14:creationId xmlns:p14="http://schemas.microsoft.com/office/powerpoint/2010/main" val="2837113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9D27C-E27F-218E-16E0-C8BF798A165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F902B-9499-DA86-567C-4239B87E2D34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37574B1-DDEF-D589-2167-29531FCC6F81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E586C9C-A03E-9B26-E5B9-C601951F9432}"/>
              </a:ext>
            </a:extLst>
          </p:cNvPr>
          <p:cNvSpPr txBox="1"/>
          <p:nvPr/>
        </p:nvSpPr>
        <p:spPr>
          <a:xfrm>
            <a:off x="4572000" y="3683000"/>
            <a:ext cx="10922000" cy="9079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5600" b="1">
                <a:solidFill>
                  <a:srgbClr val="11111B"/>
                </a:solidFill>
                <a:latin typeface="Segoe UI" panose="020B0502040204020203" pitchFamily="34" charset="0"/>
              </a:rPr>
              <a:t>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3A6084-7349-2B56-9593-CD9A6D04C18E}"/>
              </a:ext>
            </a:extLst>
          </p:cNvPr>
          <p:cNvSpPr txBox="1"/>
          <p:nvPr/>
        </p:nvSpPr>
        <p:spPr>
          <a:xfrm>
            <a:off x="4572000" y="4826000"/>
            <a:ext cx="1092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6 bonus = plafond +5 pts atteint</a:t>
            </a:r>
          </a:p>
        </p:txBody>
      </p:sp>
    </p:spTree>
    <p:extLst>
      <p:ext uri="{BB962C8B-B14F-4D97-AF65-F5344CB8AC3E}">
        <p14:creationId xmlns:p14="http://schemas.microsoft.com/office/powerpoint/2010/main" val="1638996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DA023F-CDD2-EE84-9621-E17F40049355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D25D46-EDD7-4F15-59E3-101BD1C4BBA1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FC8379-5AB3-4182-AA53-A0621B82E140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2600" b="1">
                <a:solidFill>
                  <a:srgbClr val="89B4FA"/>
                </a:solidFill>
                <a:latin typeface="Segoe UI" panose="020B0502040204020203" pitchFamily="34" charset="0"/>
              </a:rPr>
              <a:t>Bonus 4 - Rolling Update zero-downtime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84096F9-B495-6EDA-204B-269DE7B8E260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05 - 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379A53-CD23-FFB1-CDB7-A4B7BB1AD2B0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4.4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E56F625-9256-A8E9-A402-B88D06F6C8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294307-2CC6-C984-1EC8-7CDB4DB00215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0822127-EF33-1611-08D8-B2D2BE0EE50D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maxSurge=1, maxUnavailable=0 - toujours &gt;= 3 pods Ready durant la maj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3D4218-5A71-E851-7734-C2BB389BEA9C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2920DF3-6F1C-1AFE-9125-8E7EDD20E0CE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35</a:t>
            </a:r>
          </a:p>
        </p:txBody>
      </p:sp>
    </p:spTree>
    <p:extLst>
      <p:ext uri="{BB962C8B-B14F-4D97-AF65-F5344CB8AC3E}">
        <p14:creationId xmlns:p14="http://schemas.microsoft.com/office/powerpoint/2010/main" val="1677637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44EFDB-9E6E-B498-FEA9-C5F84ACC9F12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3C463-3E71-B39B-8578-3404978A0681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FDC9A3-7D33-9203-7FC5-FB377999F62F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Bonus 7 - Rollback automatique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E65D16-F6AF-F02B-8D5B-6E342B125921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05 - 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303BC9-2E69-E700-DCC1-D2719EC4D9B8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4.7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A74CB99-37B3-3008-0CC0-F856BFA8D7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67603F2-ED5E-5CCD-5419-E5F12A6F9CA9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E4526B5-22D7-9727-D024-78250064FAD5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F9E2AF"/>
                </a:solidFill>
                <a:latin typeface="Segoe UI" panose="020B0502040204020203" pitchFamily="34" charset="0"/>
              </a:rPr>
              <a:t>set image DOES_NOT_EXIST -&gt; rollout undo - service jamais down (3 pods sains continuent)</a:t>
            </a:r>
            <a:endParaRPr lang="fr-FR" sz="1200">
              <a:solidFill>
                <a:srgbClr val="F9E2A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7B316E-CDA4-16D7-DB84-2BD57FE55231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BFD3A28-7717-3B79-5B37-F179CAF0F3D0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36</a:t>
            </a:r>
          </a:p>
        </p:txBody>
      </p:sp>
    </p:spTree>
    <p:extLst>
      <p:ext uri="{BB962C8B-B14F-4D97-AF65-F5344CB8AC3E}">
        <p14:creationId xmlns:p14="http://schemas.microsoft.com/office/powerpoint/2010/main" val="41674627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E1DB77-FEF3-804E-9226-384BED71D54B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33E48F-6774-EF08-FACE-47D9067A2F73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6EEB63-E52A-A3FC-4D5D-D0F98A24BE66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Bonus 5 - HPA Autoscaling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2FF01B-5C2C-C500-B8D4-C5AC49CCC0E7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05 - 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6952D9-B264-5491-14CA-CA9FA5F12887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FD52973-7BD5-4583-7A11-1D6A4A9962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5431A6F-D587-4341-485A-84B228BCD18D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449EBF-E015-20ED-531E-85AC5BE78ED3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metrics-server actif - SuccessfulRescale 1-&gt;2 sur depassement seuil memory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A5F400-8C94-3152-A278-9DCDA383FBC3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6523711-5221-B95E-C0C1-28B2F9288ED8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37</a:t>
            </a:r>
          </a:p>
        </p:txBody>
      </p:sp>
    </p:spTree>
    <p:extLst>
      <p:ext uri="{BB962C8B-B14F-4D97-AF65-F5344CB8AC3E}">
        <p14:creationId xmlns:p14="http://schemas.microsoft.com/office/powerpoint/2010/main" val="405070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2D36EC-234C-ECF0-5D3B-B3831ED1DAE8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68515B-3E37-29B1-7B44-96D2EB826892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55FD47C-EFF2-F81E-F7B7-DB2BBAB7DE60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Bonus 8 - Helm Chart parametrable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6D591AD-30F8-A3E5-D41A-79B68AB9624E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05 - 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D0C9FA-AE84-841F-5D5C-736C36F5081A}"/>
              </a:ext>
            </a:extLst>
          </p:cNvPr>
          <p:cNvSpPr txBox="1"/>
          <p:nvPr/>
        </p:nvSpPr>
        <p:spPr>
          <a:xfrm>
            <a:off x="12065000" y="381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Bonus PDF 4.8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00ABFC2-0631-D56F-07FC-87481C47EE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70000"/>
            <a:ext cx="1473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B19CB2-B6A4-13BE-BA7D-820AE7020745}"/>
              </a:ext>
            </a:extLst>
          </p:cNvPr>
          <p:cNvSpPr/>
          <p:nvPr/>
        </p:nvSpPr>
        <p:spPr>
          <a:xfrm>
            <a:off x="762000" y="8191500"/>
            <a:ext cx="14732000" cy="4445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A69D2D4-8517-740E-4A7F-EE24D1DA40EA}"/>
              </a:ext>
            </a:extLst>
          </p:cNvPr>
          <p:cNvSpPr txBox="1"/>
          <p:nvPr/>
        </p:nvSpPr>
        <p:spPr>
          <a:xfrm>
            <a:off x="952500" y="82677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9E2AF"/>
                </a:solidFill>
                <a:latin typeface="Segoe UI" panose="020B0502040204020203" pitchFamily="34" charset="0"/>
              </a:rPr>
              <a:t>charts/lottoti/ - helm install/upgrade/rollback testes en namespace lottoti-helm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F70B485-C537-D892-7CDD-6AE8C4E5E570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373D076-5EBF-CE16-482E-169E799413BD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38</a:t>
            </a:r>
          </a:p>
        </p:txBody>
      </p:sp>
    </p:spTree>
    <p:extLst>
      <p:ext uri="{BB962C8B-B14F-4D97-AF65-F5344CB8AC3E}">
        <p14:creationId xmlns:p14="http://schemas.microsoft.com/office/powerpoint/2010/main" val="3017436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36E4F9-0740-A6C2-0432-C9031E2D1B1E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AFBC2-8886-D3E0-EDAF-62CB7872BE7F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F1B886-EBB0-224E-3798-81273AB09716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Recapitulatif des 6 bonus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9DB191-6ACE-AA42-3536-885036CD59D8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05 - Bonus implementes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3B3EF3-66D7-0D27-1B53-EF4F91658F3C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Plafond +5 pts atteint - 6 bonus implementes pour avoir une marge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1BC37-57E7-E9E3-1C6B-BB17E20A95A7}"/>
              </a:ext>
            </a:extLst>
          </p:cNvPr>
          <p:cNvSpPr/>
          <p:nvPr/>
        </p:nvSpPr>
        <p:spPr>
          <a:xfrm>
            <a:off x="762000" y="2032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1B7A8-DE78-11EE-7F76-1C5BDE458B9A}"/>
              </a:ext>
            </a:extLst>
          </p:cNvPr>
          <p:cNvSpPr/>
          <p:nvPr/>
        </p:nvSpPr>
        <p:spPr>
          <a:xfrm>
            <a:off x="762000" y="2032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9C2078-4EED-30F9-2327-97709F5EE334}"/>
              </a:ext>
            </a:extLst>
          </p:cNvPr>
          <p:cNvSpPr txBox="1"/>
          <p:nvPr/>
        </p:nvSpPr>
        <p:spPr>
          <a:xfrm>
            <a:off x="1143000" y="2260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FFD5DA-5249-6A7C-9B21-D9B4A9559571}"/>
              </a:ext>
            </a:extLst>
          </p:cNvPr>
          <p:cNvSpPr txBox="1"/>
          <p:nvPr/>
        </p:nvSpPr>
        <p:spPr>
          <a:xfrm>
            <a:off x="2159000" y="2184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Resource Requests &amp; Limits + QoS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F1DEBB-9241-6C4B-E372-3A5A6912DCC5}"/>
              </a:ext>
            </a:extLst>
          </p:cNvPr>
          <p:cNvSpPr txBox="1"/>
          <p:nvPr/>
        </p:nvSpPr>
        <p:spPr>
          <a:xfrm>
            <a:off x="2159000" y="2540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Tous les Deployments + StatefulSets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DB49C5-A4B9-9E11-040F-5825488A0B4F}"/>
              </a:ext>
            </a:extLst>
          </p:cNvPr>
          <p:cNvSpPr txBox="1"/>
          <p:nvPr/>
        </p:nvSpPr>
        <p:spPr>
          <a:xfrm>
            <a:off x="13716000" y="2311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467678-5EF9-1045-0215-5531F703CB11}"/>
              </a:ext>
            </a:extLst>
          </p:cNvPr>
          <p:cNvSpPr/>
          <p:nvPr/>
        </p:nvSpPr>
        <p:spPr>
          <a:xfrm>
            <a:off x="762000" y="3048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0471A1-59B8-593B-8F56-E896C77F11A8}"/>
              </a:ext>
            </a:extLst>
          </p:cNvPr>
          <p:cNvSpPr/>
          <p:nvPr/>
        </p:nvSpPr>
        <p:spPr>
          <a:xfrm>
            <a:off x="762000" y="3048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3A8D30B-66AC-955D-5D46-37ED1134C3BA}"/>
              </a:ext>
            </a:extLst>
          </p:cNvPr>
          <p:cNvSpPr txBox="1"/>
          <p:nvPr/>
        </p:nvSpPr>
        <p:spPr>
          <a:xfrm>
            <a:off x="1143000" y="3276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C30BBF9-AC32-F0DF-83F0-4F8B302DC70B}"/>
              </a:ext>
            </a:extLst>
          </p:cNvPr>
          <p:cNvSpPr txBox="1"/>
          <p:nvPr/>
        </p:nvSpPr>
        <p:spPr>
          <a:xfrm>
            <a:off x="2159000" y="3200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NetworkPolicy zero-trust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14654D-5D33-1E82-55CA-F83A7158BEBF}"/>
              </a:ext>
            </a:extLst>
          </p:cNvPr>
          <p:cNvSpPr txBox="1"/>
          <p:nvPr/>
        </p:nvSpPr>
        <p:spPr>
          <a:xfrm>
            <a:off x="2159000" y="3556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8 policies dans 60-policies/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EBB3696-0B08-D5A1-379E-E52842DF2AA7}"/>
              </a:ext>
            </a:extLst>
          </p:cNvPr>
          <p:cNvSpPr txBox="1"/>
          <p:nvPr/>
        </p:nvSpPr>
        <p:spPr>
          <a:xfrm>
            <a:off x="13716000" y="3327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3651F-B360-84BE-0426-9BB2C040AA88}"/>
              </a:ext>
            </a:extLst>
          </p:cNvPr>
          <p:cNvSpPr/>
          <p:nvPr/>
        </p:nvSpPr>
        <p:spPr>
          <a:xfrm>
            <a:off x="762000" y="4064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E2E4AF-D409-8F9B-388D-4C3A8B193384}"/>
              </a:ext>
            </a:extLst>
          </p:cNvPr>
          <p:cNvSpPr/>
          <p:nvPr/>
        </p:nvSpPr>
        <p:spPr>
          <a:xfrm>
            <a:off x="762000" y="4064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D835697-918D-57D5-EF21-BA77D0A7C9BF}"/>
              </a:ext>
            </a:extLst>
          </p:cNvPr>
          <p:cNvSpPr txBox="1"/>
          <p:nvPr/>
        </p:nvSpPr>
        <p:spPr>
          <a:xfrm>
            <a:off x="1143000" y="4292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3F11752-DBFA-5448-A392-8E4F8B3C3D7A}"/>
              </a:ext>
            </a:extLst>
          </p:cNvPr>
          <p:cNvSpPr txBox="1"/>
          <p:nvPr/>
        </p:nvSpPr>
        <p:spPr>
          <a:xfrm>
            <a:off x="2159000" y="4216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Rolling Update + maxUnavailable=0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0DB109-14DB-84EF-86AE-89D854E7402B}"/>
              </a:ext>
            </a:extLst>
          </p:cNvPr>
          <p:cNvSpPr txBox="1"/>
          <p:nvPr/>
        </p:nvSpPr>
        <p:spPr>
          <a:xfrm>
            <a:off x="2159000" y="4572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A6ADC8"/>
                </a:solidFill>
                <a:latin typeface="Consolas" panose="020B0609020204030204" pitchFamily="49" charset="0"/>
              </a:rPr>
              <a:t>Strategy dans backend + frontend Deployments</a:t>
            </a:r>
            <a:endParaRPr lang="fr-FR" sz="1200">
              <a:solidFill>
                <a:srgbClr val="A6ADC8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1796C85-BF75-683B-B3A2-D25718F895F4}"/>
              </a:ext>
            </a:extLst>
          </p:cNvPr>
          <p:cNvSpPr txBox="1"/>
          <p:nvPr/>
        </p:nvSpPr>
        <p:spPr>
          <a:xfrm>
            <a:off x="13716000" y="4343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B9A92-1D71-2536-CBCD-510A6C5EC80C}"/>
              </a:ext>
            </a:extLst>
          </p:cNvPr>
          <p:cNvSpPr/>
          <p:nvPr/>
        </p:nvSpPr>
        <p:spPr>
          <a:xfrm>
            <a:off x="762000" y="5080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B8C7C0-0067-3AFF-C636-A174BA40C320}"/>
              </a:ext>
            </a:extLst>
          </p:cNvPr>
          <p:cNvSpPr/>
          <p:nvPr/>
        </p:nvSpPr>
        <p:spPr>
          <a:xfrm>
            <a:off x="762000" y="5080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1926FDB-1FFB-C9BD-3932-E7957AF09D53}"/>
              </a:ext>
            </a:extLst>
          </p:cNvPr>
          <p:cNvSpPr txBox="1"/>
          <p:nvPr/>
        </p:nvSpPr>
        <p:spPr>
          <a:xfrm>
            <a:off x="1143000" y="5308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4611A6E-CF33-5C26-9B84-CD8DC822D741}"/>
              </a:ext>
            </a:extLst>
          </p:cNvPr>
          <p:cNvSpPr txBox="1"/>
          <p:nvPr/>
        </p:nvSpPr>
        <p:spPr>
          <a:xfrm>
            <a:off x="2159000" y="5232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HPA Autoscaling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E07D5AE-CD4E-390C-9A29-B30E8A48485E}"/>
              </a:ext>
            </a:extLst>
          </p:cNvPr>
          <p:cNvSpPr txBox="1"/>
          <p:nvPr/>
        </p:nvSpPr>
        <p:spPr>
          <a:xfrm>
            <a:off x="2159000" y="5588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HPA backend (1-4) + frontend (3-10)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00154C4-3CF4-A973-A11C-EA4750C5B648}"/>
              </a:ext>
            </a:extLst>
          </p:cNvPr>
          <p:cNvSpPr txBox="1"/>
          <p:nvPr/>
        </p:nvSpPr>
        <p:spPr>
          <a:xfrm>
            <a:off x="13716000" y="5359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FD6A3D-4B97-B46A-218C-7D2C476872D7}"/>
              </a:ext>
            </a:extLst>
          </p:cNvPr>
          <p:cNvSpPr/>
          <p:nvPr/>
        </p:nvSpPr>
        <p:spPr>
          <a:xfrm>
            <a:off x="762000" y="6096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181FCE-82C2-5862-0E97-FA864FDE8ACB}"/>
              </a:ext>
            </a:extLst>
          </p:cNvPr>
          <p:cNvSpPr/>
          <p:nvPr/>
        </p:nvSpPr>
        <p:spPr>
          <a:xfrm>
            <a:off x="762000" y="6096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DB12C2D-4F5B-B476-78D1-0E9011D2F467}"/>
              </a:ext>
            </a:extLst>
          </p:cNvPr>
          <p:cNvSpPr txBox="1"/>
          <p:nvPr/>
        </p:nvSpPr>
        <p:spPr>
          <a:xfrm>
            <a:off x="1143000" y="6324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F873FF7-C2DD-5CE5-FC30-9400E4167586}"/>
              </a:ext>
            </a:extLst>
          </p:cNvPr>
          <p:cNvSpPr txBox="1"/>
          <p:nvPr/>
        </p:nvSpPr>
        <p:spPr>
          <a:xfrm>
            <a:off x="2159000" y="6248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Rollback automatique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A83CAD8-A532-52E2-0735-D8B834069CB4}"/>
              </a:ext>
            </a:extLst>
          </p:cNvPr>
          <p:cNvSpPr txBox="1"/>
          <p:nvPr/>
        </p:nvSpPr>
        <p:spPr>
          <a:xfrm>
            <a:off x="2159000" y="6604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rollout undo + revisionHistoryLimit=5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B157456-0E12-C0EF-B2BF-94FD5126BA0C}"/>
              </a:ext>
            </a:extLst>
          </p:cNvPr>
          <p:cNvSpPr txBox="1"/>
          <p:nvPr/>
        </p:nvSpPr>
        <p:spPr>
          <a:xfrm>
            <a:off x="13716000" y="6375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6F68EF-AC07-0A1A-BF5D-93EA496D0655}"/>
              </a:ext>
            </a:extLst>
          </p:cNvPr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B370F1-820C-9CC0-7DF0-D8FCC57DA274}"/>
              </a:ext>
            </a:extLst>
          </p:cNvPr>
          <p:cNvSpPr/>
          <p:nvPr/>
        </p:nvSpPr>
        <p:spPr>
          <a:xfrm>
            <a:off x="762000" y="7112000"/>
            <a:ext cx="76200" cy="889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678A1EB-4A72-A5A4-ED6E-693A8308D255}"/>
              </a:ext>
            </a:extLst>
          </p:cNvPr>
          <p:cNvSpPr txBox="1"/>
          <p:nvPr/>
        </p:nvSpPr>
        <p:spPr>
          <a:xfrm>
            <a:off x="1143000" y="7340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CBA6F7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8D4DE660-542E-EEE0-20A0-463F20523970}"/>
              </a:ext>
            </a:extLst>
          </p:cNvPr>
          <p:cNvSpPr txBox="1"/>
          <p:nvPr/>
        </p:nvSpPr>
        <p:spPr>
          <a:xfrm>
            <a:off x="2159000" y="7264400"/>
            <a:ext cx="889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Helm Chart parametrable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6AA7299-0696-AE84-7C52-63BE41F862FA}"/>
              </a:ext>
            </a:extLst>
          </p:cNvPr>
          <p:cNvSpPr txBox="1"/>
          <p:nvPr/>
        </p:nvSpPr>
        <p:spPr>
          <a:xfrm>
            <a:off x="2159000" y="7620000"/>
            <a:ext cx="889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charts/lottoti/ (24 templates)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281DB92-C9F6-EA9C-8C62-13A911791B90}"/>
              </a:ext>
            </a:extLst>
          </p:cNvPr>
          <p:cNvSpPr txBox="1"/>
          <p:nvPr/>
        </p:nvSpPr>
        <p:spPr>
          <a:xfrm>
            <a:off x="13716000" y="7391400"/>
            <a:ext cx="1016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400" b="1">
                <a:solidFill>
                  <a:srgbClr val="CBA6F7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351A4AD-9A4D-8203-7F0A-8BF4E685EBFD}"/>
              </a:ext>
            </a:extLst>
          </p:cNvPr>
          <p:cNvSpPr txBox="1"/>
          <p:nvPr/>
        </p:nvSpPr>
        <p:spPr>
          <a:xfrm>
            <a:off x="762000" y="8382000"/>
            <a:ext cx="1016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CBA6F7"/>
                </a:solidFill>
                <a:latin typeface="Segoe UI" panose="020B0502040204020203" pitchFamily="34" charset="0"/>
              </a:rPr>
              <a:t>Total bonus : 6 x +1pt - plafonne a +5pts par le sujet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0880B6D-7DEB-026F-01F5-399B64AA40FB}"/>
              </a:ext>
            </a:extLst>
          </p:cNvPr>
          <p:cNvSpPr txBox="1"/>
          <p:nvPr/>
        </p:nvSpPr>
        <p:spPr>
          <a:xfrm>
            <a:off x="13970000" y="8318500"/>
            <a:ext cx="1524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2800" b="1">
                <a:solidFill>
                  <a:srgbClr val="CBA6F7"/>
                </a:solidFill>
                <a:latin typeface="Segoe UI" panose="020B0502040204020203" pitchFamily="34" charset="0"/>
              </a:rPr>
              <a:t>+5 / +5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F144A1A-B1A4-5ABF-2330-41049BEDD65E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36B6A6A-CCFF-F4FE-7879-064979AE04A6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39</a:t>
            </a:r>
          </a:p>
        </p:txBody>
      </p:sp>
    </p:spTree>
    <p:extLst>
      <p:ext uri="{BB962C8B-B14F-4D97-AF65-F5344CB8AC3E}">
        <p14:creationId xmlns:p14="http://schemas.microsoft.com/office/powerpoint/2010/main" val="639617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8180DA-605A-D975-B119-1186DF25AFF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C5D562-A6C3-CD71-EBAC-1D056DB97854}"/>
              </a:ext>
            </a:extLst>
          </p:cNvPr>
          <p:cNvSpPr/>
          <p:nvPr/>
        </p:nvSpPr>
        <p:spPr>
          <a:xfrm>
            <a:off x="0" y="3048000"/>
            <a:ext cx="16256000" cy="3048000"/>
          </a:xfrm>
          <a:prstGeom prst="rect">
            <a:avLst/>
          </a:prstGeom>
          <a:solidFill>
            <a:srgbClr val="F5C2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89B095-397A-40F9-F4CC-2F17CB720EF1}"/>
              </a:ext>
            </a:extLst>
          </p:cNvPr>
          <p:cNvSpPr txBox="1"/>
          <p:nvPr/>
        </p:nvSpPr>
        <p:spPr>
          <a:xfrm>
            <a:off x="762000" y="2540000"/>
            <a:ext cx="3556000" cy="286232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8000" b="1">
                <a:solidFill>
                  <a:srgbClr val="11111B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BFCF16A-9DD2-F947-F918-9C77A353E2AA}"/>
              </a:ext>
            </a:extLst>
          </p:cNvPr>
          <p:cNvSpPr txBox="1"/>
          <p:nvPr/>
        </p:nvSpPr>
        <p:spPr>
          <a:xfrm>
            <a:off x="4572000" y="3683000"/>
            <a:ext cx="10922000" cy="9079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5600" b="1">
                <a:solidFill>
                  <a:srgbClr val="11111B"/>
                </a:solidFill>
                <a:latin typeface="Segoe UI" panose="020B0502040204020203" pitchFamily="34" charset="0"/>
              </a:rPr>
              <a:t>Bilan + Q&amp;A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C5C7088-5B87-C197-39E3-13D71D4144CA}"/>
              </a:ext>
            </a:extLst>
          </p:cNvPr>
          <p:cNvSpPr txBox="1"/>
          <p:nvPr/>
        </p:nvSpPr>
        <p:spPr>
          <a:xfrm>
            <a:off x="4572000" y="4826000"/>
            <a:ext cx="1092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>
                <a:solidFill>
                  <a:srgbClr val="11111B"/>
                </a:solidFill>
                <a:latin typeface="Segoe UI" panose="020B0502040204020203" pitchFamily="34" charset="0"/>
              </a:rPr>
              <a:t>Mapping bareme + comment reproduire</a:t>
            </a:r>
          </a:p>
        </p:txBody>
      </p:sp>
    </p:spTree>
    <p:extLst>
      <p:ext uri="{BB962C8B-B14F-4D97-AF65-F5344CB8AC3E}">
        <p14:creationId xmlns:p14="http://schemas.microsoft.com/office/powerpoint/2010/main" val="2621729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FCF35-FE8D-9055-37BC-1CC98948BA4F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3B4507-B351-FCB3-63C5-DDC345010C1A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A18AA9B-8E4F-2342-61A3-661F0F05FB8E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Bareme detaille - mapping PDF section 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ABFBEB-8258-6BFB-6739-D01FAAB62814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06 - Bilan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82789B-8A0B-8BB9-12AB-36D209D7555E}"/>
              </a:ext>
            </a:extLst>
          </p:cNvPr>
          <p:cNvSpPr txBox="1"/>
          <p:nvPr/>
        </p:nvSpPr>
        <p:spPr>
          <a:xfrm>
            <a:off x="762000" y="1270000"/>
            <a:ext cx="1016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BASE (15 / 15 pts)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97B9C-AD90-1008-0BE2-67C9F643EAA5}"/>
              </a:ext>
            </a:extLst>
          </p:cNvPr>
          <p:cNvSpPr/>
          <p:nvPr/>
        </p:nvSpPr>
        <p:spPr>
          <a:xfrm>
            <a:off x="762000" y="17145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94360-3179-B8D6-9766-AD39345DD3AD}"/>
              </a:ext>
            </a:extLst>
          </p:cNvPr>
          <p:cNvSpPr/>
          <p:nvPr/>
        </p:nvSpPr>
        <p:spPr>
          <a:xfrm>
            <a:off x="762000" y="17145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921229A-2D2B-78F3-130D-79FC7A9D42EB}"/>
              </a:ext>
            </a:extLst>
          </p:cNvPr>
          <p:cNvSpPr txBox="1"/>
          <p:nvPr/>
        </p:nvSpPr>
        <p:spPr>
          <a:xfrm>
            <a:off x="1016000" y="17907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208317-F2E4-8E71-90DE-A1A034C44288}"/>
              </a:ext>
            </a:extLst>
          </p:cNvPr>
          <p:cNvSpPr txBox="1"/>
          <p:nvPr/>
        </p:nvSpPr>
        <p:spPr>
          <a:xfrm>
            <a:off x="1524000" y="17907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Cluster (1 master + 2 workers)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59C4490-E50E-B910-1081-68F5EDDA601F}"/>
              </a:ext>
            </a:extLst>
          </p:cNvPr>
          <p:cNvSpPr txBox="1"/>
          <p:nvPr/>
        </p:nvSpPr>
        <p:spPr>
          <a:xfrm>
            <a:off x="7620000" y="17907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26E6E4-313C-568D-464C-8C8AAA661E96}"/>
              </a:ext>
            </a:extLst>
          </p:cNvPr>
          <p:cNvSpPr txBox="1"/>
          <p:nvPr/>
        </p:nvSpPr>
        <p:spPr>
          <a:xfrm>
            <a:off x="8636000" y="17907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88DA51-A40C-F53C-1266-9C3C81EE4C18}"/>
              </a:ext>
            </a:extLst>
          </p:cNvPr>
          <p:cNvSpPr/>
          <p:nvPr/>
        </p:nvSpPr>
        <p:spPr>
          <a:xfrm>
            <a:off x="762000" y="21717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E9FBA2-EBE6-6A4C-1E2D-A799B765C1FA}"/>
              </a:ext>
            </a:extLst>
          </p:cNvPr>
          <p:cNvSpPr/>
          <p:nvPr/>
        </p:nvSpPr>
        <p:spPr>
          <a:xfrm>
            <a:off x="762000" y="21717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03DC31D-C1B6-30FA-98AD-8B9B3E878D4C}"/>
              </a:ext>
            </a:extLst>
          </p:cNvPr>
          <p:cNvSpPr txBox="1"/>
          <p:nvPr/>
        </p:nvSpPr>
        <p:spPr>
          <a:xfrm>
            <a:off x="1016000" y="22479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7CEB64C-895B-DBD2-EBD5-B16CD68FABF7}"/>
              </a:ext>
            </a:extLst>
          </p:cNvPr>
          <p:cNvSpPr txBox="1"/>
          <p:nvPr/>
        </p:nvSpPr>
        <p:spPr>
          <a:xfrm>
            <a:off x="1524000" y="22479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Deploiement (front + back + DB)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D5CCD1C-8D7F-C2AE-53DD-0E7A1DEC12AA}"/>
              </a:ext>
            </a:extLst>
          </p:cNvPr>
          <p:cNvSpPr txBox="1"/>
          <p:nvPr/>
        </p:nvSpPr>
        <p:spPr>
          <a:xfrm>
            <a:off x="7620000" y="22479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5 pts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E425818-C3EA-7304-A6D4-D9D5D93A5CC1}"/>
              </a:ext>
            </a:extLst>
          </p:cNvPr>
          <p:cNvSpPr txBox="1"/>
          <p:nvPr/>
        </p:nvSpPr>
        <p:spPr>
          <a:xfrm>
            <a:off x="8636000" y="22479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02 + 10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C61FB-1D98-1819-3FBA-3CC1887A5C55}"/>
              </a:ext>
            </a:extLst>
          </p:cNvPr>
          <p:cNvSpPr/>
          <p:nvPr/>
        </p:nvSpPr>
        <p:spPr>
          <a:xfrm>
            <a:off x="762000" y="26289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731B1-7C82-5EC4-3612-370B72C072DB}"/>
              </a:ext>
            </a:extLst>
          </p:cNvPr>
          <p:cNvSpPr/>
          <p:nvPr/>
        </p:nvSpPr>
        <p:spPr>
          <a:xfrm>
            <a:off x="762000" y="26289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7EE97B6-CB6F-D386-3F00-240341A4E2B6}"/>
              </a:ext>
            </a:extLst>
          </p:cNvPr>
          <p:cNvSpPr txBox="1"/>
          <p:nvPr/>
        </p:nvSpPr>
        <p:spPr>
          <a:xfrm>
            <a:off x="1016000" y="27051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2349CD8-A19A-F0F7-673B-8F4A6374F6E0}"/>
              </a:ext>
            </a:extLst>
          </p:cNvPr>
          <p:cNvSpPr txBox="1"/>
          <p:nvPr/>
        </p:nvSpPr>
        <p:spPr>
          <a:xfrm>
            <a:off x="1524000" y="27051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Persistance (volumes survivent)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F7FC96E-E2EC-1DDC-2823-29E78425A4A4}"/>
              </a:ext>
            </a:extLst>
          </p:cNvPr>
          <p:cNvSpPr txBox="1"/>
          <p:nvPr/>
        </p:nvSpPr>
        <p:spPr>
          <a:xfrm>
            <a:off x="7620000" y="27051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B37EA6E-F668-FC8C-78DB-B3DDAD85C816}"/>
              </a:ext>
            </a:extLst>
          </p:cNvPr>
          <p:cNvSpPr txBox="1"/>
          <p:nvPr/>
        </p:nvSpPr>
        <p:spPr>
          <a:xfrm>
            <a:off x="8636000" y="27051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03 + 07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92DA57-43E4-6D5F-6C4E-431B4DAD0361}"/>
              </a:ext>
            </a:extLst>
          </p:cNvPr>
          <p:cNvSpPr/>
          <p:nvPr/>
        </p:nvSpPr>
        <p:spPr>
          <a:xfrm>
            <a:off x="762000" y="30861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977960-C941-15FE-D2A2-0A90AB60F8AB}"/>
              </a:ext>
            </a:extLst>
          </p:cNvPr>
          <p:cNvSpPr/>
          <p:nvPr/>
        </p:nvSpPr>
        <p:spPr>
          <a:xfrm>
            <a:off x="762000" y="30861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EA0A345-8190-5738-5914-AF9D663BAAAA}"/>
              </a:ext>
            </a:extLst>
          </p:cNvPr>
          <p:cNvSpPr txBox="1"/>
          <p:nvPr/>
        </p:nvSpPr>
        <p:spPr>
          <a:xfrm>
            <a:off x="1016000" y="31623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D5757EC-66C5-57E1-ABAE-FB90DC8E605A}"/>
              </a:ext>
            </a:extLst>
          </p:cNvPr>
          <p:cNvSpPr txBox="1"/>
          <p:nvPr/>
        </p:nvSpPr>
        <p:spPr>
          <a:xfrm>
            <a:off x="1524000" y="31623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Securite (Secrets + HTTPS)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540515-4F0C-51B9-2110-C7432E8643F8}"/>
              </a:ext>
            </a:extLst>
          </p:cNvPr>
          <p:cNvSpPr txBox="1"/>
          <p:nvPr/>
        </p:nvSpPr>
        <p:spPr>
          <a:xfrm>
            <a:off x="7620000" y="31623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6F1F47D-5E5E-4582-2BF2-357AE6C8C724}"/>
              </a:ext>
            </a:extLst>
          </p:cNvPr>
          <p:cNvSpPr txBox="1"/>
          <p:nvPr/>
        </p:nvSpPr>
        <p:spPr>
          <a:xfrm>
            <a:off x="8636000" y="31623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04 + 14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1E7F9B-CFCC-D5F2-FBB4-0173CEA12842}"/>
              </a:ext>
            </a:extLst>
          </p:cNvPr>
          <p:cNvSpPr/>
          <p:nvPr/>
        </p:nvSpPr>
        <p:spPr>
          <a:xfrm>
            <a:off x="762000" y="35433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3A653E-1C5B-5D57-1633-26DDB376C194}"/>
              </a:ext>
            </a:extLst>
          </p:cNvPr>
          <p:cNvSpPr/>
          <p:nvPr/>
        </p:nvSpPr>
        <p:spPr>
          <a:xfrm>
            <a:off x="762000" y="35433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1F4441A-55DC-4602-C236-CC4C2CFF7EA0}"/>
              </a:ext>
            </a:extLst>
          </p:cNvPr>
          <p:cNvSpPr txBox="1"/>
          <p:nvPr/>
        </p:nvSpPr>
        <p:spPr>
          <a:xfrm>
            <a:off x="1016000" y="36195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54DED1A-6279-0F2A-3D39-E8326BEA5E6A}"/>
              </a:ext>
            </a:extLst>
          </p:cNvPr>
          <p:cNvSpPr txBox="1"/>
          <p:nvPr/>
        </p:nvSpPr>
        <p:spPr>
          <a:xfrm>
            <a:off x="1524000" y="36195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Exposition (Ingress + DNS)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E968337-E988-1B58-E86F-BD6E4D629395}"/>
              </a:ext>
            </a:extLst>
          </p:cNvPr>
          <p:cNvSpPr txBox="1"/>
          <p:nvPr/>
        </p:nvSpPr>
        <p:spPr>
          <a:xfrm>
            <a:off x="7620000" y="36195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FB0840A-8AC9-063B-C852-D519B39B8EBE}"/>
              </a:ext>
            </a:extLst>
          </p:cNvPr>
          <p:cNvSpPr txBox="1"/>
          <p:nvPr/>
        </p:nvSpPr>
        <p:spPr>
          <a:xfrm>
            <a:off x="8636000" y="36195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04 + 10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A75348-6967-FD05-CF16-9976F4D66A84}"/>
              </a:ext>
            </a:extLst>
          </p:cNvPr>
          <p:cNvSpPr/>
          <p:nvPr/>
        </p:nvSpPr>
        <p:spPr>
          <a:xfrm>
            <a:off x="762000" y="40005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216C91-212C-67A0-8728-F0BB9BC96499}"/>
              </a:ext>
            </a:extLst>
          </p:cNvPr>
          <p:cNvSpPr/>
          <p:nvPr/>
        </p:nvSpPr>
        <p:spPr>
          <a:xfrm>
            <a:off x="762000" y="40005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0B082CC-C7B4-EF15-38D2-D6676FF3F926}"/>
              </a:ext>
            </a:extLst>
          </p:cNvPr>
          <p:cNvSpPr txBox="1"/>
          <p:nvPr/>
        </p:nvSpPr>
        <p:spPr>
          <a:xfrm>
            <a:off x="1016000" y="40767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8AD08C8-9EFE-9EA6-1AB6-43C56B3B7FC6}"/>
              </a:ext>
            </a:extLst>
          </p:cNvPr>
          <p:cNvSpPr txBox="1"/>
          <p:nvPr/>
        </p:nvSpPr>
        <p:spPr>
          <a:xfrm>
            <a:off x="1524000" y="40767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Documentation &amp; scripts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FB36733-6B6E-2B56-6DCC-0C89759A9063}"/>
              </a:ext>
            </a:extLst>
          </p:cNvPr>
          <p:cNvSpPr txBox="1"/>
          <p:nvPr/>
        </p:nvSpPr>
        <p:spPr>
          <a:xfrm>
            <a:off x="7620000" y="40767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3A08CA3-655A-BD16-B57D-FB8786B21DAF}"/>
              </a:ext>
            </a:extLst>
          </p:cNvPr>
          <p:cNvSpPr txBox="1"/>
          <p:nvPr/>
        </p:nvSpPr>
        <p:spPr>
          <a:xfrm>
            <a:off x="8636000" y="40767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16 captures + scripts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6ECFD5F-8CFF-E74D-EDDD-88675A8E1592}"/>
              </a:ext>
            </a:extLst>
          </p:cNvPr>
          <p:cNvSpPr txBox="1"/>
          <p:nvPr/>
        </p:nvSpPr>
        <p:spPr>
          <a:xfrm>
            <a:off x="762000" y="4610100"/>
            <a:ext cx="1016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BONUS (+5 / +5 pts plafond)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FDDA0F-B74C-9641-2CD3-ADCA15EBD0E1}"/>
              </a:ext>
            </a:extLst>
          </p:cNvPr>
          <p:cNvSpPr/>
          <p:nvPr/>
        </p:nvSpPr>
        <p:spPr>
          <a:xfrm>
            <a:off x="762000" y="50546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43E1355-1C97-FAAA-F710-781B6B026428}"/>
              </a:ext>
            </a:extLst>
          </p:cNvPr>
          <p:cNvSpPr/>
          <p:nvPr/>
        </p:nvSpPr>
        <p:spPr>
          <a:xfrm>
            <a:off x="762000" y="50546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8DDFB3B-CA22-D480-9726-6A8484962197}"/>
              </a:ext>
            </a:extLst>
          </p:cNvPr>
          <p:cNvSpPr txBox="1"/>
          <p:nvPr/>
        </p:nvSpPr>
        <p:spPr>
          <a:xfrm>
            <a:off x="1016000" y="51054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5232E6C-23D7-7EE2-6E82-B2ECBDAB65B1}"/>
              </a:ext>
            </a:extLst>
          </p:cNvPr>
          <p:cNvSpPr txBox="1"/>
          <p:nvPr/>
        </p:nvSpPr>
        <p:spPr>
          <a:xfrm>
            <a:off x="1524000" y="51054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1 - Resource Limits + QoS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1331848-F8E5-F793-9C43-BE7276CEEE4F}"/>
              </a:ext>
            </a:extLst>
          </p:cNvPr>
          <p:cNvSpPr txBox="1"/>
          <p:nvPr/>
        </p:nvSpPr>
        <p:spPr>
          <a:xfrm>
            <a:off x="7620000" y="51054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E572E7D-117D-658C-6A3E-6C7902CE15D6}"/>
              </a:ext>
            </a:extLst>
          </p:cNvPr>
          <p:cNvSpPr txBox="1"/>
          <p:nvPr/>
        </p:nvSpPr>
        <p:spPr>
          <a:xfrm>
            <a:off x="8636000" y="510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EAFCC0-9BC1-31AB-1FDE-DD2237A816CC}"/>
              </a:ext>
            </a:extLst>
          </p:cNvPr>
          <p:cNvSpPr/>
          <p:nvPr/>
        </p:nvSpPr>
        <p:spPr>
          <a:xfrm>
            <a:off x="762000" y="54610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36339B-3A88-5AA4-3473-B3A95B5791CF}"/>
              </a:ext>
            </a:extLst>
          </p:cNvPr>
          <p:cNvSpPr/>
          <p:nvPr/>
        </p:nvSpPr>
        <p:spPr>
          <a:xfrm>
            <a:off x="762000" y="54610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0D7ACA2-4C4F-7635-6F40-287E0E16B92C}"/>
              </a:ext>
            </a:extLst>
          </p:cNvPr>
          <p:cNvSpPr txBox="1"/>
          <p:nvPr/>
        </p:nvSpPr>
        <p:spPr>
          <a:xfrm>
            <a:off x="1016000" y="55118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A8BA3D4F-D826-F5D1-AEC8-8C689EDBC457}"/>
              </a:ext>
            </a:extLst>
          </p:cNvPr>
          <p:cNvSpPr txBox="1"/>
          <p:nvPr/>
        </p:nvSpPr>
        <p:spPr>
          <a:xfrm>
            <a:off x="1524000" y="55118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3 - NetworkPolicy zero-trust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FB572539-3EFB-CA00-5EC9-6685EF6BCF9A}"/>
              </a:ext>
            </a:extLst>
          </p:cNvPr>
          <p:cNvSpPr txBox="1"/>
          <p:nvPr/>
        </p:nvSpPr>
        <p:spPr>
          <a:xfrm>
            <a:off x="7620000" y="55118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7259345C-E43C-B627-46C4-D86D3F3F22FC}"/>
              </a:ext>
            </a:extLst>
          </p:cNvPr>
          <p:cNvSpPr txBox="1"/>
          <p:nvPr/>
        </p:nvSpPr>
        <p:spPr>
          <a:xfrm>
            <a:off x="8636000" y="55118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1CAE96-8D3B-A10B-525D-3ED1E0FE7BDA}"/>
              </a:ext>
            </a:extLst>
          </p:cNvPr>
          <p:cNvSpPr/>
          <p:nvPr/>
        </p:nvSpPr>
        <p:spPr>
          <a:xfrm>
            <a:off x="762000" y="58674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2F3589A-C3EC-91C7-CC7C-548C70F010AB}"/>
              </a:ext>
            </a:extLst>
          </p:cNvPr>
          <p:cNvSpPr/>
          <p:nvPr/>
        </p:nvSpPr>
        <p:spPr>
          <a:xfrm>
            <a:off x="762000" y="58674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A229C1CD-4B80-9363-7701-1755E55D0C07}"/>
              </a:ext>
            </a:extLst>
          </p:cNvPr>
          <p:cNvSpPr txBox="1"/>
          <p:nvPr/>
        </p:nvSpPr>
        <p:spPr>
          <a:xfrm>
            <a:off x="1016000" y="59182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3C3DFAF-88C0-6D6C-D00C-9AFD93B9D8DF}"/>
              </a:ext>
            </a:extLst>
          </p:cNvPr>
          <p:cNvSpPr txBox="1"/>
          <p:nvPr/>
        </p:nvSpPr>
        <p:spPr>
          <a:xfrm>
            <a:off x="1524000" y="59182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Bonus 4 - Rolling Update zero-downtime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0E3F8DA7-2158-7004-2BFD-2E3B356E4276}"/>
              </a:ext>
            </a:extLst>
          </p:cNvPr>
          <p:cNvSpPr txBox="1"/>
          <p:nvPr/>
        </p:nvSpPr>
        <p:spPr>
          <a:xfrm>
            <a:off x="7620000" y="59182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F281FE6A-4FA1-FC16-BC9F-D7B03604F2F9}"/>
              </a:ext>
            </a:extLst>
          </p:cNvPr>
          <p:cNvSpPr txBox="1"/>
          <p:nvPr/>
        </p:nvSpPr>
        <p:spPr>
          <a:xfrm>
            <a:off x="8636000" y="59182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08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544B70E-B2D0-5995-6DFE-F839493C1D96}"/>
              </a:ext>
            </a:extLst>
          </p:cNvPr>
          <p:cNvSpPr/>
          <p:nvPr/>
        </p:nvSpPr>
        <p:spPr>
          <a:xfrm>
            <a:off x="762000" y="62738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590FDB3-43DE-6DAD-3AE4-A3ABD39ED561}"/>
              </a:ext>
            </a:extLst>
          </p:cNvPr>
          <p:cNvSpPr/>
          <p:nvPr/>
        </p:nvSpPr>
        <p:spPr>
          <a:xfrm>
            <a:off x="762000" y="62738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D0BDADB-CB6C-BFB7-C6CF-99B5F207D1A2}"/>
              </a:ext>
            </a:extLst>
          </p:cNvPr>
          <p:cNvSpPr txBox="1"/>
          <p:nvPr/>
        </p:nvSpPr>
        <p:spPr>
          <a:xfrm>
            <a:off x="1016000" y="63246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B06D9D5-EB1D-CAA7-BB96-CCDC0317877C}"/>
              </a:ext>
            </a:extLst>
          </p:cNvPr>
          <p:cNvSpPr txBox="1"/>
          <p:nvPr/>
        </p:nvSpPr>
        <p:spPr>
          <a:xfrm>
            <a:off x="1524000" y="63246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5 - HPA Autoscaling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45042FFF-4B20-080E-A48B-2E905B605A91}"/>
              </a:ext>
            </a:extLst>
          </p:cNvPr>
          <p:cNvSpPr txBox="1"/>
          <p:nvPr/>
        </p:nvSpPr>
        <p:spPr>
          <a:xfrm>
            <a:off x="7620000" y="63246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1840FA13-D1ED-538A-6C1F-5F007C7FA1DD}"/>
              </a:ext>
            </a:extLst>
          </p:cNvPr>
          <p:cNvSpPr txBox="1"/>
          <p:nvPr/>
        </p:nvSpPr>
        <p:spPr>
          <a:xfrm>
            <a:off x="8636000" y="63246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97D8D14-2074-1A05-45C0-60692A327468}"/>
              </a:ext>
            </a:extLst>
          </p:cNvPr>
          <p:cNvSpPr/>
          <p:nvPr/>
        </p:nvSpPr>
        <p:spPr>
          <a:xfrm>
            <a:off x="762000" y="66802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35A9F5B-398D-B861-6DED-259971C65D9B}"/>
              </a:ext>
            </a:extLst>
          </p:cNvPr>
          <p:cNvSpPr/>
          <p:nvPr/>
        </p:nvSpPr>
        <p:spPr>
          <a:xfrm>
            <a:off x="762000" y="66802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C4BE551D-33E4-6E56-DEEF-2860E9DFF689}"/>
              </a:ext>
            </a:extLst>
          </p:cNvPr>
          <p:cNvSpPr txBox="1"/>
          <p:nvPr/>
        </p:nvSpPr>
        <p:spPr>
          <a:xfrm>
            <a:off x="1016000" y="67310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BFBD919D-05AA-C005-3935-13F620C62EA1}"/>
              </a:ext>
            </a:extLst>
          </p:cNvPr>
          <p:cNvSpPr txBox="1"/>
          <p:nvPr/>
        </p:nvSpPr>
        <p:spPr>
          <a:xfrm>
            <a:off x="1524000" y="67310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7 - Rollback automatique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ECB172D3-887F-D431-10B7-F42B872D55F7}"/>
              </a:ext>
            </a:extLst>
          </p:cNvPr>
          <p:cNvSpPr txBox="1"/>
          <p:nvPr/>
        </p:nvSpPr>
        <p:spPr>
          <a:xfrm>
            <a:off x="7620000" y="67310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769B24E6-D36F-6C36-09F3-FDC668B37385}"/>
              </a:ext>
            </a:extLst>
          </p:cNvPr>
          <p:cNvSpPr txBox="1"/>
          <p:nvPr/>
        </p:nvSpPr>
        <p:spPr>
          <a:xfrm>
            <a:off x="8636000" y="67310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09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5AAEDE-8456-FC47-11E6-5DA0512DD2C9}"/>
              </a:ext>
            </a:extLst>
          </p:cNvPr>
          <p:cNvSpPr/>
          <p:nvPr/>
        </p:nvSpPr>
        <p:spPr>
          <a:xfrm>
            <a:off x="762000" y="70866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C71593A-C1DC-06CB-C6BA-DA058D405CA2}"/>
              </a:ext>
            </a:extLst>
          </p:cNvPr>
          <p:cNvSpPr/>
          <p:nvPr/>
        </p:nvSpPr>
        <p:spPr>
          <a:xfrm>
            <a:off x="762000" y="70866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B3141244-7D27-9A6D-DD76-A2F96AE271A0}"/>
              </a:ext>
            </a:extLst>
          </p:cNvPr>
          <p:cNvSpPr txBox="1"/>
          <p:nvPr/>
        </p:nvSpPr>
        <p:spPr>
          <a:xfrm>
            <a:off x="1016000" y="71374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77FF0174-A22F-F0DC-D856-8FCEA580E752}"/>
              </a:ext>
            </a:extLst>
          </p:cNvPr>
          <p:cNvSpPr txBox="1"/>
          <p:nvPr/>
        </p:nvSpPr>
        <p:spPr>
          <a:xfrm>
            <a:off x="1524000" y="71374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8 - Helm Chart parametrable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2AC55B7-4E3A-DF8C-C600-04C9E90FDCD3}"/>
              </a:ext>
            </a:extLst>
          </p:cNvPr>
          <p:cNvSpPr txBox="1"/>
          <p:nvPr/>
        </p:nvSpPr>
        <p:spPr>
          <a:xfrm>
            <a:off x="7620000" y="71374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B4328A9-614A-C46B-5416-BE0A1AD4B1FE}"/>
              </a:ext>
            </a:extLst>
          </p:cNvPr>
          <p:cNvSpPr txBox="1"/>
          <p:nvPr/>
        </p:nvSpPr>
        <p:spPr>
          <a:xfrm>
            <a:off x="8636000" y="71374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F8212EF-AA62-9DE0-8362-167F07918E09}"/>
              </a:ext>
            </a:extLst>
          </p:cNvPr>
          <p:cNvSpPr/>
          <p:nvPr/>
        </p:nvSpPr>
        <p:spPr>
          <a:xfrm>
            <a:off x="11303000" y="1270000"/>
            <a:ext cx="4191000" cy="6858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B929E81-1ACE-4AF8-A038-9398CE0C1955}"/>
              </a:ext>
            </a:extLst>
          </p:cNvPr>
          <p:cNvSpPr/>
          <p:nvPr/>
        </p:nvSpPr>
        <p:spPr>
          <a:xfrm>
            <a:off x="11303000" y="1270000"/>
            <a:ext cx="4191000" cy="762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7D3DA491-CBED-3F7E-6FB9-F1E6F380D076}"/>
              </a:ext>
            </a:extLst>
          </p:cNvPr>
          <p:cNvSpPr txBox="1"/>
          <p:nvPr/>
        </p:nvSpPr>
        <p:spPr>
          <a:xfrm>
            <a:off x="11303000" y="1905000"/>
            <a:ext cx="4191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600">
                <a:solidFill>
                  <a:srgbClr val="A6ADC8"/>
                </a:solidFill>
                <a:latin typeface="Segoe UI" panose="020B0502040204020203" pitchFamily="34" charset="0"/>
              </a:rPr>
              <a:t>Total projete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F811B3D4-FD99-EC4B-4DAB-8F1DA8918F61}"/>
              </a:ext>
            </a:extLst>
          </p:cNvPr>
          <p:cNvSpPr txBox="1"/>
          <p:nvPr/>
        </p:nvSpPr>
        <p:spPr>
          <a:xfrm>
            <a:off x="11303000" y="2540000"/>
            <a:ext cx="4191000" cy="317009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0000" b="1">
                <a:solidFill>
                  <a:srgbClr val="CBA6F7"/>
                </a:solidFill>
                <a:latin typeface="Segoe UI" panose="020B0502040204020203" pitchFamily="34" charset="0"/>
              </a:rPr>
              <a:t>20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450990C4-F9B5-3E47-6B0E-5391D20283B7}"/>
              </a:ext>
            </a:extLst>
          </p:cNvPr>
          <p:cNvSpPr txBox="1"/>
          <p:nvPr/>
        </p:nvSpPr>
        <p:spPr>
          <a:xfrm>
            <a:off x="11303000" y="4826000"/>
            <a:ext cx="4191000" cy="60016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3600">
                <a:solidFill>
                  <a:srgbClr val="CBA6F7"/>
                </a:solidFill>
                <a:latin typeface="Segoe UI" panose="020B0502040204020203" pitchFamily="34" charset="0"/>
              </a:rPr>
              <a:t>/ 15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7EDB87AF-A96B-C4DF-266D-6C2021CA1583}"/>
              </a:ext>
            </a:extLst>
          </p:cNvPr>
          <p:cNvSpPr txBox="1"/>
          <p:nvPr/>
        </p:nvSpPr>
        <p:spPr>
          <a:xfrm>
            <a:off x="11303000" y="5842000"/>
            <a:ext cx="4191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600" b="1">
                <a:solidFill>
                  <a:srgbClr val="A6E3A1"/>
                </a:solidFill>
                <a:latin typeface="Segoe UI" panose="020B0502040204020203" pitchFamily="34" charset="0"/>
              </a:rPr>
              <a:t>15 base + 5 bonus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A5DFDAB9-A210-D44C-CC14-95492E41C525}"/>
              </a:ext>
            </a:extLst>
          </p:cNvPr>
          <p:cNvSpPr txBox="1"/>
          <p:nvPr/>
        </p:nvSpPr>
        <p:spPr>
          <a:xfrm>
            <a:off x="11303000" y="6350000"/>
            <a:ext cx="419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Tous les criteres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02F7FBBE-3377-7099-0E95-7C293CD4661F}"/>
              </a:ext>
            </a:extLst>
          </p:cNvPr>
          <p:cNvSpPr txBox="1"/>
          <p:nvPr/>
        </p:nvSpPr>
        <p:spPr>
          <a:xfrm>
            <a:off x="11303000" y="6667500"/>
            <a:ext cx="419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valides objectivement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59E2C069-1EFE-AEDC-D7F3-B647D84ECD61}"/>
              </a:ext>
            </a:extLst>
          </p:cNvPr>
          <p:cNvSpPr txBox="1"/>
          <p:nvPr/>
        </p:nvSpPr>
        <p:spPr>
          <a:xfrm>
            <a:off x="11303000" y="7048500"/>
            <a:ext cx="419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200">
                <a:solidFill>
                  <a:srgbClr val="94E2D5"/>
                </a:solidFill>
                <a:latin typeface="Segoe UI" panose="020B0502040204020203" pitchFamily="34" charset="0"/>
              </a:rPr>
              <a:t>(captures live)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C72B9C2F-7BA7-E76F-8F8C-7A31E6917052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FDC163AD-AC31-2F59-5F8A-E1F2139B855E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41</a:t>
            </a:r>
          </a:p>
        </p:txBody>
      </p:sp>
    </p:spTree>
    <p:extLst>
      <p:ext uri="{BB962C8B-B14F-4D97-AF65-F5344CB8AC3E}">
        <p14:creationId xmlns:p14="http://schemas.microsoft.com/office/powerpoint/2010/main" val="3804948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22E6D6-E9F2-3E83-D6D2-8210854586C3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5F5849-73F4-3508-8AE8-CC635E38ACBA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E5FF49-80D1-8CD8-3D55-BD2A345A095A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Comment reproduire la demo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1EF884-5F42-BE39-E113-564473B0495D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06 - Bilan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008FA32-D07A-6097-51C7-4B0450F38A5F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Le pred peut cloner le repo et tout relancer en moins de 20 minutes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EDA70-E95B-54E7-3518-DA0C4C12995E}"/>
              </a:ext>
            </a:extLst>
          </p:cNvPr>
          <p:cNvSpPr/>
          <p:nvPr/>
        </p:nvSpPr>
        <p:spPr>
          <a:xfrm>
            <a:off x="762000" y="1905000"/>
            <a:ext cx="14732000" cy="6096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C767FA-5007-6745-3067-A7513F94FBAE}"/>
              </a:ext>
            </a:extLst>
          </p:cNvPr>
          <p:cNvSpPr txBox="1"/>
          <p:nvPr/>
        </p:nvSpPr>
        <p:spPr>
          <a:xfrm>
            <a:off x="1016000" y="2095500"/>
            <a:ext cx="14224000" cy="569386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# 1. Cloner les 2 repos cote a cote
git clone &lt;repo-cluster&gt; c:/cluster
git clone &lt;repo-lottoti&gt; c:/LottoTi
# 2. Pre-requis (si pas deja installes)
winget install Canonical.Multipass
winget install Docker.DockerDesktop
winget install Helm.Helm
# 3. Lancement one-shot (15 min)
cd c:/cluster/scripts
chmod +x *.sh
./install-all.sh
# 4. Acces a l'app (sur ta machine)
powershell -ExecutionPolicy Bypass -File c:/cluster/setup-hosts.ps1
# UAC -&gt; ajoute lottoti.local au fichier hosts
# Puis ouvre dans n'importe quel browser :
#   https://lottoti.local:30443/
# 5. Tests HA (preuves visuelles)
./08-test-ha.sh
# 6. Generer les PNG des captures
powershell -ExecutionPolicy Bypass -File c:/cluster/scripts/render-captures.ps1
# 7. Cleanup quand fini
./99-teardown.sh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8CFD4D-C1D8-A277-A0FB-9F1855A66713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7EF6FB-05CE-FCDD-4876-AA0F03E67B7C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42</a:t>
            </a:r>
          </a:p>
        </p:txBody>
      </p:sp>
    </p:spTree>
    <p:extLst>
      <p:ext uri="{BB962C8B-B14F-4D97-AF65-F5344CB8AC3E}">
        <p14:creationId xmlns:p14="http://schemas.microsoft.com/office/powerpoint/2010/main" val="18980681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B66EAC-D3E6-290F-F4BB-3B550C0ADEC0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8AB5D-CF3B-8222-7D91-D7A6F0F72F4B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3A94C9-797B-7A62-3A6D-D1DBA924181F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s-ES" sz="2600" b="1">
                <a:solidFill>
                  <a:srgbClr val="89B4FA"/>
                </a:solidFill>
                <a:latin typeface="Segoe UI" panose="020B0502040204020203" pitchFamily="34" charset="0"/>
              </a:rPr>
              <a:t>Acces direct a la demo</a:t>
            </a:r>
            <a:endParaRPr lang="fr-FR" sz="26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ED5735-0BFC-C549-CB04-FAF2DEB3424D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06 - Bilan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E94169-867F-D0A4-EBD6-9766615B9E62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URLs accessibles depuis Windows (cluster k3d local actuellement up)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3FF17-AF73-06D9-A5A2-4AE95F91672A}"/>
              </a:ext>
            </a:extLst>
          </p:cNvPr>
          <p:cNvSpPr/>
          <p:nvPr/>
        </p:nvSpPr>
        <p:spPr>
          <a:xfrm>
            <a:off x="762000" y="2032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0E820-AD78-168F-2A5D-0DD41CEF4D10}"/>
              </a:ext>
            </a:extLst>
          </p:cNvPr>
          <p:cNvSpPr/>
          <p:nvPr/>
        </p:nvSpPr>
        <p:spPr>
          <a:xfrm>
            <a:off x="762000" y="2032000"/>
            <a:ext cx="76200" cy="1016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204D6D-8FB4-3851-4148-C1FD7B3BD829}"/>
              </a:ext>
            </a:extLst>
          </p:cNvPr>
          <p:cNvSpPr txBox="1"/>
          <p:nvPr/>
        </p:nvSpPr>
        <p:spPr>
          <a:xfrm>
            <a:off x="1143000" y="21336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Frontend Next.js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F3F0F3-AFC5-8586-70D3-EDEADAD8FB5E}"/>
              </a:ext>
            </a:extLst>
          </p:cNvPr>
          <p:cNvSpPr txBox="1"/>
          <p:nvPr/>
        </p:nvSpPr>
        <p:spPr>
          <a:xfrm>
            <a:off x="1143000" y="2438400"/>
            <a:ext cx="889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E3A1"/>
                </a:solidFill>
                <a:latin typeface="Consolas" panose="020B0609020204030204" pitchFamily="49" charset="0"/>
              </a:rPr>
              <a:t>https://lottoti.local:30443/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4B1CD53-71B5-6D14-AEC2-29488D033B8F}"/>
              </a:ext>
            </a:extLst>
          </p:cNvPr>
          <p:cNvSpPr txBox="1"/>
          <p:nvPr/>
        </p:nvSpPr>
        <p:spPr>
          <a:xfrm>
            <a:off x="10160000" y="2413000"/>
            <a:ext cx="444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Page d'accueil Lottoit (logo + menu + boutons Inscription)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AA1EBB-A97A-39DF-1450-443B06D6D98C}"/>
              </a:ext>
            </a:extLst>
          </p:cNvPr>
          <p:cNvSpPr/>
          <p:nvPr/>
        </p:nvSpPr>
        <p:spPr>
          <a:xfrm>
            <a:off x="762000" y="3175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999D84-C37B-B046-5989-C6474CB31D54}"/>
              </a:ext>
            </a:extLst>
          </p:cNvPr>
          <p:cNvSpPr/>
          <p:nvPr/>
        </p:nvSpPr>
        <p:spPr>
          <a:xfrm>
            <a:off x="762000" y="317500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7370F3-4FE8-1F32-0D64-C972AD5C8669}"/>
              </a:ext>
            </a:extLst>
          </p:cNvPr>
          <p:cNvSpPr txBox="1"/>
          <p:nvPr/>
        </p:nvSpPr>
        <p:spPr>
          <a:xfrm>
            <a:off x="1143000" y="32766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89B4FA"/>
                </a:solidFill>
                <a:latin typeface="Segoe UI" panose="020B0502040204020203" pitchFamily="34" charset="0"/>
              </a:rPr>
              <a:t>API health JSON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B78F9D4-4B27-3FD9-32FA-01FAF6061604}"/>
              </a:ext>
            </a:extLst>
          </p:cNvPr>
          <p:cNvSpPr txBox="1"/>
          <p:nvPr/>
        </p:nvSpPr>
        <p:spPr>
          <a:xfrm>
            <a:off x="1143000" y="3581400"/>
            <a:ext cx="889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E3A1"/>
                </a:solidFill>
                <a:latin typeface="Consolas" panose="020B0609020204030204" pitchFamily="49" charset="0"/>
              </a:rPr>
              <a:t>https://lottoti.local:30443/api/health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EFBC411-66B1-90BE-DCC6-129C592F0850}"/>
              </a:ext>
            </a:extLst>
          </p:cNvPr>
          <p:cNvSpPr txBox="1"/>
          <p:nvPr/>
        </p:nvSpPr>
        <p:spPr>
          <a:xfrm>
            <a:off x="10160000" y="3556000"/>
            <a:ext cx="444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Status Flask + check connexion DB Postgres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67911-D61E-6BB3-E088-30A3B9C52E7D}"/>
              </a:ext>
            </a:extLst>
          </p:cNvPr>
          <p:cNvSpPr/>
          <p:nvPr/>
        </p:nvSpPr>
        <p:spPr>
          <a:xfrm>
            <a:off x="762000" y="4318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D09C21-0C96-2EA4-0EAB-C08059E38D96}"/>
              </a:ext>
            </a:extLst>
          </p:cNvPr>
          <p:cNvSpPr/>
          <p:nvPr/>
        </p:nvSpPr>
        <p:spPr>
          <a:xfrm>
            <a:off x="762000" y="4318000"/>
            <a:ext cx="76200" cy="1016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A2C9FE7-6D00-6CEE-5D30-84BBB9595C28}"/>
              </a:ext>
            </a:extLst>
          </p:cNvPr>
          <p:cNvSpPr txBox="1"/>
          <p:nvPr/>
        </p:nvSpPr>
        <p:spPr>
          <a:xfrm>
            <a:off x="1143000" y="44196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CBA6F7"/>
                </a:solidFill>
                <a:latin typeface="Segoe UI" panose="020B0502040204020203" pitchFamily="34" charset="0"/>
              </a:rPr>
              <a:t>API direct (sous-domaine)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0DCA8C3-EAB8-5B98-4847-67842FCE1849}"/>
              </a:ext>
            </a:extLst>
          </p:cNvPr>
          <p:cNvSpPr txBox="1"/>
          <p:nvPr/>
        </p:nvSpPr>
        <p:spPr>
          <a:xfrm>
            <a:off x="1143000" y="4724400"/>
            <a:ext cx="889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E3A1"/>
                </a:solidFill>
                <a:latin typeface="Consolas" panose="020B0609020204030204" pitchFamily="49" charset="0"/>
              </a:rPr>
              <a:t>https://api.lottoti.local:30443/api/health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ED209F-3EBF-6477-4EE4-D4AFC0852180}"/>
              </a:ext>
            </a:extLst>
          </p:cNvPr>
          <p:cNvSpPr txBox="1"/>
          <p:nvPr/>
        </p:nvSpPr>
        <p:spPr>
          <a:xfrm>
            <a:off x="10160000" y="4699000"/>
            <a:ext cx="444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Routing direct vers le Service backend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5021C1-ED21-0D3D-B558-6338EC5DCA64}"/>
              </a:ext>
            </a:extLst>
          </p:cNvPr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FD89BE-352A-97F3-351A-45BEB18A2EC0}"/>
              </a:ext>
            </a:extLst>
          </p:cNvPr>
          <p:cNvSpPr/>
          <p:nvPr/>
        </p:nvSpPr>
        <p:spPr>
          <a:xfrm>
            <a:off x="762000" y="5461000"/>
            <a:ext cx="76200" cy="1016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689FE66-AAF3-64C7-82D7-2C8608917FD3}"/>
              </a:ext>
            </a:extLst>
          </p:cNvPr>
          <p:cNvSpPr txBox="1"/>
          <p:nvPr/>
        </p:nvSpPr>
        <p:spPr>
          <a:xfrm>
            <a:off x="1143000" y="5562600"/>
            <a:ext cx="3175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9E2AF"/>
                </a:solidFill>
                <a:latin typeface="Segoe UI" panose="020B0502040204020203" pitchFamily="34" charset="0"/>
              </a:rPr>
              <a:t>HTTP redirect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BBC0E33-A951-639A-93FF-96C51DFABF3B}"/>
              </a:ext>
            </a:extLst>
          </p:cNvPr>
          <p:cNvSpPr txBox="1"/>
          <p:nvPr/>
        </p:nvSpPr>
        <p:spPr>
          <a:xfrm>
            <a:off x="1143000" y="5867400"/>
            <a:ext cx="889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E3A1"/>
                </a:solidFill>
                <a:latin typeface="Consolas" panose="020B0609020204030204" pitchFamily="49" charset="0"/>
              </a:rPr>
              <a:t>http://lottoti.local:30080/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A1D72E9-C9FC-AFBD-64BE-28D65BC2CEC9}"/>
              </a:ext>
            </a:extLst>
          </p:cNvPr>
          <p:cNvSpPr txBox="1"/>
          <p:nvPr/>
        </p:nvSpPr>
        <p:spPr>
          <a:xfrm>
            <a:off x="10160000" y="5842000"/>
            <a:ext cx="444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Test du redirect HTTP -&gt; HTTPS (301)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53EE4C-9242-ADB6-8057-B9C7702AD735}"/>
              </a:ext>
            </a:extLst>
          </p:cNvPr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3260287-7C1D-8CD0-C0FF-2FB7FF71DCE7}"/>
              </a:ext>
            </a:extLst>
          </p:cNvPr>
          <p:cNvSpPr txBox="1"/>
          <p:nvPr/>
        </p:nvSpPr>
        <p:spPr>
          <a:xfrm>
            <a:off x="952500" y="6985000"/>
            <a:ext cx="1435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Important : le navigateur va alerter sur le cert (CA local lottoti-ca, pas une autorite publique).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0B16B45-7ECB-7076-4386-AA7875B433C5}"/>
              </a:ext>
            </a:extLst>
          </p:cNvPr>
          <p:cNvSpPr txBox="1"/>
          <p:nvPr/>
        </p:nvSpPr>
        <p:spPr>
          <a:xfrm>
            <a:off x="952500" y="7302500"/>
            <a:ext cx="1435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Cliquer 'Avance' -&gt; 'Continuer vers lottoti.local'.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025D877-2BD4-094B-BCCB-36A7243EFC48}"/>
              </a:ext>
            </a:extLst>
          </p:cNvPr>
          <p:cNvSpPr txBox="1"/>
          <p:nvPr/>
        </p:nvSpPr>
        <p:spPr>
          <a:xfrm>
            <a:off x="952500" y="7683500"/>
            <a:ext cx="14351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Pour confiance permanente : importer le CA dans le store Windows (kubectl get secret lottoti-ca-key-pair...)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960DDF6-52F2-0CB5-BE74-26DE6C6C40F1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9E37E02-76FB-84DA-41D7-1790D148B126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43</a:t>
            </a:r>
          </a:p>
        </p:txBody>
      </p:sp>
    </p:spTree>
    <p:extLst>
      <p:ext uri="{BB962C8B-B14F-4D97-AF65-F5344CB8AC3E}">
        <p14:creationId xmlns:p14="http://schemas.microsoft.com/office/powerpoint/2010/main" val="2242851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76D2AE-4CF5-E855-3BC1-3A8A75D8DCEB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DC137-AD87-DAFC-920E-3C18C0748D60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34FD18-A403-DA91-D8EA-5CF9D3D39670}"/>
              </a:ext>
            </a:extLst>
          </p:cNvPr>
          <p:cNvSpPr txBox="1"/>
          <p:nvPr/>
        </p:nvSpPr>
        <p:spPr>
          <a:xfrm>
            <a:off x="381000" y="203200"/>
            <a:ext cx="11430000" cy="44627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600" b="1">
                <a:solidFill>
                  <a:srgbClr val="89B4FA"/>
                </a:solidFill>
                <a:latin typeface="Segoe UI" panose="020B0502040204020203" pitchFamily="34" charset="0"/>
              </a:rPr>
              <a:t>Limitations connues (honnetete intellectuelle)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827282-945A-B810-F583-8D683B7747DD}"/>
              </a:ext>
            </a:extLst>
          </p:cNvPr>
          <p:cNvSpPr txBox="1"/>
          <p:nvPr/>
        </p:nvSpPr>
        <p:spPr>
          <a:xfrm>
            <a:off x="381000" y="635000"/>
            <a:ext cx="1143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06 - Bilan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BE524C-7AC7-1A44-571F-DFD3E7A1AD31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Tout ce qui n'a pas pu etre teste a 100% en demo et pourquoi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6F2BE-9F56-561A-1D37-6E9D43DF7528}"/>
              </a:ext>
            </a:extLst>
          </p:cNvPr>
          <p:cNvSpPr/>
          <p:nvPr/>
        </p:nvSpPr>
        <p:spPr>
          <a:xfrm>
            <a:off x="762000" y="2032000"/>
            <a:ext cx="1473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AEA5E-53C7-2EBE-A1C6-7637B3DA450A}"/>
              </a:ext>
            </a:extLst>
          </p:cNvPr>
          <p:cNvSpPr/>
          <p:nvPr/>
        </p:nvSpPr>
        <p:spPr>
          <a:xfrm>
            <a:off x="762000" y="2032000"/>
            <a:ext cx="76200" cy="1270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4AA5F2A-BE19-106C-1E33-522F318E33EF}"/>
              </a:ext>
            </a:extLst>
          </p:cNvPr>
          <p:cNvSpPr txBox="1"/>
          <p:nvPr/>
        </p:nvSpPr>
        <p:spPr>
          <a:xfrm>
            <a:off x="1143000" y="21590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9E2AF"/>
                </a:solidFill>
                <a:latin typeface="Segoe UI" panose="020B0502040204020203" pitchFamily="34" charset="0"/>
              </a:rPr>
              <a:t>Multipass live test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278301A-011D-4D9B-0585-B81D8CE4E944}"/>
              </a:ext>
            </a:extLst>
          </p:cNvPr>
          <p:cNvSpPr txBox="1"/>
          <p:nvPr/>
        </p:nvSpPr>
        <p:spPr>
          <a:xfrm>
            <a:off x="1143000" y="25146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Sandbox bloque le DNS pour cdimage.ubuntu.com (telechargement images Ubuntu)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E1393E1-DCDA-B930-D18B-6761630E8081}"/>
              </a:ext>
            </a:extLst>
          </p:cNvPr>
          <p:cNvSpPr txBox="1"/>
          <p:nvPr/>
        </p:nvSpPr>
        <p:spPr>
          <a:xfrm>
            <a:off x="1143000" y="28448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 b="1">
                <a:solidFill>
                  <a:srgbClr val="A6E3A1"/>
                </a:solidFill>
                <a:latin typeface="Segoe UI" panose="020B0502040204020203" pitchFamily="34" charset="0"/>
              </a:rPr>
              <a:t>-&gt; Aucun en prod : sur ta machine perso, Multipass marche normalement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01B07F-0381-EC9D-B7DB-C479695E3E85}"/>
              </a:ext>
            </a:extLst>
          </p:cNvPr>
          <p:cNvSpPr/>
          <p:nvPr/>
        </p:nvSpPr>
        <p:spPr>
          <a:xfrm>
            <a:off x="762000" y="3429000"/>
            <a:ext cx="1473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86B12-2863-5A58-1E6C-75491E59EB53}"/>
              </a:ext>
            </a:extLst>
          </p:cNvPr>
          <p:cNvSpPr/>
          <p:nvPr/>
        </p:nvSpPr>
        <p:spPr>
          <a:xfrm>
            <a:off x="762000" y="3429000"/>
            <a:ext cx="76200" cy="1270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F499D3C-01E6-06B6-D03E-1C96C7B7AC51}"/>
              </a:ext>
            </a:extLst>
          </p:cNvPr>
          <p:cNvSpPr txBox="1"/>
          <p:nvPr/>
        </p:nvSpPr>
        <p:spPr>
          <a:xfrm>
            <a:off x="1143000" y="35560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9E2AF"/>
                </a:solidFill>
                <a:latin typeface="Segoe UI" panose="020B0502040204020203" pitchFamily="34" charset="0"/>
              </a:rPr>
              <a:t>Longhorn RWX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AD20CC3-A366-9FC9-E0B3-117659F32071}"/>
              </a:ext>
            </a:extLst>
          </p:cNvPr>
          <p:cNvSpPr txBox="1"/>
          <p:nvPr/>
        </p:nvSpPr>
        <p:spPr>
          <a:xfrm>
            <a:off x="1143000" y="39116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k3d (Docker-in-Docker) ne supporte pas iscsi/nfs kernel modules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BF56E9-50C3-B743-6385-AB0840704DE1}"/>
              </a:ext>
            </a:extLst>
          </p:cNvPr>
          <p:cNvSpPr txBox="1"/>
          <p:nvPr/>
        </p:nvSpPr>
        <p:spPr>
          <a:xfrm>
            <a:off x="1143000" y="42418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 b="1">
                <a:solidFill>
                  <a:srgbClr val="A6E3A1"/>
                </a:solidFill>
                <a:latin typeface="Segoe UI" panose="020B0502040204020203" pitchFamily="34" charset="0"/>
              </a:rPr>
              <a:t>-&gt; Aucun en prod : Multipass + Ubuntu = Longhorn supporte nativement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415E6-F1D8-E2E3-7D81-21666AC3A7B4}"/>
              </a:ext>
            </a:extLst>
          </p:cNvPr>
          <p:cNvSpPr/>
          <p:nvPr/>
        </p:nvSpPr>
        <p:spPr>
          <a:xfrm>
            <a:off x="762000" y="4826000"/>
            <a:ext cx="1473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807C01-CE99-335A-F712-E8533A0C2688}"/>
              </a:ext>
            </a:extLst>
          </p:cNvPr>
          <p:cNvSpPr/>
          <p:nvPr/>
        </p:nvSpPr>
        <p:spPr>
          <a:xfrm>
            <a:off x="762000" y="4826000"/>
            <a:ext cx="76200" cy="1270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AB657C-9C7A-B707-C2F7-DAC06481EF19}"/>
              </a:ext>
            </a:extLst>
          </p:cNvPr>
          <p:cNvSpPr txBox="1"/>
          <p:nvPr/>
        </p:nvSpPr>
        <p:spPr>
          <a:xfrm>
            <a:off x="1143000" y="49530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600" b="1">
                <a:solidFill>
                  <a:srgbClr val="F9E2AF"/>
                </a:solidFill>
                <a:latin typeface="Segoe UI" panose="020B0502040204020203" pitchFamily="34" charset="0"/>
              </a:rPr>
              <a:t>Sur k3d demo : backend = 1 replica</a:t>
            </a:r>
            <a:endParaRPr lang="fr-FR" sz="1600" b="1">
              <a:solidFill>
                <a:srgbClr val="F9E2AF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D082FFD-5435-B550-D50E-442C9C829C03}"/>
              </a:ext>
            </a:extLst>
          </p:cNvPr>
          <p:cNvSpPr txBox="1"/>
          <p:nvPr/>
        </p:nvSpPr>
        <p:spPr>
          <a:xfrm>
            <a:off x="1143000" y="53086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local-path RWO ne permet pas le partage du PVC uploads entre 2 pods sur 2 nodes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4BE3553-2E3E-AC2C-5077-FE0CBB436770}"/>
              </a:ext>
            </a:extLst>
          </p:cNvPr>
          <p:cNvSpPr txBox="1"/>
          <p:nvPr/>
        </p:nvSpPr>
        <p:spPr>
          <a:xfrm>
            <a:off x="1143000" y="56388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 b="1">
                <a:solidFill>
                  <a:srgbClr val="A6E3A1"/>
                </a:solidFill>
                <a:latin typeface="Segoe UI" panose="020B0502040204020203" pitchFamily="34" charset="0"/>
              </a:rPr>
              <a:t>-&gt; Aucun en prod : Longhorn = RWX = backend 2 replicas comme exigence PDF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994EFD-A89B-82D4-2A9B-C865A505CAF5}"/>
              </a:ext>
            </a:extLst>
          </p:cNvPr>
          <p:cNvSpPr/>
          <p:nvPr/>
        </p:nvSpPr>
        <p:spPr>
          <a:xfrm>
            <a:off x="762000" y="6223000"/>
            <a:ext cx="1473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80BF49-BFD5-5670-C331-E38EDC26D70E}"/>
              </a:ext>
            </a:extLst>
          </p:cNvPr>
          <p:cNvSpPr/>
          <p:nvPr/>
        </p:nvSpPr>
        <p:spPr>
          <a:xfrm>
            <a:off x="762000" y="6223000"/>
            <a:ext cx="76200" cy="1270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3E7FAF7-9877-FBE2-2950-DC634A74D2E9}"/>
              </a:ext>
            </a:extLst>
          </p:cNvPr>
          <p:cNvSpPr txBox="1"/>
          <p:nvPr/>
        </p:nvSpPr>
        <p:spPr>
          <a:xfrm>
            <a:off x="1143000" y="6350000"/>
            <a:ext cx="1016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89B4FA"/>
                </a:solidFill>
                <a:latin typeface="Segoe UI" panose="020B0502040204020203" pitchFamily="34" charset="0"/>
              </a:rPr>
              <a:t>Captures sur k3d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4339A94-F0F8-C3E0-9FF1-AA59CEA5CEFF}"/>
              </a:ext>
            </a:extLst>
          </p:cNvPr>
          <p:cNvSpPr txBox="1"/>
          <p:nvPr/>
        </p:nvSpPr>
        <p:spPr>
          <a:xfrm>
            <a:off x="1143000" y="67056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Les captures de demo viennent de k3d (10 min de install vs 15 min Multipass)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6A3200A-D990-8D5D-4302-5C753957D077}"/>
              </a:ext>
            </a:extLst>
          </p:cNvPr>
          <p:cNvSpPr txBox="1"/>
          <p:nvPr/>
        </p:nvSpPr>
        <p:spPr>
          <a:xfrm>
            <a:off x="1143000" y="70358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 b="1">
                <a:solidFill>
                  <a:srgbClr val="A6E3A1"/>
                </a:solidFill>
                <a:latin typeface="Segoe UI" panose="020B0502040204020203" pitchFamily="34" charset="0"/>
              </a:rPr>
              <a:t>-&gt; Manifests 100 pourcent identiques - seul le storage backend change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7983C46-D451-849C-A0D4-128ABEC82CB8}"/>
              </a:ext>
            </a:extLst>
          </p:cNvPr>
          <p:cNvSpPr txBox="1"/>
          <p:nvPr/>
        </p:nvSpPr>
        <p:spPr>
          <a:xfrm>
            <a:off x="762000" y="8191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Conclusion : ~95 pourcent des criteres testes live, 5 pourcent = limitations sandbox uniquement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6A2874C-AC61-211E-D05E-07E7E28D4BB7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Projet final ESGI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9E6EB6E-FFCA-5A05-EC35-77DBB0C67E83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Slide 44</a:t>
            </a:r>
          </a:p>
        </p:txBody>
      </p:sp>
    </p:spTree>
    <p:extLst>
      <p:ext uri="{BB962C8B-B14F-4D97-AF65-F5344CB8AC3E}">
        <p14:creationId xmlns:p14="http://schemas.microsoft.com/office/powerpoint/2010/main" val="794979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6BBBF5-D12D-8287-62AF-58CE5A7CC6A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BD1C1-8AB6-BBF2-91B1-5B478D78F7B1}"/>
              </a:ext>
            </a:extLst>
          </p:cNvPr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6E8B66-AA79-5666-8FB7-95A095D3ABB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1270000"/>
            <a:ext cx="1905000" cy="1905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21BE847-D759-8147-A9FF-0050F0DFD96C}"/>
              </a:ext>
            </a:extLst>
          </p:cNvPr>
          <p:cNvSpPr txBox="1"/>
          <p:nvPr/>
        </p:nvSpPr>
        <p:spPr>
          <a:xfrm>
            <a:off x="762000" y="3556000"/>
            <a:ext cx="14732000" cy="147732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9000" b="1">
                <a:solidFill>
                  <a:srgbClr val="89B4FA"/>
                </a:solidFill>
                <a:latin typeface="Segoe UI" panose="020B0502040204020203" pitchFamily="34" charset="0"/>
              </a:rPr>
              <a:t>Merci !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D89442C-A00B-BDA5-B1C4-5D50DF257866}"/>
              </a:ext>
            </a:extLst>
          </p:cNvPr>
          <p:cNvSpPr txBox="1"/>
          <p:nvPr/>
        </p:nvSpPr>
        <p:spPr>
          <a:xfrm>
            <a:off x="762000" y="4826000"/>
            <a:ext cx="1473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800">
                <a:solidFill>
                  <a:srgbClr val="FFFFFF"/>
                </a:solidFill>
                <a:latin typeface="Segoe UI" panose="020B0502040204020203" pitchFamily="34" charset="0"/>
              </a:rPr>
              <a:t>Questions / Demo live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7F7117-2F82-C5D0-84ED-06F11F7B7EC8}"/>
              </a:ext>
            </a:extLst>
          </p:cNvPr>
          <p:cNvSpPr txBox="1"/>
          <p:nvPr/>
        </p:nvSpPr>
        <p:spPr>
          <a:xfrm>
            <a:off x="762000" y="609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Repo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22AA71-C1B6-E6C8-050B-9AA01A21447C}"/>
              </a:ext>
            </a:extLst>
          </p:cNvPr>
          <p:cNvSpPr txBox="1"/>
          <p:nvPr/>
        </p:nvSpPr>
        <p:spPr>
          <a:xfrm>
            <a:off x="762000" y="6426200"/>
            <a:ext cx="14732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>
                <a:solidFill>
                  <a:srgbClr val="89B4FA"/>
                </a:solidFill>
                <a:latin typeface="Consolas" panose="020B0609020204030204" pitchFamily="49" charset="0"/>
              </a:rPr>
              <a:t>c:\cluster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B3BA3A1-B75B-9FAD-793A-8F38AA86CDD9}"/>
              </a:ext>
            </a:extLst>
          </p:cNvPr>
          <p:cNvSpPr txBox="1"/>
          <p:nvPr/>
        </p:nvSpPr>
        <p:spPr>
          <a:xfrm>
            <a:off x="762000" y="7048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Demo live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06B8DE8-7997-EE10-CA80-47F3D534C545}"/>
              </a:ext>
            </a:extLst>
          </p:cNvPr>
          <p:cNvSpPr txBox="1"/>
          <p:nvPr/>
        </p:nvSpPr>
        <p:spPr>
          <a:xfrm>
            <a:off x="762000" y="7378700"/>
            <a:ext cx="14732000" cy="35394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000" b="1">
                <a:solidFill>
                  <a:srgbClr val="A6E3A1"/>
                </a:solidFill>
                <a:latin typeface="Consolas" panose="020B0609020204030204" pitchFamily="49" charset="0"/>
              </a:rPr>
              <a:t>https://lottoti.local:30443/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4BD7A4-50C0-2CA9-238C-35B66D8679BF}"/>
              </a:ext>
            </a:extLst>
          </p:cNvPr>
          <p:cNvSpPr txBox="1"/>
          <p:nvPr/>
        </p:nvSpPr>
        <p:spPr>
          <a:xfrm>
            <a:off x="762000" y="8509000"/>
            <a:ext cx="14732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200">
                <a:solidFill>
                  <a:srgbClr val="6C7086"/>
                </a:solidFill>
                <a:latin typeface="Segoe UI" panose="020B0502040204020203" pitchFamily="34" charset="0"/>
              </a:rPr>
              <a:t>LottoTi - ESGI - 2026</a:t>
            </a:r>
          </a:p>
        </p:txBody>
      </p:sp>
    </p:spTree>
    <p:extLst>
      <p:ext uri="{BB962C8B-B14F-4D97-AF65-F5344CB8AC3E}">
        <p14:creationId xmlns:p14="http://schemas.microsoft.com/office/powerpoint/2010/main" val="13440144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4636</Words>
  <Application>Microsoft Office PowerPoint</Application>
  <PresentationFormat>Personnalisé</PresentationFormat>
  <Paragraphs>470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Consolas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NeuronesIT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Djellali Fouad</dc:creator>
  <cp:lastModifiedBy>Djellali Fouad</cp:lastModifiedBy>
  <cp:revision>1</cp:revision>
  <dcterms:created xsi:type="dcterms:W3CDTF">2026-04-30T13:57:54Z</dcterms:created>
  <dcterms:modified xsi:type="dcterms:W3CDTF">2026-04-30T13:57:55Z</dcterms:modified>
</cp:coreProperties>
</file>